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77"/>
  </p:notesMasterIdLst>
  <p:sldIdLst>
    <p:sldId id="256" r:id="rId2"/>
    <p:sldId id="841" r:id="rId3"/>
    <p:sldId id="998" r:id="rId4"/>
    <p:sldId id="315" r:id="rId5"/>
    <p:sldId id="316" r:id="rId6"/>
    <p:sldId id="1612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317" r:id="rId16"/>
    <p:sldId id="318" r:id="rId17"/>
    <p:sldId id="1616" r:id="rId18"/>
    <p:sldId id="268" r:id="rId19"/>
    <p:sldId id="269" r:id="rId20"/>
    <p:sldId id="270" r:id="rId21"/>
    <p:sldId id="271" r:id="rId22"/>
    <p:sldId id="319" r:id="rId23"/>
    <p:sldId id="272" r:id="rId24"/>
    <p:sldId id="1613" r:id="rId25"/>
    <p:sldId id="283" r:id="rId26"/>
    <p:sldId id="284" r:id="rId27"/>
    <p:sldId id="285" r:id="rId28"/>
    <p:sldId id="286" r:id="rId29"/>
    <p:sldId id="287" r:id="rId30"/>
    <p:sldId id="1617" r:id="rId31"/>
    <p:sldId id="1614" r:id="rId32"/>
    <p:sldId id="290" r:id="rId33"/>
    <p:sldId id="291" r:id="rId34"/>
    <p:sldId id="292" r:id="rId35"/>
    <p:sldId id="293" r:id="rId36"/>
    <p:sldId id="1615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1584" r:id="rId47"/>
    <p:sldId id="1585" r:id="rId48"/>
    <p:sldId id="1610" r:id="rId49"/>
    <p:sldId id="1611" r:id="rId50"/>
    <p:sldId id="1586" r:id="rId51"/>
    <p:sldId id="1587" r:id="rId52"/>
    <p:sldId id="1588" r:id="rId53"/>
    <p:sldId id="1591" r:id="rId54"/>
    <p:sldId id="1592" r:id="rId55"/>
    <p:sldId id="1589" r:id="rId56"/>
    <p:sldId id="1590" r:id="rId57"/>
    <p:sldId id="1593" r:id="rId58"/>
    <p:sldId id="1594" r:id="rId59"/>
    <p:sldId id="1595" r:id="rId60"/>
    <p:sldId id="1596" r:id="rId61"/>
    <p:sldId id="1597" r:id="rId62"/>
    <p:sldId id="1598" r:id="rId63"/>
    <p:sldId id="1601" r:id="rId64"/>
    <p:sldId id="1603" r:id="rId65"/>
    <p:sldId id="1606" r:id="rId66"/>
    <p:sldId id="1604" r:id="rId67"/>
    <p:sldId id="1605" r:id="rId68"/>
    <p:sldId id="1607" r:id="rId69"/>
    <p:sldId id="1608" r:id="rId70"/>
    <p:sldId id="1609" r:id="rId71"/>
    <p:sldId id="1583" r:id="rId72"/>
    <p:sldId id="1564" r:id="rId73"/>
    <p:sldId id="1570" r:id="rId74"/>
    <p:sldId id="1571" r:id="rId75"/>
    <p:sldId id="1572" r:id="rId7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commentAuthors" Target="commentAuthors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Shape 94"/>
          <p:cNvSpPr txBox="1">
            <a:spLocks noGrp="1"/>
          </p:cNvSpPr>
          <p:nvPr>
            <p:ph type="body" idx="1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1219200" y="685800"/>
            <a:ext cx="48768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 txBox="1">
            <a:spLocks noGrp="1"/>
          </p:cNvSpPr>
          <p:nvPr>
            <p:ph type="body" idx="1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Shape 116"/>
          <p:cNvSpPr>
            <a:spLocks noGrp="1" noRot="1" noChangeAspect="1"/>
          </p:cNvSpPr>
          <p:nvPr>
            <p:ph type="sldImg" idx="2"/>
          </p:nvPr>
        </p:nvSpPr>
        <p:spPr>
          <a:xfrm>
            <a:off x="1219200" y="685800"/>
            <a:ext cx="48768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 txBox="1">
            <a:spLocks noGrp="1"/>
          </p:cNvSpPr>
          <p:nvPr>
            <p:ph type="body" idx="1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Shape 122"/>
          <p:cNvSpPr>
            <a:spLocks noGrp="1" noRot="1" noChangeAspect="1"/>
          </p:cNvSpPr>
          <p:nvPr>
            <p:ph type="sldImg" idx="2"/>
          </p:nvPr>
        </p:nvSpPr>
        <p:spPr>
          <a:xfrm>
            <a:off x="1219200" y="685800"/>
            <a:ext cx="48768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Shape 129"/>
          <p:cNvSpPr>
            <a:spLocks noGrp="1" noRot="1" noChangeAspect="1"/>
          </p:cNvSpPr>
          <p:nvPr>
            <p:ph type="sldImg" idx="2"/>
          </p:nvPr>
        </p:nvSpPr>
        <p:spPr>
          <a:xfrm>
            <a:off x="1219200" y="685800"/>
            <a:ext cx="48768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 txBox="1">
            <a:spLocks noGrp="1"/>
          </p:cNvSpPr>
          <p:nvPr>
            <p:ph type="body" idx="1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Shape 135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177"/>
          <p:cNvSpPr txBox="1">
            <a:spLocks noGrp="1"/>
          </p:cNvSpPr>
          <p:nvPr>
            <p:ph type="body" idx="1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Shape 178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221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Shape 222"/>
          <p:cNvSpPr txBox="1">
            <a:spLocks noGrp="1"/>
          </p:cNvSpPr>
          <p:nvPr>
            <p:ph type="body" idx="1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>
          <a:extLst>
            <a:ext uri="{FF2B5EF4-FFF2-40B4-BE49-F238E27FC236}">
              <a16:creationId xmlns:a16="http://schemas.microsoft.com/office/drawing/2014/main" id="{647A800A-800A-B2B8-ABAA-0D275385B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228">
            <a:extLst>
              <a:ext uri="{FF2B5EF4-FFF2-40B4-BE49-F238E27FC236}">
                <a16:creationId xmlns:a16="http://schemas.microsoft.com/office/drawing/2014/main" id="{E874BB1A-051A-C9EB-9EE1-9F0D3E24C0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Shape 229">
            <a:extLst>
              <a:ext uri="{FF2B5EF4-FFF2-40B4-BE49-F238E27FC236}">
                <a16:creationId xmlns:a16="http://schemas.microsoft.com/office/drawing/2014/main" id="{54087AE4-DD48-6158-4BB8-F3CD1AB8FA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800100" lvl="1" indent="-342900">
              <a:spcBef>
                <a:spcPts val="480"/>
              </a:spcBef>
              <a:buSzPts val="1440"/>
              <a:buFont typeface="Wingdings" panose="05000000000000000000" pitchFamily="2" charset="2"/>
              <a:buChar char="§"/>
            </a:pPr>
            <a:r>
              <a:rPr lang="en-US" sz="2800" dirty="0"/>
              <a:t>The OS is taking this opportunity to report a </a:t>
            </a:r>
            <a:r>
              <a:rPr lang="en-US" sz="2800" i="1" dirty="0"/>
              <a:t>delayed error </a:t>
            </a:r>
            <a:r>
              <a:rPr lang="en-US" sz="2800" dirty="0"/>
              <a:t>from a previous write operation</a:t>
            </a:r>
          </a:p>
          <a:p>
            <a:pPr marL="800100" lvl="1" indent="-342900">
              <a:spcBef>
                <a:spcPts val="480"/>
              </a:spcBef>
              <a:buSzPts val="1440"/>
              <a:buFont typeface="Wingdings" panose="05000000000000000000" pitchFamily="2" charset="2"/>
              <a:buChar char="§"/>
            </a:pPr>
            <a:r>
              <a:rPr lang="en-US" sz="2800" dirty="0"/>
              <a:t>You might silently lose data if you don’t check!</a:t>
            </a:r>
            <a:endParaRPr sz="1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432759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235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6" name="Shape 236"/>
          <p:cNvSpPr txBox="1">
            <a:spLocks noGrp="1"/>
          </p:cNvSpPr>
          <p:nvPr>
            <p:ph type="body" idx="1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also no null byte at the end of the read. If you want one you need to manually add it</a:t>
            </a:r>
            <a:endParaRPr sz="1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hape 242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3" name="Shape 243"/>
          <p:cNvSpPr txBox="1">
            <a:spLocks noGrp="1"/>
          </p:cNvSpPr>
          <p:nvPr>
            <p:ph type="body" idx="1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Shape 249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0" name="Shape 250"/>
          <p:cNvSpPr txBox="1">
            <a:spLocks noGrp="1"/>
          </p:cNvSpPr>
          <p:nvPr>
            <p:ph type="body" idx="1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259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0" name="Shape 260"/>
          <p:cNvSpPr txBox="1">
            <a:spLocks noGrp="1"/>
          </p:cNvSpPr>
          <p:nvPr>
            <p:ph type="body" idx="1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259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0" name="Shape 260"/>
          <p:cNvSpPr txBox="1">
            <a:spLocks noGrp="1"/>
          </p:cNvSpPr>
          <p:nvPr>
            <p:ph type="body" idx="1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343090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Shape 266"/>
          <p:cNvSpPr>
            <a:spLocks noGrp="1" noRot="1" noChangeAspect="1"/>
          </p:cNvSpPr>
          <p:nvPr>
            <p:ph type="sldImg" idx="2"/>
          </p:nvPr>
        </p:nvSpPr>
        <p:spPr>
          <a:xfrm>
            <a:off x="1219200" y="685800"/>
            <a:ext cx="48768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7" name="Shape 267"/>
          <p:cNvSpPr txBox="1">
            <a:spLocks noGrp="1"/>
          </p:cNvSpPr>
          <p:nvPr>
            <p:ph type="body" idx="1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Shape 378"/>
          <p:cNvSpPr>
            <a:spLocks noGrp="1" noRot="1" noChangeAspect="1"/>
          </p:cNvSpPr>
          <p:nvPr>
            <p:ph type="sldImg" idx="2"/>
          </p:nvPr>
        </p:nvSpPr>
        <p:spPr>
          <a:xfrm>
            <a:off x="1219200" y="685800"/>
            <a:ext cx="48768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9" name="Shape 379"/>
          <p:cNvSpPr txBox="1">
            <a:spLocks noGrp="1"/>
          </p:cNvSpPr>
          <p:nvPr>
            <p:ph type="body" idx="1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Shape 384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5" name="Shape 385"/>
          <p:cNvSpPr txBox="1">
            <a:spLocks noGrp="1"/>
          </p:cNvSpPr>
          <p:nvPr>
            <p:ph type="body" idx="1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Shape 391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2" name="Shape 392"/>
          <p:cNvSpPr txBox="1">
            <a:spLocks noGrp="1"/>
          </p:cNvSpPr>
          <p:nvPr>
            <p:ph type="body" idx="1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\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Shape 401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2" name="Shape 402"/>
          <p:cNvSpPr txBox="1">
            <a:spLocks noGrp="1"/>
          </p:cNvSpPr>
          <p:nvPr>
            <p:ph type="body" idx="1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 on buffering:</a:t>
            </a:r>
            <a:br>
              <a:rPr lang="en-US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</a:t>
            </a:r>
            <a:r>
              <a:rPr lang="en-US" b="0" i="0" dirty="0">
                <a:solidFill>
                  <a:srgbClr val="3D3B49"/>
                </a:solidFill>
                <a:effectLst/>
                <a:latin typeface="Noto serif" panose="020F0502020204030204" pitchFamily="34" charset="0"/>
              </a:rPr>
              <a:t>The four platforms discussed in this book follow these conventions for standard I/O buffering: standard error is unbuffered, streams open to terminal devices are line buffered, and all other streams are fully buffered.”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Buffer data in memory before eventual output</a:t>
            </a:r>
            <a:endParaRPr sz="1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Shape 432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3" name="Shape 433"/>
          <p:cNvSpPr txBox="1">
            <a:spLocks noGrp="1"/>
          </p:cNvSpPr>
          <p:nvPr>
            <p:ph type="body" idx="1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LIVECODE</a:t>
            </a:r>
            <a:endParaRPr sz="1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Shape 464"/>
          <p:cNvSpPr>
            <a:spLocks noGrp="1" noRot="1" noChangeAspect="1"/>
          </p:cNvSpPr>
          <p:nvPr>
            <p:ph type="sldImg" idx="2"/>
          </p:nvPr>
        </p:nvSpPr>
        <p:spPr>
          <a:xfrm>
            <a:off x="1219200" y="685800"/>
            <a:ext cx="48768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5" name="Shape 465"/>
          <p:cNvSpPr txBox="1">
            <a:spLocks noGrp="1"/>
          </p:cNvSpPr>
          <p:nvPr>
            <p:ph type="body" idx="1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Shape 470"/>
          <p:cNvSpPr>
            <a:spLocks noGrp="1" noRot="1" noChangeAspect="1"/>
          </p:cNvSpPr>
          <p:nvPr>
            <p:ph type="sldImg" idx="2"/>
          </p:nvPr>
        </p:nvSpPr>
        <p:spPr>
          <a:xfrm>
            <a:off x="1219200" y="685800"/>
            <a:ext cx="48768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1" name="Shape 471"/>
          <p:cNvSpPr txBox="1">
            <a:spLocks noGrp="1"/>
          </p:cNvSpPr>
          <p:nvPr>
            <p:ph type="body" idx="1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Shape 476"/>
          <p:cNvSpPr>
            <a:spLocks noGrp="1" noRot="1" noChangeAspect="1"/>
          </p:cNvSpPr>
          <p:nvPr>
            <p:ph type="sldImg" idx="2"/>
          </p:nvPr>
        </p:nvSpPr>
        <p:spPr>
          <a:xfrm>
            <a:off x="1219200" y="685800"/>
            <a:ext cx="48768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7" name="Shape 477"/>
          <p:cNvSpPr txBox="1">
            <a:spLocks noGrp="1"/>
          </p:cNvSpPr>
          <p:nvPr>
            <p:ph type="body" idx="1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Shape 483"/>
          <p:cNvSpPr>
            <a:spLocks noGrp="1" noRot="1" noChangeAspect="1"/>
          </p:cNvSpPr>
          <p:nvPr>
            <p:ph type="sldImg" idx="2"/>
          </p:nvPr>
        </p:nvSpPr>
        <p:spPr>
          <a:xfrm>
            <a:off x="1219200" y="685800"/>
            <a:ext cx="48768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4" name="Shape 484"/>
          <p:cNvSpPr txBox="1">
            <a:spLocks noGrp="1"/>
          </p:cNvSpPr>
          <p:nvPr>
            <p:ph type="body" idx="1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Shape 496"/>
          <p:cNvSpPr>
            <a:spLocks noGrp="1" noRot="1" noChangeAspect="1"/>
          </p:cNvSpPr>
          <p:nvPr>
            <p:ph type="sldImg" idx="2"/>
          </p:nvPr>
        </p:nvSpPr>
        <p:spPr>
          <a:xfrm>
            <a:off x="1219200" y="685800"/>
            <a:ext cx="48768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7" name="Shape 497"/>
          <p:cNvSpPr txBox="1">
            <a:spLocks noGrp="1"/>
          </p:cNvSpPr>
          <p:nvPr>
            <p:ph type="body" idx="1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Shape 503"/>
          <p:cNvSpPr>
            <a:spLocks noGrp="1" noRot="1" noChangeAspect="1"/>
          </p:cNvSpPr>
          <p:nvPr>
            <p:ph type="sldImg" idx="2"/>
          </p:nvPr>
        </p:nvSpPr>
        <p:spPr>
          <a:xfrm>
            <a:off x="1219200" y="685800"/>
            <a:ext cx="48768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4" name="Shape 504"/>
          <p:cNvSpPr txBox="1">
            <a:spLocks noGrp="1"/>
          </p:cNvSpPr>
          <p:nvPr>
            <p:ph type="body" idx="1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Shape 511"/>
          <p:cNvSpPr>
            <a:spLocks noGrp="1" noRot="1" noChangeAspect="1"/>
          </p:cNvSpPr>
          <p:nvPr>
            <p:ph type="sldImg" idx="2"/>
          </p:nvPr>
        </p:nvSpPr>
        <p:spPr>
          <a:xfrm>
            <a:off x="1219200" y="685800"/>
            <a:ext cx="48768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2" name="Shape 512"/>
          <p:cNvSpPr txBox="1">
            <a:spLocks noGrp="1"/>
          </p:cNvSpPr>
          <p:nvPr>
            <p:ph type="body" idx="1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v-node is in memory kernel file representation (you will also see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-nodes which are the “on-disk” representations) which isn’t really true for Linux. Don’t worry about that too much, you can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kinda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think of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-nodes and v-nodes as being the same thing, a physical representation of files either in memory or on disk.</a:t>
            </a:r>
            <a:endParaRPr sz="1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Shape 558"/>
          <p:cNvSpPr>
            <a:spLocks noGrp="1" noRot="1" noChangeAspect="1"/>
          </p:cNvSpPr>
          <p:nvPr>
            <p:ph type="sldImg" idx="2"/>
          </p:nvPr>
        </p:nvSpPr>
        <p:spPr>
          <a:xfrm>
            <a:off x="1219200" y="685800"/>
            <a:ext cx="48768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9" name="Shape 559"/>
          <p:cNvSpPr txBox="1">
            <a:spLocks noGrp="1"/>
          </p:cNvSpPr>
          <p:nvPr>
            <p:ph type="body" idx="1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Shape 599"/>
          <p:cNvSpPr>
            <a:spLocks noGrp="1" noRot="1" noChangeAspect="1"/>
          </p:cNvSpPr>
          <p:nvPr>
            <p:ph type="sldImg" idx="2"/>
          </p:nvPr>
        </p:nvSpPr>
        <p:spPr>
          <a:xfrm>
            <a:off x="1219200" y="685800"/>
            <a:ext cx="48768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0" name="Shape 600"/>
          <p:cNvSpPr txBox="1">
            <a:spLocks noGrp="1"/>
          </p:cNvSpPr>
          <p:nvPr>
            <p:ph type="body" idx="1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Shape 643"/>
          <p:cNvSpPr>
            <a:spLocks noGrp="1" noRot="1" noChangeAspect="1"/>
          </p:cNvSpPr>
          <p:nvPr>
            <p:ph type="sldImg" idx="2"/>
          </p:nvPr>
        </p:nvSpPr>
        <p:spPr>
          <a:xfrm>
            <a:off x="1219200" y="685800"/>
            <a:ext cx="48768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4" name="Shape 644"/>
          <p:cNvSpPr txBox="1">
            <a:spLocks noGrp="1"/>
          </p:cNvSpPr>
          <p:nvPr>
            <p:ph type="body" idx="1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Shape 699"/>
          <p:cNvSpPr>
            <a:spLocks noGrp="1" noRot="1" noChangeAspect="1"/>
          </p:cNvSpPr>
          <p:nvPr>
            <p:ph type="sldImg" idx="2"/>
          </p:nvPr>
        </p:nvSpPr>
        <p:spPr>
          <a:xfrm>
            <a:off x="1219200" y="685800"/>
            <a:ext cx="48768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0" name="Shape 700"/>
          <p:cNvSpPr txBox="1">
            <a:spLocks noGrp="1"/>
          </p:cNvSpPr>
          <p:nvPr>
            <p:ph type="body" idx="1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Shape 731"/>
          <p:cNvSpPr>
            <a:spLocks noGrp="1" noRot="1" noChangeAspect="1"/>
          </p:cNvSpPr>
          <p:nvPr>
            <p:ph type="sldImg" idx="2"/>
          </p:nvPr>
        </p:nvSpPr>
        <p:spPr>
          <a:xfrm>
            <a:off x="1219200" y="685800"/>
            <a:ext cx="48768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2" name="Shape 732"/>
          <p:cNvSpPr txBox="1">
            <a:spLocks noGrp="1"/>
          </p:cNvSpPr>
          <p:nvPr>
            <p:ph type="body" idx="1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Shape 776"/>
          <p:cNvSpPr>
            <a:spLocks noGrp="1" noRot="1" noChangeAspect="1"/>
          </p:cNvSpPr>
          <p:nvPr>
            <p:ph type="sldImg" idx="2"/>
          </p:nvPr>
        </p:nvSpPr>
        <p:spPr>
          <a:xfrm>
            <a:off x="1219200" y="685800"/>
            <a:ext cx="48768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7" name="Shape 777"/>
          <p:cNvSpPr txBox="1">
            <a:spLocks noGrp="1"/>
          </p:cNvSpPr>
          <p:nvPr>
            <p:ph type="body" idx="1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EDD6D-829A-7368-FA50-938C0BE9D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258" name="Rectangle 2">
            <a:extLst>
              <a:ext uri="{FF2B5EF4-FFF2-40B4-BE49-F238E27FC236}">
                <a16:creationId xmlns:a16="http://schemas.microsoft.com/office/drawing/2014/main" id="{1C22E5A5-5B87-2EBC-4F15-430711EB82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6259" name="Rectangle 3">
            <a:extLst>
              <a:ext uri="{FF2B5EF4-FFF2-40B4-BE49-F238E27FC236}">
                <a16:creationId xmlns:a16="http://schemas.microsoft.com/office/drawing/2014/main" id="{736330E4-41D1-48B0-AC46-CAB479318A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86316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071CE-6AFA-B4FC-CD54-390FF5BBE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258" name="Rectangle 2">
            <a:extLst>
              <a:ext uri="{FF2B5EF4-FFF2-40B4-BE49-F238E27FC236}">
                <a16:creationId xmlns:a16="http://schemas.microsoft.com/office/drawing/2014/main" id="{614E4972-72BD-46E8-857B-F8D76B37AA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6259" name="Rectangle 3">
            <a:extLst>
              <a:ext uri="{FF2B5EF4-FFF2-40B4-BE49-F238E27FC236}">
                <a16:creationId xmlns:a16="http://schemas.microsoft.com/office/drawing/2014/main" id="{C8982059-3FC7-EBFF-24A4-9515599569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2191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B28AD-75AF-8623-4C79-5D2A30876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258" name="Rectangle 2">
            <a:extLst>
              <a:ext uri="{FF2B5EF4-FFF2-40B4-BE49-F238E27FC236}">
                <a16:creationId xmlns:a16="http://schemas.microsoft.com/office/drawing/2014/main" id="{967550C7-DF62-0FBA-27C7-61577926FC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6259" name="Rectangle 3">
            <a:extLst>
              <a:ext uri="{FF2B5EF4-FFF2-40B4-BE49-F238E27FC236}">
                <a16:creationId xmlns:a16="http://schemas.microsoft.com/office/drawing/2014/main" id="{0A74F650-5575-4BFC-FF78-B9A3DF1999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96924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341B8-B907-8F97-10C1-B1587336E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258" name="Rectangle 2">
            <a:extLst>
              <a:ext uri="{FF2B5EF4-FFF2-40B4-BE49-F238E27FC236}">
                <a16:creationId xmlns:a16="http://schemas.microsoft.com/office/drawing/2014/main" id="{3C0BCD97-02E2-6AD7-699A-57EFFB4CA0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6259" name="Rectangle 3">
            <a:extLst>
              <a:ext uri="{FF2B5EF4-FFF2-40B4-BE49-F238E27FC236}">
                <a16:creationId xmlns:a16="http://schemas.microsoft.com/office/drawing/2014/main" id="{161D4E1D-A7C3-8744-BA41-4855AE4777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21063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B358B-DA5C-A454-3A81-9C3302A07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258" name="Rectangle 2">
            <a:extLst>
              <a:ext uri="{FF2B5EF4-FFF2-40B4-BE49-F238E27FC236}">
                <a16:creationId xmlns:a16="http://schemas.microsoft.com/office/drawing/2014/main" id="{41F74FF3-DDEF-C2D8-B464-DBA7128BD2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6259" name="Rectangle 3">
            <a:extLst>
              <a:ext uri="{FF2B5EF4-FFF2-40B4-BE49-F238E27FC236}">
                <a16:creationId xmlns:a16="http://schemas.microsoft.com/office/drawing/2014/main" id="{0EA89A9B-09E4-BDF0-DD77-D5A795A214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839456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6E384-EC80-2B86-4D95-0310ECD7C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258" name="Rectangle 2">
            <a:extLst>
              <a:ext uri="{FF2B5EF4-FFF2-40B4-BE49-F238E27FC236}">
                <a16:creationId xmlns:a16="http://schemas.microsoft.com/office/drawing/2014/main" id="{B3ADB1CD-6EED-06EF-39CE-8656AC4EB4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6259" name="Rectangle 3">
            <a:extLst>
              <a:ext uri="{FF2B5EF4-FFF2-40B4-BE49-F238E27FC236}">
                <a16:creationId xmlns:a16="http://schemas.microsoft.com/office/drawing/2014/main" id="{A80D238E-334B-0A3D-E8C7-2E33BEBF94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55231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670F9-9290-00CF-DE06-7557BE3A5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258" name="Rectangle 2">
            <a:extLst>
              <a:ext uri="{FF2B5EF4-FFF2-40B4-BE49-F238E27FC236}">
                <a16:creationId xmlns:a16="http://schemas.microsoft.com/office/drawing/2014/main" id="{A196EDC0-E24B-DBD5-089B-9E477FE3B8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6259" name="Rectangle 3">
            <a:extLst>
              <a:ext uri="{FF2B5EF4-FFF2-40B4-BE49-F238E27FC236}">
                <a16:creationId xmlns:a16="http://schemas.microsoft.com/office/drawing/2014/main" id="{89C574EA-3B52-043F-0AAC-3DDE04286D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5600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E7EB8-45AD-C958-B8F5-FD2C986C0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258" name="Rectangle 2">
            <a:extLst>
              <a:ext uri="{FF2B5EF4-FFF2-40B4-BE49-F238E27FC236}">
                <a16:creationId xmlns:a16="http://schemas.microsoft.com/office/drawing/2014/main" id="{792518F6-A99C-8624-2A67-7E32A43611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6259" name="Rectangle 3">
            <a:extLst>
              <a:ext uri="{FF2B5EF4-FFF2-40B4-BE49-F238E27FC236}">
                <a16:creationId xmlns:a16="http://schemas.microsoft.com/office/drawing/2014/main" id="{A42B04F9-B481-310F-76B0-43472244A3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4028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2B302-D7BD-20B7-F5E3-D1DA09919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258" name="Rectangle 2">
            <a:extLst>
              <a:ext uri="{FF2B5EF4-FFF2-40B4-BE49-F238E27FC236}">
                <a16:creationId xmlns:a16="http://schemas.microsoft.com/office/drawing/2014/main" id="{C7A31FF6-9267-E11F-829E-4B2D35FA54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6259" name="Rectangle 3">
            <a:extLst>
              <a:ext uri="{FF2B5EF4-FFF2-40B4-BE49-F238E27FC236}">
                <a16:creationId xmlns:a16="http://schemas.microsoft.com/office/drawing/2014/main" id="{2055DFD8-FB81-6EBB-C394-0342A45A62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32300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323BB-2900-DF2C-221E-EBE3A0EAC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258" name="Rectangle 2">
            <a:extLst>
              <a:ext uri="{FF2B5EF4-FFF2-40B4-BE49-F238E27FC236}">
                <a16:creationId xmlns:a16="http://schemas.microsoft.com/office/drawing/2014/main" id="{48239024-0A0C-71AD-15FD-288A2BF1B8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6259" name="Rectangle 3">
            <a:extLst>
              <a:ext uri="{FF2B5EF4-FFF2-40B4-BE49-F238E27FC236}">
                <a16:creationId xmlns:a16="http://schemas.microsoft.com/office/drawing/2014/main" id="{6EEDB810-DB4E-6D69-074C-A3E5FDD99A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72484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F1787-2DBC-937E-0902-00325EBE1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258" name="Rectangle 2">
            <a:extLst>
              <a:ext uri="{FF2B5EF4-FFF2-40B4-BE49-F238E27FC236}">
                <a16:creationId xmlns:a16="http://schemas.microsoft.com/office/drawing/2014/main" id="{75B60640-91EF-E822-DA48-ACC62C3FC7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6259" name="Rectangle 3">
            <a:extLst>
              <a:ext uri="{FF2B5EF4-FFF2-40B4-BE49-F238E27FC236}">
                <a16:creationId xmlns:a16="http://schemas.microsoft.com/office/drawing/2014/main" id="{9B2B5E9B-C099-D281-79D7-02ABE4A129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94227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F9385-DC71-0B3B-6F9B-1A1FBDFB3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258" name="Rectangle 2">
            <a:extLst>
              <a:ext uri="{FF2B5EF4-FFF2-40B4-BE49-F238E27FC236}">
                <a16:creationId xmlns:a16="http://schemas.microsoft.com/office/drawing/2014/main" id="{3366DB5A-23F3-C698-D60E-3197AE8B73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6259" name="Rectangle 3">
            <a:extLst>
              <a:ext uri="{FF2B5EF4-FFF2-40B4-BE49-F238E27FC236}">
                <a16:creationId xmlns:a16="http://schemas.microsoft.com/office/drawing/2014/main" id="{E17B227F-0FB1-B0CB-FE79-99E78F1C4E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04677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89050-DAD1-66FE-AFE0-9B9BA7BB7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258" name="Rectangle 2">
            <a:extLst>
              <a:ext uri="{FF2B5EF4-FFF2-40B4-BE49-F238E27FC236}">
                <a16:creationId xmlns:a16="http://schemas.microsoft.com/office/drawing/2014/main" id="{D1066430-5F03-B6A9-B3EF-56D95D9CB9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6259" name="Rectangle 3">
            <a:extLst>
              <a:ext uri="{FF2B5EF4-FFF2-40B4-BE49-F238E27FC236}">
                <a16:creationId xmlns:a16="http://schemas.microsoft.com/office/drawing/2014/main" id="{6DBA009D-7E12-463F-802E-A9614B8983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419423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8388F-1515-709D-DEC4-6105833B4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258" name="Rectangle 2">
            <a:extLst>
              <a:ext uri="{FF2B5EF4-FFF2-40B4-BE49-F238E27FC236}">
                <a16:creationId xmlns:a16="http://schemas.microsoft.com/office/drawing/2014/main" id="{0969B379-583D-8405-C5BD-A60669A864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6259" name="Rectangle 3">
            <a:extLst>
              <a:ext uri="{FF2B5EF4-FFF2-40B4-BE49-F238E27FC236}">
                <a16:creationId xmlns:a16="http://schemas.microsoft.com/office/drawing/2014/main" id="{FA8AB0FD-DAD6-6CBE-C697-976A83ABC0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4179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D2AB0-EAFB-89EB-F946-00C27C3D2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258" name="Rectangle 2">
            <a:extLst>
              <a:ext uri="{FF2B5EF4-FFF2-40B4-BE49-F238E27FC236}">
                <a16:creationId xmlns:a16="http://schemas.microsoft.com/office/drawing/2014/main" id="{B13F5327-DF6C-59AA-DB70-32A4CF8FB6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6259" name="Rectangle 3">
            <a:extLst>
              <a:ext uri="{FF2B5EF4-FFF2-40B4-BE49-F238E27FC236}">
                <a16:creationId xmlns:a16="http://schemas.microsoft.com/office/drawing/2014/main" id="{FD63A6DB-9330-CAAD-7920-44CE65C76A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76948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3078C-E1F7-FEC7-7A2A-E07E22E7F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258" name="Rectangle 2">
            <a:extLst>
              <a:ext uri="{FF2B5EF4-FFF2-40B4-BE49-F238E27FC236}">
                <a16:creationId xmlns:a16="http://schemas.microsoft.com/office/drawing/2014/main" id="{E75C4BAF-7189-4A11-9A5A-DD34EDA8F2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6259" name="Rectangle 3">
            <a:extLst>
              <a:ext uri="{FF2B5EF4-FFF2-40B4-BE49-F238E27FC236}">
                <a16:creationId xmlns:a16="http://schemas.microsoft.com/office/drawing/2014/main" id="{1553C058-5FB4-04DA-B1A5-1A52E22987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89169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BEE62-B51D-E35E-F900-9A88D7764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258" name="Rectangle 2">
            <a:extLst>
              <a:ext uri="{FF2B5EF4-FFF2-40B4-BE49-F238E27FC236}">
                <a16:creationId xmlns:a16="http://schemas.microsoft.com/office/drawing/2014/main" id="{E99ACFDA-7D54-4CF7-2587-AEF8C5E8D0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6259" name="Rectangle 3">
            <a:extLst>
              <a:ext uri="{FF2B5EF4-FFF2-40B4-BE49-F238E27FC236}">
                <a16:creationId xmlns:a16="http://schemas.microsoft.com/office/drawing/2014/main" id="{0F0D2AB0-6D57-E4E9-556A-D5D5EB8918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25890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D7E4B-0263-643E-67C8-2104EE560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258" name="Rectangle 2">
            <a:extLst>
              <a:ext uri="{FF2B5EF4-FFF2-40B4-BE49-F238E27FC236}">
                <a16:creationId xmlns:a16="http://schemas.microsoft.com/office/drawing/2014/main" id="{7AE52AEA-7032-6DCD-867F-0AD3C75796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6259" name="Rectangle 3">
            <a:extLst>
              <a:ext uri="{FF2B5EF4-FFF2-40B4-BE49-F238E27FC236}">
                <a16:creationId xmlns:a16="http://schemas.microsoft.com/office/drawing/2014/main" id="{6CF5F20E-3703-37D1-5526-0556E91CE0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071501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1DD22-FD83-0482-7B5D-E53F8036D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258" name="Rectangle 2">
            <a:extLst>
              <a:ext uri="{FF2B5EF4-FFF2-40B4-BE49-F238E27FC236}">
                <a16:creationId xmlns:a16="http://schemas.microsoft.com/office/drawing/2014/main" id="{E9D0DD81-D30D-4B0C-D089-417B11AFB8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6259" name="Rectangle 3">
            <a:extLst>
              <a:ext uri="{FF2B5EF4-FFF2-40B4-BE49-F238E27FC236}">
                <a16:creationId xmlns:a16="http://schemas.microsoft.com/office/drawing/2014/main" id="{B8AF04A8-0D28-38B9-35CC-FEE4C5CAAB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33775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5E552-30AE-E1BA-1917-E82EA2C57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258" name="Rectangle 2">
            <a:extLst>
              <a:ext uri="{FF2B5EF4-FFF2-40B4-BE49-F238E27FC236}">
                <a16:creationId xmlns:a16="http://schemas.microsoft.com/office/drawing/2014/main" id="{F017630F-80C7-E35B-1330-6BB00AC006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6259" name="Rectangle 3">
            <a:extLst>
              <a:ext uri="{FF2B5EF4-FFF2-40B4-BE49-F238E27FC236}">
                <a16:creationId xmlns:a16="http://schemas.microsoft.com/office/drawing/2014/main" id="{366B909E-619E-F948-9DCC-16B72DACD8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97985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2C52E-C1D7-6442-2800-8B709B039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258" name="Rectangle 2">
            <a:extLst>
              <a:ext uri="{FF2B5EF4-FFF2-40B4-BE49-F238E27FC236}">
                <a16:creationId xmlns:a16="http://schemas.microsoft.com/office/drawing/2014/main" id="{77BBC4AB-0229-9829-9E48-BB908FD137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6259" name="Rectangle 3">
            <a:extLst>
              <a:ext uri="{FF2B5EF4-FFF2-40B4-BE49-F238E27FC236}">
                <a16:creationId xmlns:a16="http://schemas.microsoft.com/office/drawing/2014/main" id="{FA468BC0-F72F-94C2-67DC-B73382E011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52565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CE4C3-25A6-97A6-E86D-CE81F33E3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258" name="Rectangle 2">
            <a:extLst>
              <a:ext uri="{FF2B5EF4-FFF2-40B4-BE49-F238E27FC236}">
                <a16:creationId xmlns:a16="http://schemas.microsoft.com/office/drawing/2014/main" id="{E6770A9D-8CB8-3B31-B021-B2FB73D0A3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6259" name="Rectangle 3">
            <a:extLst>
              <a:ext uri="{FF2B5EF4-FFF2-40B4-BE49-F238E27FC236}">
                <a16:creationId xmlns:a16="http://schemas.microsoft.com/office/drawing/2014/main" id="{6D41999F-D552-7718-ECDF-5068427854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348012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0EED0-45D6-1ED5-4188-44E2D18F3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258" name="Rectangle 2">
            <a:extLst>
              <a:ext uri="{FF2B5EF4-FFF2-40B4-BE49-F238E27FC236}">
                <a16:creationId xmlns:a16="http://schemas.microsoft.com/office/drawing/2014/main" id="{FBD3E99B-1770-1D83-B716-7C72C3D9F4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6259" name="Rectangle 3">
            <a:extLst>
              <a:ext uri="{FF2B5EF4-FFF2-40B4-BE49-F238E27FC236}">
                <a16:creationId xmlns:a16="http://schemas.microsoft.com/office/drawing/2014/main" id="{B08EC985-B2FA-A4A9-CADD-EF2DF0C5DC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03517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D7ED1-645C-A659-2233-834D6CD12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258" name="Rectangle 2">
            <a:extLst>
              <a:ext uri="{FF2B5EF4-FFF2-40B4-BE49-F238E27FC236}">
                <a16:creationId xmlns:a16="http://schemas.microsoft.com/office/drawing/2014/main" id="{3E9676B0-507D-303D-ECCF-DAB5D57DC1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6259" name="Rectangle 3">
            <a:extLst>
              <a:ext uri="{FF2B5EF4-FFF2-40B4-BE49-F238E27FC236}">
                <a16:creationId xmlns:a16="http://schemas.microsoft.com/office/drawing/2014/main" id="{1E63A8B9-1DA2-03D8-1D7B-BA3C4ACFDE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60681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2A7AA-940B-D08F-B0E5-F3E7011C3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258" name="Rectangle 2">
            <a:extLst>
              <a:ext uri="{FF2B5EF4-FFF2-40B4-BE49-F238E27FC236}">
                <a16:creationId xmlns:a16="http://schemas.microsoft.com/office/drawing/2014/main" id="{4D514D2D-4AC7-E12C-E091-909DB70242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6259" name="Rectangle 3">
            <a:extLst>
              <a:ext uri="{FF2B5EF4-FFF2-40B4-BE49-F238E27FC236}">
                <a16:creationId xmlns:a16="http://schemas.microsoft.com/office/drawing/2014/main" id="{D8320945-BF0C-15C0-E653-0F288138AC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856053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Shape 272"/>
          <p:cNvSpPr>
            <a:spLocks noGrp="1" noRot="1" noChangeAspect="1"/>
          </p:cNvSpPr>
          <p:nvPr>
            <p:ph type="sldImg" idx="2"/>
          </p:nvPr>
        </p:nvSpPr>
        <p:spPr>
          <a:xfrm>
            <a:off x="1219200" y="685800"/>
            <a:ext cx="48768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73" name="Shape 273"/>
          <p:cNvSpPr txBox="1">
            <a:spLocks noGrp="1"/>
          </p:cNvSpPr>
          <p:nvPr>
            <p:ph type="body" idx="1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4" name="Shape 274"/>
          <p:cNvSpPr txBox="1">
            <a:spLocks noGrp="1"/>
          </p:cNvSpPr>
          <p:nvPr>
            <p:ph type="sldNum" idx="12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71</a:t>
            </a:fld>
            <a:endParaRPr sz="1200" b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828609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96513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9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66300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75895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0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247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D5A4-340E-8948-B151-C8D5A74421AF}" type="datetime1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8FB5B-1F60-994B-8E33-8E782B4CF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288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A384C-203B-454E-9D15-1EFDF6282DB6}" type="datetime1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8FB5B-1F60-994B-8E33-8E782B4CF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316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D2C35-48C5-6747-A9C8-426338798E82}" type="datetime1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8FB5B-1F60-994B-8E33-8E782B4CF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694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00A07-0993-5A44-A9EF-C7AD49A44E7B}" type="datetime1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8FB5B-1F60-994B-8E33-8E782B4CF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445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E6E2F-85A2-1548-979F-ED05539E3BDE}" type="datetime1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8FB5B-1F60-994B-8E33-8E782B4CF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403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A29CA-20BA-4845-976B-5F23A0145A89}" type="datetime1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8FB5B-1F60-994B-8E33-8E782B4CF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07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C34B8-2FD8-2548-8C4F-75D7275788D7}" type="datetime1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8FB5B-1F60-994B-8E33-8E782B4CF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432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B120B-5425-0740-B26F-FF228EE904C2}" type="datetime1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8FB5B-1F60-994B-8E33-8E782B4CF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539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D2F6-8438-1542-A9A9-DC607A1B99E9}" type="datetime1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8FB5B-1F60-994B-8E33-8E782B4CF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060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88BB9-66A7-504B-BC9F-736C3080A1DB}" type="datetime1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8FB5B-1F60-994B-8E33-8E782B4CF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814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572A6-6DF7-A642-8048-5DC28BB90BC5}" type="datetime1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8FB5B-1F60-994B-8E33-8E782B4CF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062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1CE7E0-0F8D-5543-94EA-E16C7B39EA53}" type="datetime1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08FB5B-1F60-994B-8E33-8E782B4CF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740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gle/26Laj6DnFv6eCzDb9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linuxcommand.org/lc3_lts0090.php" TargetMode="External"/><Relationship Id="rId2" Type="http://schemas.openxmlformats.org/officeDocument/2006/relationships/hyperlink" Target="https://linuxfoundation.org/blog/classic-sysadmin-understanding-linux-file-permissions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evconnected.com/linux-file-permissions-complete-guide/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hyperlink" Target="http://csapp.cs.cmu.edu/public/code.html" TargetMode="External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39C7B43-04DF-BB87-FB96-840FD36B2F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578592"/>
            <a:ext cx="10972800" cy="570081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276843-6500-3A7E-6D07-C21BB7BA0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8FB5B-1F60-994B-8E33-8E782B4CF04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090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4550D-EFC9-78B8-65CA-FE2B90134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6B299-8368-CA65-A330-7C91191E3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3FB8D-C07E-9D51-31D1-96614DED8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malloc lab (final) due today</a:t>
            </a:r>
          </a:p>
          <a:p>
            <a:r>
              <a:rPr lang="en-US" dirty="0"/>
              <a:t>malloc lab (checkpoint) reflection due today</a:t>
            </a:r>
            <a:br>
              <a:rPr lang="en-US" dirty="0"/>
            </a:br>
            <a:r>
              <a:rPr lang="en-US" b="0" i="0" u="sng" dirty="0">
                <a:effectLst/>
                <a:hlinkClick r:id="rId2"/>
              </a:rPr>
              <a:t>https://forms.gle/26Laj6DnFv6eCzDb9</a:t>
            </a:r>
            <a:endParaRPr lang="en-US" dirty="0"/>
          </a:p>
          <a:p>
            <a:r>
              <a:rPr lang="en-US" dirty="0"/>
              <a:t>shell lab out today</a:t>
            </a:r>
          </a:p>
          <a:p>
            <a:pPr lvl="1"/>
            <a:r>
              <a:rPr lang="en-US" dirty="0"/>
              <a:t>start early! </a:t>
            </a:r>
          </a:p>
          <a:p>
            <a:r>
              <a:rPr lang="en-US" dirty="0"/>
              <a:t>SCS building facilities is looking into issues with HVAC in Rashid (we know it is too hot)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FDBEC2-40BB-11B5-535C-AFF3C7A08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8FB5B-1F60-994B-8E33-8E782B4CF04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165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EA44F-FF19-41A6-A3EA-69FA01C0A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3C37C-2F3E-A630-72D3-702838C27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Today: </a:t>
            </a:r>
            <a:r>
              <a:rPr lang="en-US" dirty="0"/>
              <a:t>How does systems I/O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8F5DB-D459-316A-2A8D-FD452FB6A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Unix I/O</a:t>
            </a:r>
          </a:p>
          <a:p>
            <a:r>
              <a:rPr lang="en-US" sz="4000" dirty="0"/>
              <a:t>Standard I/O</a:t>
            </a:r>
          </a:p>
          <a:p>
            <a:r>
              <a:rPr lang="en-US" sz="4000" dirty="0"/>
              <a:t>Which I/O when</a:t>
            </a:r>
          </a:p>
          <a:p>
            <a:r>
              <a:rPr lang="en-US" sz="4000" dirty="0"/>
              <a:t>Metadata, sharing, and redirection</a:t>
            </a:r>
          </a:p>
          <a:p>
            <a:endParaRPr lang="en-US" sz="4000" b="1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2E7314-7FC5-1075-CD81-60E9A0C6B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8FB5B-1F60-994B-8E33-8E782B4CF04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196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EBC72-1AC1-42CA-B198-A28D3728C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level: below standard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A58761-8DC4-426D-868C-C6D206EE1110}"/>
              </a:ext>
            </a:extLst>
          </p:cNvPr>
          <p:cNvSpPr/>
          <p:nvPr/>
        </p:nvSpPr>
        <p:spPr>
          <a:xfrm>
            <a:off x="1026160" y="1540934"/>
            <a:ext cx="6019524" cy="4240106"/>
          </a:xfrm>
          <a:prstGeom prst="rect">
            <a:avLst/>
          </a:prstGeom>
          <a:solidFill>
            <a:schemeClr val="bg1"/>
          </a:solidFill>
          <a:ln>
            <a:solidFill>
              <a:srgbClr val="CC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#include &lt;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stdio.h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</a:p>
          <a:p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int main(void) {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   FILE *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fp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b="1" dirty="0" err="1">
                <a:solidFill>
                  <a:schemeClr val="tx1"/>
                </a:solidFill>
                <a:latin typeface="Consolas" panose="020B0609020204030204" pitchFamily="49" charset="0"/>
              </a:rPr>
              <a:t>fopen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("output.txt", "w");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   if (!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fp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perror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("output.txt");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       return 1;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b="1" dirty="0" err="1">
                <a:solidFill>
                  <a:schemeClr val="tx1"/>
                </a:solidFill>
                <a:latin typeface="Consolas" panose="020B0609020204030204" pitchFamily="49" charset="0"/>
              </a:rPr>
              <a:t>fputs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("baby shark (do doo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dooo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)\n",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fp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   if (</a:t>
            </a:r>
            <a:r>
              <a:rPr lang="en-US" b="1" dirty="0" err="1">
                <a:solidFill>
                  <a:schemeClr val="tx1"/>
                </a:solidFill>
                <a:latin typeface="Consolas" panose="020B0609020204030204" pitchFamily="49" charset="0"/>
              </a:rPr>
              <a:t>fclose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fp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perror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("output.txt");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       return 1;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   return 0;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Callout: Bent Line 4">
            <a:extLst>
              <a:ext uri="{FF2B5EF4-FFF2-40B4-BE49-F238E27FC236}">
                <a16:creationId xmlns:a16="http://schemas.microsoft.com/office/drawing/2014/main" id="{1C12965D-FA86-46B4-9AEF-0C92E43EA45A}"/>
              </a:ext>
            </a:extLst>
          </p:cNvPr>
          <p:cNvSpPr/>
          <p:nvPr/>
        </p:nvSpPr>
        <p:spPr>
          <a:xfrm>
            <a:off x="7653868" y="1261534"/>
            <a:ext cx="3266715" cy="1803399"/>
          </a:xfrm>
          <a:prstGeom prst="borderCallout2">
            <a:avLst>
              <a:gd name="adj1" fmla="val 4464"/>
              <a:gd name="adj2" fmla="val -5984"/>
              <a:gd name="adj3" fmla="val 4464"/>
              <a:gd name="adj4" fmla="val -12643"/>
              <a:gd name="adj5" fmla="val 59823"/>
              <a:gd name="adj6" fmla="val -33133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FILE *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fopen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(const char *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fname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           const char *mode) {</a:t>
            </a: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   int 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fd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1100" b="1" dirty="0">
                <a:solidFill>
                  <a:schemeClr val="tx1"/>
                </a:solidFill>
                <a:latin typeface="Consolas" panose="020B0609020204030204" pitchFamily="49" charset="0"/>
              </a:rPr>
              <a:t>open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fname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  __mode2flags(mode),</a:t>
            </a: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  DEFFILEPERMS);</a:t>
            </a: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   if (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fd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== -1) {</a:t>
            </a: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       return NULL;</a:t>
            </a: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   return 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fdopen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fd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, mode);</a:t>
            </a: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Callout: Bent Line 5">
            <a:extLst>
              <a:ext uri="{FF2B5EF4-FFF2-40B4-BE49-F238E27FC236}">
                <a16:creationId xmlns:a16="http://schemas.microsoft.com/office/drawing/2014/main" id="{CA828583-646F-4F39-BE24-60A1EC3DFB32}"/>
              </a:ext>
            </a:extLst>
          </p:cNvPr>
          <p:cNvSpPr/>
          <p:nvPr/>
        </p:nvSpPr>
        <p:spPr>
          <a:xfrm>
            <a:off x="7653868" y="3234270"/>
            <a:ext cx="3266715" cy="1964267"/>
          </a:xfrm>
          <a:prstGeom prst="borderCallout2">
            <a:avLst>
              <a:gd name="adj1" fmla="val 6250"/>
              <a:gd name="adj2" fmla="val -5482"/>
              <a:gd name="adj3" fmla="val 6250"/>
              <a:gd name="adj4" fmla="val -12002"/>
              <a:gd name="adj5" fmla="val 8848"/>
              <a:gd name="adj6" fmla="val -21786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int 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fputs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(const char *s, FILE *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fp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size_t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n = 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strlen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(s);</a:t>
            </a: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   while (n &gt; 0) {</a:t>
            </a: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ssize_t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written =</a:t>
            </a: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100" b="1" dirty="0">
                <a:solidFill>
                  <a:schemeClr val="tx1"/>
                </a:solidFill>
                <a:latin typeface="Consolas" panose="020B0609020204030204" pitchFamily="49" charset="0"/>
              </a:rPr>
              <a:t>write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fp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-&gt;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fd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, s, n);</a:t>
            </a: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       if (written &lt; 0) return EOF;</a:t>
            </a: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       n -= written;</a:t>
            </a: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       s += written;</a:t>
            </a: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   return 0;</a:t>
            </a: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Callout: Bent Line 6">
            <a:extLst>
              <a:ext uri="{FF2B5EF4-FFF2-40B4-BE49-F238E27FC236}">
                <a16:creationId xmlns:a16="http://schemas.microsoft.com/office/drawing/2014/main" id="{D0386703-8813-40BB-9757-E05ECEEFC449}"/>
              </a:ext>
            </a:extLst>
          </p:cNvPr>
          <p:cNvSpPr/>
          <p:nvPr/>
        </p:nvSpPr>
        <p:spPr>
          <a:xfrm>
            <a:off x="7653867" y="5367874"/>
            <a:ext cx="3266715" cy="973660"/>
          </a:xfrm>
          <a:prstGeom prst="borderCallout2">
            <a:avLst>
              <a:gd name="adj1" fmla="val 6250"/>
              <a:gd name="adj2" fmla="val -5482"/>
              <a:gd name="adj3" fmla="val 6250"/>
              <a:gd name="adj4" fmla="val -12002"/>
              <a:gd name="adj5" fmla="val -177120"/>
              <a:gd name="adj6" fmla="val -97466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int 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fclose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(FILE *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fp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   int 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rv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1100" b="1" dirty="0">
                <a:solidFill>
                  <a:schemeClr val="tx1"/>
                </a:solidFill>
                <a:latin typeface="Consolas" panose="020B0609020204030204" pitchFamily="49" charset="0"/>
              </a:rPr>
              <a:t>close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fp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-&gt;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fd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   __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ffree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fp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   return 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rv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Callout: Bent Line 7">
            <a:extLst>
              <a:ext uri="{FF2B5EF4-FFF2-40B4-BE49-F238E27FC236}">
                <a16:creationId xmlns:a16="http://schemas.microsoft.com/office/drawing/2014/main" id="{4A3D42E7-BDFD-4D98-9751-1AEC93ED75C5}"/>
              </a:ext>
            </a:extLst>
          </p:cNvPr>
          <p:cNvSpPr/>
          <p:nvPr/>
        </p:nvSpPr>
        <p:spPr>
          <a:xfrm flipH="1">
            <a:off x="3107267" y="5317066"/>
            <a:ext cx="2650067" cy="1253066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8625"/>
              <a:gd name="adj6" fmla="val -81551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globl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close</a:t>
            </a:r>
          </a:p>
          <a:p>
            <a:r>
              <a:rPr lang="en-US" sz="1100" b="1" dirty="0">
                <a:solidFill>
                  <a:schemeClr val="tx1"/>
                </a:solidFill>
                <a:latin typeface="Consolas" panose="020B0609020204030204" pitchFamily="49" charset="0"/>
              </a:rPr>
              <a:t>close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   mov $3, %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eax</a:t>
            </a:r>
            <a:endParaRPr lang="en-US" sz="11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syscall</a:t>
            </a:r>
            <a:endParaRPr lang="en-US" sz="11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cmp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$-4096, %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rax</a:t>
            </a:r>
            <a:endParaRPr lang="en-US" sz="11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jae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__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syscall_error</a:t>
            </a:r>
            <a:endParaRPr lang="en-US" sz="11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   ret</a:t>
            </a:r>
          </a:p>
        </p:txBody>
      </p:sp>
    </p:spTree>
    <p:extLst>
      <p:ext uri="{BB962C8B-B14F-4D97-AF65-F5344CB8AC3E}">
        <p14:creationId xmlns:p14="http://schemas.microsoft.com/office/powerpoint/2010/main" val="3641869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64D172E1-0422-428E-956C-1F5A001A7916}"/>
              </a:ext>
            </a:extLst>
          </p:cNvPr>
          <p:cNvSpPr/>
          <p:nvPr/>
        </p:nvSpPr>
        <p:spPr>
          <a:xfrm>
            <a:off x="7312529" y="1215150"/>
            <a:ext cx="2178605" cy="2734035"/>
          </a:xfrm>
          <a:prstGeom prst="rect">
            <a:avLst/>
          </a:prstGeom>
          <a:solidFill>
            <a:srgbClr val="F5E1E1"/>
          </a:solidFill>
          <a:ln>
            <a:solidFill>
              <a:srgbClr val="F1C7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17E807-00B5-4D82-90C3-942FA841919D}"/>
              </a:ext>
            </a:extLst>
          </p:cNvPr>
          <p:cNvSpPr/>
          <p:nvPr/>
        </p:nvSpPr>
        <p:spPr>
          <a:xfrm>
            <a:off x="4902201" y="1059839"/>
            <a:ext cx="1507067" cy="50029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5E5FA1B-7E2F-4D7A-AB41-61109D704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182"/>
            <a:ext cx="10515600" cy="1325563"/>
          </a:xfrm>
        </p:spPr>
        <p:txBody>
          <a:bodyPr/>
          <a:lstStyle/>
          <a:p>
            <a:r>
              <a:rPr lang="en-US" dirty="0"/>
              <a:t>Why do we have two sets?</a:t>
            </a:r>
          </a:p>
        </p:txBody>
      </p:sp>
      <p:sp>
        <p:nvSpPr>
          <p:cNvPr id="4" name="Shape 78">
            <a:extLst>
              <a:ext uri="{FF2B5EF4-FFF2-40B4-BE49-F238E27FC236}">
                <a16:creationId xmlns:a16="http://schemas.microsoft.com/office/drawing/2014/main" id="{C526A4DF-A5A5-4296-8A9D-29CF6EACC4FF}"/>
              </a:ext>
            </a:extLst>
          </p:cNvPr>
          <p:cNvSpPr txBox="1"/>
          <p:nvPr/>
        </p:nvSpPr>
        <p:spPr>
          <a:xfrm>
            <a:off x="1729362" y="1215149"/>
            <a:ext cx="1046716" cy="630766"/>
          </a:xfrm>
          <a:prstGeom prst="rect">
            <a:avLst/>
          </a:prstGeom>
          <a:solidFill>
            <a:srgbClr val="D5F1C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fopen</a:t>
            </a:r>
            <a:endParaRPr lang="en-US" sz="16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en-US" sz="16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fdopen</a:t>
            </a:r>
            <a:endParaRPr sz="16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" name="Shape 79">
            <a:extLst>
              <a:ext uri="{FF2B5EF4-FFF2-40B4-BE49-F238E27FC236}">
                <a16:creationId xmlns:a16="http://schemas.microsoft.com/office/drawing/2014/main" id="{D526C274-C07D-42A1-9EBF-A4AA04BA6F5F}"/>
              </a:ext>
            </a:extLst>
          </p:cNvPr>
          <p:cNvSpPr txBox="1"/>
          <p:nvPr/>
        </p:nvSpPr>
        <p:spPr>
          <a:xfrm>
            <a:off x="5186406" y="5501194"/>
            <a:ext cx="908647" cy="338871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stat</a:t>
            </a:r>
            <a:endParaRPr dirty="0"/>
          </a:p>
        </p:txBody>
      </p:sp>
      <p:sp>
        <p:nvSpPr>
          <p:cNvPr id="8" name="Shape 79">
            <a:extLst>
              <a:ext uri="{FF2B5EF4-FFF2-40B4-BE49-F238E27FC236}">
                <a16:creationId xmlns:a16="http://schemas.microsoft.com/office/drawing/2014/main" id="{17A6164C-88CA-46CA-84C2-E7E8562E2585}"/>
              </a:ext>
            </a:extLst>
          </p:cNvPr>
          <p:cNvSpPr txBox="1"/>
          <p:nvPr/>
        </p:nvSpPr>
        <p:spPr>
          <a:xfrm>
            <a:off x="5186406" y="4771930"/>
            <a:ext cx="908647" cy="31961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close</a:t>
            </a:r>
            <a:endParaRPr dirty="0"/>
          </a:p>
        </p:txBody>
      </p:sp>
      <p:sp>
        <p:nvSpPr>
          <p:cNvPr id="9" name="Shape 79">
            <a:extLst>
              <a:ext uri="{FF2B5EF4-FFF2-40B4-BE49-F238E27FC236}">
                <a16:creationId xmlns:a16="http://schemas.microsoft.com/office/drawing/2014/main" id="{BA8C552B-F83F-4F50-84CC-59570C2E8025}"/>
              </a:ext>
            </a:extLst>
          </p:cNvPr>
          <p:cNvSpPr txBox="1"/>
          <p:nvPr/>
        </p:nvSpPr>
        <p:spPr>
          <a:xfrm>
            <a:off x="5186407" y="3426332"/>
            <a:ext cx="908647" cy="338871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write</a:t>
            </a:r>
            <a:endParaRPr dirty="0"/>
          </a:p>
        </p:txBody>
      </p:sp>
      <p:sp>
        <p:nvSpPr>
          <p:cNvPr id="10" name="Shape 79">
            <a:extLst>
              <a:ext uri="{FF2B5EF4-FFF2-40B4-BE49-F238E27FC236}">
                <a16:creationId xmlns:a16="http://schemas.microsoft.com/office/drawing/2014/main" id="{B329CF7E-8B04-4F5B-A274-795801E886D3}"/>
              </a:ext>
            </a:extLst>
          </p:cNvPr>
          <p:cNvSpPr txBox="1"/>
          <p:nvPr/>
        </p:nvSpPr>
        <p:spPr>
          <a:xfrm>
            <a:off x="5186408" y="2222865"/>
            <a:ext cx="908647" cy="338871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read</a:t>
            </a:r>
            <a:endParaRPr dirty="0"/>
          </a:p>
        </p:txBody>
      </p:sp>
      <p:sp>
        <p:nvSpPr>
          <p:cNvPr id="11" name="Shape 79">
            <a:extLst>
              <a:ext uri="{FF2B5EF4-FFF2-40B4-BE49-F238E27FC236}">
                <a16:creationId xmlns:a16="http://schemas.microsoft.com/office/drawing/2014/main" id="{A4155A1F-6199-4C9A-8596-3E34BF1218B5}"/>
              </a:ext>
            </a:extLst>
          </p:cNvPr>
          <p:cNvSpPr txBox="1"/>
          <p:nvPr/>
        </p:nvSpPr>
        <p:spPr>
          <a:xfrm>
            <a:off x="5186408" y="1370724"/>
            <a:ext cx="909593" cy="31961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endParaRPr dirty="0"/>
          </a:p>
        </p:txBody>
      </p:sp>
      <p:sp>
        <p:nvSpPr>
          <p:cNvPr id="12" name="Shape 78">
            <a:extLst>
              <a:ext uri="{FF2B5EF4-FFF2-40B4-BE49-F238E27FC236}">
                <a16:creationId xmlns:a16="http://schemas.microsoft.com/office/drawing/2014/main" id="{22E418A4-6125-4F92-9C3C-04C51A0B73D4}"/>
              </a:ext>
            </a:extLst>
          </p:cNvPr>
          <p:cNvSpPr txBox="1"/>
          <p:nvPr/>
        </p:nvSpPr>
        <p:spPr>
          <a:xfrm>
            <a:off x="1729362" y="2940518"/>
            <a:ext cx="1046716" cy="1310501"/>
          </a:xfrm>
          <a:prstGeom prst="rect">
            <a:avLst/>
          </a:prstGeom>
          <a:solidFill>
            <a:srgbClr val="D5F1C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fwrite</a:t>
            </a:r>
            <a:endParaRPr lang="en-US" sz="16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en-US" sz="16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fprintf</a:t>
            </a:r>
            <a:br>
              <a:rPr lang="en-US" sz="16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fputs</a:t>
            </a:r>
            <a:endParaRPr lang="en-US" sz="16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en-US" sz="16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fputc</a:t>
            </a:r>
            <a:endParaRPr lang="en-US" sz="16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en-US" sz="16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fflush</a:t>
            </a:r>
            <a:endParaRPr lang="en-US" sz="16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" name="Shape 78">
            <a:extLst>
              <a:ext uri="{FF2B5EF4-FFF2-40B4-BE49-F238E27FC236}">
                <a16:creationId xmlns:a16="http://schemas.microsoft.com/office/drawing/2014/main" id="{A974BC9B-063F-4A41-8B3E-4D85C91DFCE7}"/>
              </a:ext>
            </a:extLst>
          </p:cNvPr>
          <p:cNvSpPr txBox="1"/>
          <p:nvPr/>
        </p:nvSpPr>
        <p:spPr>
          <a:xfrm>
            <a:off x="1729362" y="4782910"/>
            <a:ext cx="1046716" cy="297659"/>
          </a:xfrm>
          <a:prstGeom prst="rect">
            <a:avLst/>
          </a:prstGeom>
          <a:solidFill>
            <a:srgbClr val="D5F1C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fclose</a:t>
            </a:r>
            <a:endParaRPr sz="16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" name="Shape 78">
            <a:extLst>
              <a:ext uri="{FF2B5EF4-FFF2-40B4-BE49-F238E27FC236}">
                <a16:creationId xmlns:a16="http://schemas.microsoft.com/office/drawing/2014/main" id="{82F9E52A-8A07-47EE-A250-8E3E12A37E38}"/>
              </a:ext>
            </a:extLst>
          </p:cNvPr>
          <p:cNvSpPr txBox="1"/>
          <p:nvPr/>
        </p:nvSpPr>
        <p:spPr>
          <a:xfrm>
            <a:off x="1729362" y="4251018"/>
            <a:ext cx="1046716" cy="542150"/>
          </a:xfrm>
          <a:prstGeom prst="rect">
            <a:avLst/>
          </a:prstGeom>
          <a:solidFill>
            <a:srgbClr val="D5F1C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fseek</a:t>
            </a:r>
            <a:endParaRPr lang="en-US" sz="16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en-US" sz="16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ftell</a:t>
            </a:r>
            <a:endParaRPr sz="16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" name="Shape 79">
            <a:extLst>
              <a:ext uri="{FF2B5EF4-FFF2-40B4-BE49-F238E27FC236}">
                <a16:creationId xmlns:a16="http://schemas.microsoft.com/office/drawing/2014/main" id="{81CB0AF9-A7CD-4730-8315-7B39EAB8C28F}"/>
              </a:ext>
            </a:extLst>
          </p:cNvPr>
          <p:cNvSpPr txBox="1"/>
          <p:nvPr/>
        </p:nvSpPr>
        <p:spPr>
          <a:xfrm>
            <a:off x="5186407" y="4362285"/>
            <a:ext cx="909593" cy="31961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lseek</a:t>
            </a:r>
            <a:endParaRPr dirty="0"/>
          </a:p>
        </p:txBody>
      </p:sp>
      <p:sp>
        <p:nvSpPr>
          <p:cNvPr id="16" name="Shape 78">
            <a:extLst>
              <a:ext uri="{FF2B5EF4-FFF2-40B4-BE49-F238E27FC236}">
                <a16:creationId xmlns:a16="http://schemas.microsoft.com/office/drawing/2014/main" id="{DE3AE066-5FC0-42FB-91BE-EB6434D9D770}"/>
              </a:ext>
            </a:extLst>
          </p:cNvPr>
          <p:cNvSpPr txBox="1"/>
          <p:nvPr/>
        </p:nvSpPr>
        <p:spPr>
          <a:xfrm>
            <a:off x="1729362" y="1844083"/>
            <a:ext cx="1046716" cy="1096434"/>
          </a:xfrm>
          <a:prstGeom prst="rect">
            <a:avLst/>
          </a:prstGeom>
          <a:solidFill>
            <a:srgbClr val="D5F1C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fread</a:t>
            </a:r>
            <a:endParaRPr lang="en-US" sz="16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en-US" sz="16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fscanf</a:t>
            </a:r>
            <a:endParaRPr lang="en-US" sz="16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en-US" sz="16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fgets</a:t>
            </a:r>
            <a:endParaRPr lang="en-US" sz="16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en-US" sz="16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fgetc</a:t>
            </a:r>
            <a:endParaRPr lang="en-US" sz="16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842CB01-06FE-410F-A507-7C6F0E9AAFA5}"/>
              </a:ext>
            </a:extLst>
          </p:cNvPr>
          <p:cNvCxnSpPr>
            <a:stCxn id="4" idx="3"/>
            <a:endCxn id="11" idx="1"/>
          </p:cNvCxnSpPr>
          <p:nvPr/>
        </p:nvCxnSpPr>
        <p:spPr>
          <a:xfrm>
            <a:off x="2776079" y="1530532"/>
            <a:ext cx="241032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1E417FB-47E6-4D44-B04A-B04B0FE01AE3}"/>
              </a:ext>
            </a:extLst>
          </p:cNvPr>
          <p:cNvCxnSpPr>
            <a:stCxn id="16" idx="3"/>
            <a:endCxn id="10" idx="1"/>
          </p:cNvCxnSpPr>
          <p:nvPr/>
        </p:nvCxnSpPr>
        <p:spPr>
          <a:xfrm>
            <a:off x="2776079" y="2392300"/>
            <a:ext cx="241032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7A7BB8C-BE44-4A5A-8BAC-18B06453AD87}"/>
              </a:ext>
            </a:extLst>
          </p:cNvPr>
          <p:cNvCxnSpPr>
            <a:stCxn id="12" idx="3"/>
            <a:endCxn id="9" idx="1"/>
          </p:cNvCxnSpPr>
          <p:nvPr/>
        </p:nvCxnSpPr>
        <p:spPr>
          <a:xfrm flipV="1">
            <a:off x="2776078" y="3595768"/>
            <a:ext cx="2410328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006037F-C268-47A2-AFDA-45CD4C114BC1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>
            <a:off x="2776078" y="4522093"/>
            <a:ext cx="241032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9A63689-569B-4AE6-A2A2-2AEEFD8704FB}"/>
              </a:ext>
            </a:extLst>
          </p:cNvPr>
          <p:cNvCxnSpPr>
            <a:stCxn id="13" idx="3"/>
            <a:endCxn id="8" idx="1"/>
          </p:cNvCxnSpPr>
          <p:nvPr/>
        </p:nvCxnSpPr>
        <p:spPr>
          <a:xfrm flipV="1">
            <a:off x="2776079" y="4931739"/>
            <a:ext cx="2410327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Shape 81">
            <a:extLst>
              <a:ext uri="{FF2B5EF4-FFF2-40B4-BE49-F238E27FC236}">
                <a16:creationId xmlns:a16="http://schemas.microsoft.com/office/drawing/2014/main" id="{2E714666-4206-4B6D-AE90-0710D2461B2D}"/>
              </a:ext>
            </a:extLst>
          </p:cNvPr>
          <p:cNvSpPr txBox="1"/>
          <p:nvPr/>
        </p:nvSpPr>
        <p:spPr>
          <a:xfrm>
            <a:off x="7480765" y="1983640"/>
            <a:ext cx="1841500" cy="817318"/>
          </a:xfrm>
          <a:prstGeom prst="rect">
            <a:avLst/>
          </a:prstGeom>
          <a:solidFill>
            <a:srgbClr val="F1C7C7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rio_readn</a:t>
            </a:r>
            <a:endParaRPr sz="16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en-US" sz="16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rio_readlineb</a:t>
            </a:r>
            <a:endParaRPr sz="16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en-US" sz="16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rio_readnb</a:t>
            </a:r>
            <a:endParaRPr sz="16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" name="Shape 81">
            <a:extLst>
              <a:ext uri="{FF2B5EF4-FFF2-40B4-BE49-F238E27FC236}">
                <a16:creationId xmlns:a16="http://schemas.microsoft.com/office/drawing/2014/main" id="{784E9020-E7C6-4203-AB10-5D3DAD9D1FD4}"/>
              </a:ext>
            </a:extLst>
          </p:cNvPr>
          <p:cNvSpPr txBox="1"/>
          <p:nvPr/>
        </p:nvSpPr>
        <p:spPr>
          <a:xfrm>
            <a:off x="7480765" y="3426331"/>
            <a:ext cx="1841500" cy="338871"/>
          </a:xfrm>
          <a:prstGeom prst="rect">
            <a:avLst/>
          </a:prstGeom>
          <a:solidFill>
            <a:srgbClr val="F1C7C7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rio_writen</a:t>
            </a:r>
            <a:endParaRPr sz="16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" name="Shape 81">
            <a:extLst>
              <a:ext uri="{FF2B5EF4-FFF2-40B4-BE49-F238E27FC236}">
                <a16:creationId xmlns:a16="http://schemas.microsoft.com/office/drawing/2014/main" id="{59D3A2D0-7886-4E8A-A803-2B0505CDD993}"/>
              </a:ext>
            </a:extLst>
          </p:cNvPr>
          <p:cNvSpPr txBox="1"/>
          <p:nvPr/>
        </p:nvSpPr>
        <p:spPr>
          <a:xfrm>
            <a:off x="7480765" y="1361097"/>
            <a:ext cx="1841500" cy="338871"/>
          </a:xfrm>
          <a:prstGeom prst="rect">
            <a:avLst/>
          </a:prstGeom>
          <a:solidFill>
            <a:srgbClr val="F1C7C7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rio_readinitb</a:t>
            </a:r>
            <a:endParaRPr sz="16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E3994C2-6D7F-48E2-9B92-647828CD8AB3}"/>
              </a:ext>
            </a:extLst>
          </p:cNvPr>
          <p:cNvCxnSpPr>
            <a:stCxn id="33" idx="1"/>
            <a:endCxn id="11" idx="3"/>
          </p:cNvCxnSpPr>
          <p:nvPr/>
        </p:nvCxnSpPr>
        <p:spPr>
          <a:xfrm flipH="1">
            <a:off x="6096001" y="1530532"/>
            <a:ext cx="138476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17C4AE9-0AAD-4340-9B66-26B232BEB3B0}"/>
              </a:ext>
            </a:extLst>
          </p:cNvPr>
          <p:cNvCxnSpPr>
            <a:stCxn id="31" idx="1"/>
            <a:endCxn id="10" idx="3"/>
          </p:cNvCxnSpPr>
          <p:nvPr/>
        </p:nvCxnSpPr>
        <p:spPr>
          <a:xfrm flipH="1">
            <a:off x="6095055" y="2392300"/>
            <a:ext cx="1385711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FE5B58E-29A4-4FEB-A90C-9ECC45AB3839}"/>
              </a:ext>
            </a:extLst>
          </p:cNvPr>
          <p:cNvCxnSpPr>
            <a:stCxn id="32" idx="1"/>
            <a:endCxn id="9" idx="3"/>
          </p:cNvCxnSpPr>
          <p:nvPr/>
        </p:nvCxnSpPr>
        <p:spPr>
          <a:xfrm flipH="1">
            <a:off x="6095053" y="3595767"/>
            <a:ext cx="1385712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9A6AE9C-B3D2-419D-8924-768DECCB2955}"/>
              </a:ext>
            </a:extLst>
          </p:cNvPr>
          <p:cNvSpPr txBox="1"/>
          <p:nvPr/>
        </p:nvSpPr>
        <p:spPr>
          <a:xfrm>
            <a:off x="6409268" y="5103674"/>
            <a:ext cx="324273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Maximum control</a:t>
            </a:r>
            <a:br>
              <a:rPr lang="en-US" dirty="0"/>
            </a:br>
            <a:r>
              <a:rPr lang="en-US" dirty="0"/>
              <a:t>Minimum convenience</a:t>
            </a:r>
          </a:p>
          <a:p>
            <a:r>
              <a:rPr lang="en-US" dirty="0"/>
              <a:t>Can be used from signal handlers</a:t>
            </a:r>
          </a:p>
          <a:p>
            <a:r>
              <a:rPr lang="en-US" dirty="0"/>
              <a:t>Can be used for network connections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E26F308-0138-46C3-9A11-7696E29DE17E}"/>
              </a:ext>
            </a:extLst>
          </p:cNvPr>
          <p:cNvSpPr txBox="1"/>
          <p:nvPr/>
        </p:nvSpPr>
        <p:spPr>
          <a:xfrm>
            <a:off x="1502360" y="5103673"/>
            <a:ext cx="32427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Less control</a:t>
            </a:r>
            <a:br>
              <a:rPr lang="en-US" dirty="0"/>
            </a:br>
            <a:r>
              <a:rPr lang="en-US" dirty="0"/>
              <a:t>More convenience</a:t>
            </a:r>
          </a:p>
          <a:p>
            <a:r>
              <a:rPr lang="en-US" dirty="0"/>
              <a:t>Not safe in signal handlers</a:t>
            </a:r>
          </a:p>
          <a:p>
            <a:r>
              <a:rPr lang="en-US" dirty="0"/>
              <a:t>Not safe with network connections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C0FD17F-BC67-4750-A6F8-E9637C6EF108}"/>
              </a:ext>
            </a:extLst>
          </p:cNvPr>
          <p:cNvSpPr txBox="1"/>
          <p:nvPr/>
        </p:nvSpPr>
        <p:spPr>
          <a:xfrm>
            <a:off x="6915106" y="3989408"/>
            <a:ext cx="32427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can write your own set of high-level convenient functions if you want!</a:t>
            </a:r>
          </a:p>
        </p:txBody>
      </p:sp>
    </p:spTree>
    <p:extLst>
      <p:ext uri="{BB962C8B-B14F-4D97-AF65-F5344CB8AC3E}">
        <p14:creationId xmlns:p14="http://schemas.microsoft.com/office/powerpoint/2010/main" val="2558672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4" grpId="0" animBg="1"/>
      <p:bldP spid="12" grpId="0" animBg="1"/>
      <p:bldP spid="13" grpId="0" animBg="1"/>
      <p:bldP spid="14" grpId="0" animBg="1"/>
      <p:bldP spid="16" grpId="0" animBg="1"/>
      <p:bldP spid="31" grpId="0" animBg="1"/>
      <p:bldP spid="32" grpId="0" animBg="1"/>
      <p:bldP spid="33" grpId="0" animBg="1"/>
      <p:bldP spid="27" grpId="0"/>
      <p:bldP spid="3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A8A41-2F3A-3011-A0C8-00368755F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731F4-4BC6-D5D0-C9B5-B840BEFE7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Today: </a:t>
            </a:r>
            <a:r>
              <a:rPr lang="en-US" dirty="0"/>
              <a:t>How does systems I/O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3DC3A-1A7F-7832-9400-A65A81153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Unix I/O</a:t>
            </a:r>
          </a:p>
          <a:p>
            <a:r>
              <a:rPr lang="en-US" sz="4000" dirty="0"/>
              <a:t>Standard I/O</a:t>
            </a:r>
          </a:p>
          <a:p>
            <a:r>
              <a:rPr lang="en-US" sz="4000" dirty="0"/>
              <a:t>Which I/O when</a:t>
            </a:r>
          </a:p>
          <a:p>
            <a:r>
              <a:rPr lang="en-US" sz="4000" dirty="0"/>
              <a:t>Metadata, sharing, and redirection</a:t>
            </a:r>
          </a:p>
          <a:p>
            <a:endParaRPr lang="en-US" sz="4000" b="1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884BF2-ACD9-48C4-A5B9-674C69B36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8FB5B-1F60-994B-8E33-8E782B4CF04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276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96"/>
          <p:cNvSpPr txBox="1">
            <a:spLocks noGrp="1"/>
          </p:cNvSpPr>
          <p:nvPr>
            <p:ph type="title"/>
          </p:nvPr>
        </p:nvSpPr>
        <p:spPr>
          <a:xfrm>
            <a:off x="1981200" y="569914"/>
            <a:ext cx="4953000" cy="5730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Unix I/O Overview</a:t>
            </a:r>
            <a:endParaRPr sz="3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Shape 97"/>
          <p:cNvSpPr txBox="1">
            <a:spLocks noGrp="1"/>
          </p:cNvSpPr>
          <p:nvPr>
            <p:ph type="body" idx="1"/>
          </p:nvPr>
        </p:nvSpPr>
        <p:spPr>
          <a:xfrm>
            <a:off x="1920876" y="1362075"/>
            <a:ext cx="8670925" cy="49720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 sz="2400" b="1" i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file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sequence of bytes: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000" i="1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</a:t>
            </a:r>
            <a:r>
              <a:rPr lang="en-US" sz="20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B</a:t>
            </a:r>
            <a:r>
              <a:rPr lang="en-US" sz="2000" i="1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US" sz="20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.... , B</a:t>
            </a:r>
            <a:r>
              <a:rPr lang="en-US" sz="2000" i="1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20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 .... , B</a:t>
            </a:r>
            <a:r>
              <a:rPr lang="en-US" sz="2000" i="1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m-1</a:t>
            </a:r>
            <a:endParaRPr dirty="0"/>
          </a:p>
          <a:p>
            <a:pPr marL="0" indent="0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Cool fact: All I/O devices are represented as files: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/dev/sda2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(disk partition)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/dev/tty2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(terminal)</a:t>
            </a:r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/dev/null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(discard all writes / read empty file)</a:t>
            </a:r>
            <a:endParaRPr dirty="0"/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Cool fact: Kernel data structures are exposed as files</a:t>
            </a:r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cat /proc/$$/status</a:t>
            </a:r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b="1" dirty="0">
                <a:latin typeface="Courier New"/>
                <a:cs typeface="Courier New"/>
                <a:sym typeface="Courier New"/>
              </a:rPr>
              <a:t>ls -l /proc/$$/</a:t>
            </a:r>
            <a:r>
              <a:rPr lang="en-US" b="1" dirty="0" err="1">
                <a:latin typeface="Courier New"/>
                <a:cs typeface="Courier New"/>
                <a:sym typeface="Courier New"/>
              </a:rPr>
              <a:t>fd</a:t>
            </a:r>
            <a:r>
              <a:rPr lang="en-US" b="1" dirty="0">
                <a:latin typeface="Courier New"/>
                <a:cs typeface="Courier New"/>
                <a:sym typeface="Courier New"/>
              </a:rPr>
              <a:t>/</a:t>
            </a:r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b="1" dirty="0">
                <a:latin typeface="Courier New"/>
                <a:cs typeface="Courier New"/>
                <a:sym typeface="Courier New"/>
              </a:rPr>
              <a:t>ls –RC /sys/devices | less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 txBox="1">
            <a:spLocks noGrp="1"/>
          </p:cNvSpPr>
          <p:nvPr>
            <p:ph type="title"/>
          </p:nvPr>
        </p:nvSpPr>
        <p:spPr>
          <a:xfrm>
            <a:off x="2027238" y="438150"/>
            <a:ext cx="8716963" cy="7810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Unix I/O Overview</a:t>
            </a:r>
            <a:endParaRPr sz="3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Shape 103"/>
          <p:cNvSpPr txBox="1">
            <a:spLocks noGrp="1"/>
          </p:cNvSpPr>
          <p:nvPr>
            <p:ph type="body" idx="1"/>
          </p:nvPr>
        </p:nvSpPr>
        <p:spPr>
          <a:xfrm>
            <a:off x="1905001" y="1327150"/>
            <a:ext cx="8307387" cy="49974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Kernel offers a set of basic operations for all files</a:t>
            </a:r>
            <a:endParaRPr sz="2400" b="1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Opening and closing files</a:t>
            </a:r>
            <a:endParaRPr dirty="0"/>
          </a:p>
          <a:p>
            <a:pPr lvl="2">
              <a:spcBef>
                <a:spcPts val="400"/>
              </a:spcBef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open()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US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close()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Reading and writing a file</a:t>
            </a:r>
            <a:endParaRPr dirty="0"/>
          </a:p>
          <a:p>
            <a:pPr lvl="2">
              <a:spcBef>
                <a:spcPts val="400"/>
              </a:spcBef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read()</a:t>
            </a:r>
            <a:r>
              <a:rPr lang="en-US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 </a:t>
            </a:r>
            <a:r>
              <a:rPr lang="en-US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write()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Look up information about a file (size, type, last modification time, …)</a:t>
            </a:r>
          </a:p>
          <a:p>
            <a:pPr marL="1200150" lvl="2" indent="-285750">
              <a:buClr>
                <a:srgbClr val="990000"/>
              </a:buClr>
              <a:buSzPts val="2200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stat()</a:t>
            </a:r>
            <a:r>
              <a:rPr lang="en-US" dirty="0"/>
              <a:t>,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lstat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,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fstat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b="1" i="0" u="none" strike="noStrike" cap="none" dirty="0">
              <a:solidFill>
                <a:schemeClr val="dk1"/>
              </a:solidFill>
              <a:latin typeface="Courier New" panose="02070309020205020404" pitchFamily="49" charset="0"/>
              <a:cs typeface="Courier New" panose="02070309020205020404" pitchFamily="49" charset="0"/>
              <a:sym typeface="Calibri"/>
            </a:endParaRPr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Changing the </a:t>
            </a:r>
            <a:r>
              <a:rPr lang="en-US" sz="2000" b="1" i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current file position</a:t>
            </a:r>
            <a:r>
              <a:rPr lang="en-US" sz="20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(seek)</a:t>
            </a:r>
            <a:endParaRPr dirty="0"/>
          </a:p>
          <a:p>
            <a:pPr lvl="2">
              <a:spcBef>
                <a:spcPts val="400"/>
              </a:spcBef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indicates next offset into file to read or write</a:t>
            </a:r>
            <a:endParaRPr dirty="0"/>
          </a:p>
          <a:p>
            <a:pPr lvl="2">
              <a:spcBef>
                <a:spcPts val="400"/>
              </a:spcBef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lseek</a:t>
            </a:r>
            <a:r>
              <a:rPr lang="en-US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04" name="Shape 104"/>
          <p:cNvGrpSpPr/>
          <p:nvPr/>
        </p:nvGrpSpPr>
        <p:grpSpPr>
          <a:xfrm>
            <a:off x="3123286" y="5064794"/>
            <a:ext cx="6285033" cy="1457076"/>
            <a:chOff x="3048000" y="5562600"/>
            <a:chExt cx="6285033" cy="1457076"/>
          </a:xfrm>
        </p:grpSpPr>
        <p:sp>
          <p:nvSpPr>
            <p:cNvPr id="105" name="Shape 105"/>
            <p:cNvSpPr/>
            <p:nvPr/>
          </p:nvSpPr>
          <p:spPr>
            <a:xfrm>
              <a:off x="3048000" y="5562600"/>
              <a:ext cx="433388" cy="441325"/>
            </a:xfrm>
            <a:prstGeom prst="rect">
              <a:avLst/>
            </a:prstGeom>
            <a:solidFill>
              <a:srgbClr val="D5F1CF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US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r>
                <a:rPr lang="en-US" b="1" baseline="-25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/>
            </a:p>
          </p:txBody>
        </p:sp>
        <p:sp>
          <p:nvSpPr>
            <p:cNvPr id="106" name="Shape 106"/>
            <p:cNvSpPr/>
            <p:nvPr/>
          </p:nvSpPr>
          <p:spPr>
            <a:xfrm>
              <a:off x="3481388" y="5562600"/>
              <a:ext cx="433388" cy="441325"/>
            </a:xfrm>
            <a:prstGeom prst="rect">
              <a:avLst/>
            </a:prstGeom>
            <a:solidFill>
              <a:srgbClr val="D5F1CF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US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r>
                <a:rPr lang="en-US" b="1" baseline="-25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07" name="Shape 107"/>
            <p:cNvSpPr/>
            <p:nvPr/>
          </p:nvSpPr>
          <p:spPr>
            <a:xfrm>
              <a:off x="3914775" y="5562600"/>
              <a:ext cx="1319213" cy="441325"/>
            </a:xfrm>
            <a:prstGeom prst="rect">
              <a:avLst/>
            </a:prstGeom>
            <a:solidFill>
              <a:srgbClr val="D5F1CF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US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• • •</a:t>
              </a:r>
              <a:endParaRPr/>
            </a:p>
          </p:txBody>
        </p:sp>
        <p:sp>
          <p:nvSpPr>
            <p:cNvPr id="108" name="Shape 108"/>
            <p:cNvSpPr/>
            <p:nvPr/>
          </p:nvSpPr>
          <p:spPr>
            <a:xfrm>
              <a:off x="5233987" y="5562600"/>
              <a:ext cx="559787" cy="441325"/>
            </a:xfrm>
            <a:prstGeom prst="rect">
              <a:avLst/>
            </a:prstGeom>
            <a:solidFill>
              <a:srgbClr val="D5F1CF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1">
              <a:noAutofit/>
            </a:bodyPr>
            <a:lstStyle/>
            <a:p>
              <a:r>
                <a:rPr lang="en-US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r>
                <a:rPr lang="en-US" b="1" baseline="-25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k-1</a:t>
              </a:r>
              <a:endParaRPr dirty="0"/>
            </a:p>
          </p:txBody>
        </p:sp>
        <p:sp>
          <p:nvSpPr>
            <p:cNvPr id="109" name="Shape 109"/>
            <p:cNvSpPr/>
            <p:nvPr/>
          </p:nvSpPr>
          <p:spPr>
            <a:xfrm>
              <a:off x="5793773" y="5562600"/>
              <a:ext cx="559787" cy="441325"/>
            </a:xfrm>
            <a:prstGeom prst="rect">
              <a:avLst/>
            </a:prstGeom>
            <a:solidFill>
              <a:srgbClr val="E5E5E5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1">
              <a:noAutofit/>
            </a:bodyPr>
            <a:lstStyle/>
            <a:p>
              <a:r>
                <a:rPr lang="en-US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r>
                <a:rPr lang="en-US" b="1" baseline="-25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 b="1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Shape 110"/>
            <p:cNvSpPr/>
            <p:nvPr/>
          </p:nvSpPr>
          <p:spPr>
            <a:xfrm>
              <a:off x="6353808" y="5562600"/>
              <a:ext cx="559788" cy="441325"/>
            </a:xfrm>
            <a:prstGeom prst="rect">
              <a:avLst/>
            </a:prstGeom>
            <a:solidFill>
              <a:srgbClr val="E5E5E5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1">
              <a:noAutofit/>
            </a:bodyPr>
            <a:lstStyle/>
            <a:p>
              <a:r>
                <a:rPr lang="en-US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r>
                <a:rPr lang="en-US" b="1" baseline="-25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k+1</a:t>
              </a:r>
              <a:endParaRPr dirty="0"/>
            </a:p>
          </p:txBody>
        </p:sp>
        <p:sp>
          <p:nvSpPr>
            <p:cNvPr id="111" name="Shape 111"/>
            <p:cNvSpPr/>
            <p:nvPr/>
          </p:nvSpPr>
          <p:spPr>
            <a:xfrm>
              <a:off x="6913596" y="5562600"/>
              <a:ext cx="1319213" cy="441325"/>
            </a:xfrm>
            <a:prstGeom prst="rect">
              <a:avLst/>
            </a:prstGeom>
            <a:solidFill>
              <a:srgbClr val="E5E5E5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US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• • •</a:t>
              </a:r>
              <a:endParaRPr/>
            </a:p>
          </p:txBody>
        </p:sp>
        <p:cxnSp>
          <p:nvCxnSpPr>
            <p:cNvPr id="112" name="Shape 112"/>
            <p:cNvCxnSpPr/>
            <p:nvPr/>
          </p:nvCxnSpPr>
          <p:spPr>
            <a:xfrm rot="10800000">
              <a:off x="5793774" y="6046866"/>
              <a:ext cx="0" cy="381000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13" name="Shape 113"/>
            <p:cNvSpPr txBox="1"/>
            <p:nvPr/>
          </p:nvSpPr>
          <p:spPr>
            <a:xfrm>
              <a:off x="5513880" y="6134678"/>
              <a:ext cx="3819153" cy="884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Current file position = k</a:t>
              </a:r>
            </a:p>
            <a:p>
              <a:pPr algn="ctr"/>
              <a:r>
                <a:rPr lang="en-US" sz="2400" b="1" dirty="0">
                  <a:solidFill>
                    <a:schemeClr val="dk1"/>
                  </a:solidFill>
                  <a:latin typeface="Calibri"/>
                  <a:cs typeface="Calibri"/>
                  <a:sym typeface="Calibri"/>
                </a:rPr>
                <a:t>(</a:t>
              </a:r>
              <a:r>
                <a:rPr lang="en-US" sz="2400" b="1" i="1" dirty="0">
                  <a:solidFill>
                    <a:schemeClr val="dk1"/>
                  </a:solidFill>
                  <a:latin typeface="Calibri"/>
                  <a:cs typeface="Calibri"/>
                  <a:sym typeface="Calibri"/>
                </a:rPr>
                <a:t>in between</a:t>
              </a:r>
              <a:r>
                <a:rPr lang="en-US" sz="2400" b="1" dirty="0">
                  <a:solidFill>
                    <a:schemeClr val="dk1"/>
                  </a:solidFill>
                  <a:latin typeface="Calibri"/>
                  <a:cs typeface="Calibri"/>
                  <a:sym typeface="Calibri"/>
                </a:rPr>
                <a:t> bytes k-1 and k)</a:t>
              </a:r>
              <a:endParaRPr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 txBox="1">
            <a:spLocks noGrp="1"/>
          </p:cNvSpPr>
          <p:nvPr>
            <p:ph type="title"/>
          </p:nvPr>
        </p:nvSpPr>
        <p:spPr>
          <a:xfrm>
            <a:off x="1881019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Types	</a:t>
            </a:r>
            <a:endParaRPr sz="3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Shape 119"/>
          <p:cNvSpPr txBox="1">
            <a:spLocks noGrp="1"/>
          </p:cNvSpPr>
          <p:nvPr>
            <p:ph type="body" idx="1"/>
          </p:nvPr>
        </p:nvSpPr>
        <p:spPr>
          <a:xfrm>
            <a:off x="1920876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file has a </a:t>
            </a:r>
            <a:r>
              <a:rPr lang="en-US" sz="24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indicating its role in the system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Regular file: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Stores arbitrary data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Directory: 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Index for a related group of files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Socket: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communicating with a process on another machine</a:t>
            </a:r>
            <a:endParaRPr dirty="0"/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Other file types beyond our scope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Named pipes (FIFOs)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Symbolic links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 and block devices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 txBox="1">
            <a:spLocks noGrp="1"/>
          </p:cNvSpPr>
          <p:nvPr>
            <p:ph type="title"/>
          </p:nvPr>
        </p:nvSpPr>
        <p:spPr>
          <a:xfrm>
            <a:off x="1881019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Regular Files</a:t>
            </a:r>
            <a:endParaRPr sz="3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Shape 125"/>
          <p:cNvSpPr txBox="1">
            <a:spLocks noGrp="1"/>
          </p:cNvSpPr>
          <p:nvPr>
            <p:ph type="body" idx="1"/>
          </p:nvPr>
        </p:nvSpPr>
        <p:spPr>
          <a:xfrm>
            <a:off x="1920876" y="1362075"/>
            <a:ext cx="7896225" cy="52673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332"/>
              <a:buFont typeface="Noto Sans Symbols"/>
              <a:buChar char="⬛"/>
            </a:pPr>
            <a:r>
              <a:rPr lang="en-US" sz="222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regular file contains arbitrary data</a:t>
            </a:r>
            <a:endParaRPr sz="222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spcBef>
                <a:spcPts val="444"/>
              </a:spcBef>
              <a:buClr>
                <a:srgbClr val="990000"/>
              </a:buClr>
              <a:buSzPts val="1332"/>
              <a:buFont typeface="Noto Sans Symbols"/>
              <a:buChar char="⬛"/>
            </a:pPr>
            <a:r>
              <a:rPr lang="en-US" sz="222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Applications often distinguish between </a:t>
            </a:r>
            <a:r>
              <a:rPr lang="en-US" sz="222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 </a:t>
            </a:r>
            <a:r>
              <a:rPr lang="en-US" sz="222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US" sz="222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binary files</a:t>
            </a:r>
            <a:endParaRPr dirty="0"/>
          </a:p>
          <a:p>
            <a:pPr marL="742950" lvl="1" indent="-285750">
              <a:spcBef>
                <a:spcPts val="370"/>
              </a:spcBef>
              <a:buClr>
                <a:srgbClr val="990000"/>
              </a:buClr>
              <a:buSzPts val="2035"/>
              <a:buFont typeface="Noto Sans Symbols"/>
              <a:buChar char="▪"/>
            </a:pPr>
            <a:r>
              <a:rPr lang="en-US" sz="18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 files </a:t>
            </a:r>
            <a:r>
              <a:rPr lang="en-US" sz="1850" dirty="0"/>
              <a:t>contain human-readable text</a:t>
            </a:r>
            <a:endParaRPr dirty="0"/>
          </a:p>
          <a:p>
            <a:pPr marL="742950" lvl="1" indent="-285750">
              <a:spcBef>
                <a:spcPts val="370"/>
              </a:spcBef>
              <a:buClr>
                <a:srgbClr val="990000"/>
              </a:buClr>
              <a:buSzPts val="2035"/>
              <a:buFont typeface="Noto Sans Symbols"/>
              <a:buChar char="▪"/>
            </a:pPr>
            <a:r>
              <a:rPr lang="en-US" sz="18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Binary files are everything else (object files, JPEG images, …)</a:t>
            </a:r>
            <a:endParaRPr dirty="0"/>
          </a:p>
          <a:p>
            <a:pPr marL="742950" lvl="1" indent="-285750">
              <a:spcBef>
                <a:spcPts val="370"/>
              </a:spcBef>
              <a:buClr>
                <a:srgbClr val="990000"/>
              </a:buClr>
              <a:buSzPts val="2035"/>
              <a:buFont typeface="Noto Sans Symbols"/>
              <a:buChar char="▪"/>
            </a:pPr>
            <a:r>
              <a:rPr lang="en-US" sz="18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Kernel doesn’t care! It’s all just bytes!</a:t>
            </a:r>
            <a:endParaRPr dirty="0"/>
          </a:p>
          <a:p>
            <a:pPr marL="342900" indent="-342900">
              <a:spcBef>
                <a:spcPts val="444"/>
              </a:spcBef>
              <a:buClr>
                <a:srgbClr val="990000"/>
              </a:buClr>
              <a:buSzPts val="1332"/>
              <a:buFont typeface="Noto Sans Symbols"/>
              <a:buChar char="⬛"/>
            </a:pPr>
            <a:r>
              <a:rPr lang="en-US" sz="222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 file is sequence of </a:t>
            </a:r>
            <a:r>
              <a:rPr lang="en-US" sz="222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 lines</a:t>
            </a:r>
            <a:endParaRPr dirty="0"/>
          </a:p>
          <a:p>
            <a:pPr marL="742950" lvl="1" indent="-285750">
              <a:spcBef>
                <a:spcPts val="370"/>
              </a:spcBef>
              <a:buClr>
                <a:srgbClr val="990000"/>
              </a:buClr>
              <a:buSzPts val="2035"/>
              <a:buFont typeface="Noto Sans Symbols"/>
              <a:buChar char="▪"/>
            </a:pPr>
            <a:r>
              <a:rPr lang="en-US" sz="18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 line is sequence of characters terminated (not separated!)</a:t>
            </a:r>
            <a:br>
              <a:rPr lang="en-US" sz="18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</a:t>
            </a:r>
            <a:r>
              <a:rPr lang="en-US" sz="185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 of line indicator</a:t>
            </a:r>
            <a:endParaRPr lang="en-US" sz="18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lvl="1" indent="-285750">
              <a:spcBef>
                <a:spcPts val="370"/>
              </a:spcBef>
              <a:buClr>
                <a:srgbClr val="990000"/>
              </a:buClr>
              <a:buSzPts val="2035"/>
              <a:buFont typeface="Noto Sans Symbols"/>
              <a:buChar char="▪"/>
            </a:pPr>
            <a:r>
              <a:rPr lang="en-US" sz="1850" dirty="0"/>
              <a:t>Characters are defined by a </a:t>
            </a:r>
            <a:r>
              <a:rPr lang="en-US" sz="1850" i="1" dirty="0"/>
              <a:t>text encoding</a:t>
            </a:r>
            <a:r>
              <a:rPr lang="en-US" sz="1850" dirty="0"/>
              <a:t> (ASCII, UTF-8, EUC-JP, …)</a:t>
            </a:r>
            <a:endParaRPr lang="en-US" dirty="0"/>
          </a:p>
          <a:p>
            <a:pPr marL="342900" indent="-342900">
              <a:spcBef>
                <a:spcPts val="444"/>
              </a:spcBef>
              <a:buClr>
                <a:srgbClr val="990000"/>
              </a:buClr>
              <a:buSzPts val="1332"/>
              <a:buFont typeface="Noto Sans Symbols"/>
              <a:buChar char="⬛"/>
            </a:pPr>
            <a:r>
              <a:rPr lang="en-US" sz="222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 of line (EOL) indicators:</a:t>
            </a:r>
            <a:endParaRPr lang="en-US" dirty="0"/>
          </a:p>
          <a:p>
            <a:pPr marL="742950" lvl="1" indent="-285750">
              <a:spcBef>
                <a:spcPts val="370"/>
              </a:spcBef>
              <a:buClr>
                <a:srgbClr val="990000"/>
              </a:buClr>
              <a:buSzPts val="2035"/>
              <a:buFont typeface="Noto Sans Symbols"/>
              <a:buChar char="▪"/>
            </a:pPr>
            <a:r>
              <a:rPr lang="en-US" sz="18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“Unix”: Single byte </a:t>
            </a:r>
            <a:r>
              <a:rPr lang="en-US" sz="185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0x0A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2">
              <a:spcBef>
                <a:spcPts val="370"/>
              </a:spcBef>
              <a:buClr>
                <a:schemeClr val="dk1"/>
              </a:buClr>
              <a:buSzPts val="1480"/>
              <a:buFont typeface="Noto Sans Symbols"/>
              <a:buChar char="▪"/>
            </a:pPr>
            <a:r>
              <a:rPr lang="en-US" sz="18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 feed (LF)</a:t>
            </a:r>
            <a:endParaRPr dirty="0"/>
          </a:p>
          <a:p>
            <a:pPr marL="742950" lvl="1" indent="-285750">
              <a:spcBef>
                <a:spcPts val="370"/>
              </a:spcBef>
              <a:buClr>
                <a:srgbClr val="990000"/>
              </a:buClr>
              <a:buSzPts val="2035"/>
              <a:buFont typeface="Noto Sans Symbols"/>
              <a:buChar char="▪"/>
            </a:pPr>
            <a:r>
              <a:rPr lang="en-US" sz="18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DOS, Windows: Two bytes </a:t>
            </a:r>
            <a:r>
              <a:rPr lang="en-US" sz="185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0x0D 0x0A</a:t>
            </a:r>
            <a:r>
              <a:rPr lang="en-US" sz="18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dirty="0"/>
          </a:p>
          <a:p>
            <a:pPr lvl="2">
              <a:spcBef>
                <a:spcPts val="370"/>
              </a:spcBef>
              <a:buClr>
                <a:schemeClr val="dk1"/>
              </a:buClr>
              <a:buSzPts val="1480"/>
              <a:buFont typeface="Noto Sans Symbols"/>
              <a:buChar char="▪"/>
            </a:pPr>
            <a:r>
              <a:rPr lang="en-US" sz="18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Carriage return (CR) followed by line feed (LF)</a:t>
            </a:r>
          </a:p>
          <a:p>
            <a:pPr lvl="2">
              <a:spcBef>
                <a:spcPts val="370"/>
              </a:spcBef>
              <a:buClr>
                <a:schemeClr val="dk1"/>
              </a:buClr>
              <a:buSzPts val="1480"/>
              <a:buFont typeface="Noto Sans Symbols"/>
              <a:buChar char="▪"/>
            </a:pPr>
            <a:r>
              <a:rPr lang="en-US" sz="1850" dirty="0"/>
              <a:t>Also used by many Internet protocols</a:t>
            </a:r>
            <a:endParaRPr lang="en-US" sz="1800" dirty="0"/>
          </a:p>
          <a:p>
            <a:pPr marL="742950" lvl="1" indent="-285750">
              <a:spcBef>
                <a:spcPts val="370"/>
              </a:spcBef>
              <a:buSzPts val="2035"/>
            </a:pPr>
            <a:r>
              <a:rPr lang="en-US" sz="1800" dirty="0"/>
              <a:t>C library translates to '\n'</a:t>
            </a:r>
            <a:endParaRPr lang="en-US" sz="18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Shape 1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01000" y="4707457"/>
            <a:ext cx="2590800" cy="194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 txBox="1">
            <a:spLocks noGrp="1"/>
          </p:cNvSpPr>
          <p:nvPr>
            <p:ph type="title"/>
          </p:nvPr>
        </p:nvSpPr>
        <p:spPr>
          <a:xfrm>
            <a:off x="1881019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Directories	</a:t>
            </a:r>
            <a:endParaRPr sz="3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Shape 132"/>
          <p:cNvSpPr txBox="1">
            <a:spLocks noGrp="1"/>
          </p:cNvSpPr>
          <p:nvPr>
            <p:ph type="body" idx="1"/>
          </p:nvPr>
        </p:nvSpPr>
        <p:spPr>
          <a:xfrm>
            <a:off x="1920876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Directory consists of an array of </a:t>
            </a:r>
            <a:r>
              <a:rPr lang="en-US" sz="24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entries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(also called </a:t>
            </a:r>
            <a:r>
              <a:rPr lang="en-US" sz="24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links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entry maps a </a:t>
            </a:r>
            <a:r>
              <a:rPr lang="en-US" sz="20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filenam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to a file</a:t>
            </a:r>
            <a:endParaRPr dirty="0"/>
          </a:p>
          <a:p>
            <a:pPr marL="342900" indent="-342900"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directory contains at least two entries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(dot) maps to the directory itself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(dot dot) maps to </a:t>
            </a:r>
            <a:r>
              <a:rPr lang="en-US" sz="20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parent directory</a:t>
            </a:r>
            <a:br>
              <a:rPr lang="en-US" sz="20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the </a:t>
            </a:r>
            <a:r>
              <a:rPr lang="en-US" sz="20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directory hierarchy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(next slide)</a:t>
            </a:r>
            <a:endParaRPr dirty="0"/>
          </a:p>
          <a:p>
            <a:pPr marL="342900" indent="-342900"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Commands for manipulating directories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mkdir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create empty directory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ls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view directory contents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rmdir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delete empty directory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 txBox="1">
            <a:spLocks noGrp="1"/>
          </p:cNvSpPr>
          <p:nvPr>
            <p:ph type="title"/>
          </p:nvPr>
        </p:nvSpPr>
        <p:spPr>
          <a:xfrm>
            <a:off x="1881019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Directory Hierarchy	</a:t>
            </a:r>
            <a:endParaRPr sz="3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Shape 138"/>
          <p:cNvSpPr txBox="1">
            <a:spLocks noGrp="1"/>
          </p:cNvSpPr>
          <p:nvPr>
            <p:ph type="body" idx="1"/>
          </p:nvPr>
        </p:nvSpPr>
        <p:spPr>
          <a:xfrm>
            <a:off x="1752601" y="1362076"/>
            <a:ext cx="8899525" cy="52673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files are organized as a hierarchy anchored by root directory named </a:t>
            </a:r>
            <a:r>
              <a:rPr lang="en-US" sz="24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(slash)</a:t>
            </a:r>
            <a:endParaRPr dirty="0"/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endParaRPr lang="en-US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Kernel maintains </a:t>
            </a:r>
            <a:r>
              <a:rPr lang="en-US" sz="24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working directory (</a:t>
            </a:r>
            <a:r>
              <a:rPr lang="en-US" sz="2400" b="1" i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cwd</a:t>
            </a:r>
            <a:r>
              <a:rPr lang="en-US" sz="24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each process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Modified using the </a:t>
            </a:r>
            <a:r>
              <a:rPr lang="en-US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cd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command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Shape 139"/>
          <p:cNvSpPr txBox="1"/>
          <p:nvPr/>
        </p:nvSpPr>
        <p:spPr>
          <a:xfrm>
            <a:off x="5486401" y="2209800"/>
            <a:ext cx="30779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0" name="Shape 140"/>
          <p:cNvSpPr txBox="1"/>
          <p:nvPr/>
        </p:nvSpPr>
        <p:spPr>
          <a:xfrm>
            <a:off x="1698354" y="2933700"/>
            <a:ext cx="67718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bin/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1" name="Shape 141"/>
          <p:cNvSpPr txBox="1"/>
          <p:nvPr/>
        </p:nvSpPr>
        <p:spPr>
          <a:xfrm>
            <a:off x="2667001" y="2933700"/>
            <a:ext cx="67718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dev/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2" name="Shape 142"/>
          <p:cNvSpPr txBox="1"/>
          <p:nvPr/>
        </p:nvSpPr>
        <p:spPr>
          <a:xfrm>
            <a:off x="3900836" y="2933700"/>
            <a:ext cx="67718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etc/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3" name="Shape 143"/>
          <p:cNvSpPr txBox="1"/>
          <p:nvPr/>
        </p:nvSpPr>
        <p:spPr>
          <a:xfrm>
            <a:off x="5981481" y="2933700"/>
            <a:ext cx="80031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home/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4" name="Shape 144"/>
          <p:cNvSpPr txBox="1"/>
          <p:nvPr/>
        </p:nvSpPr>
        <p:spPr>
          <a:xfrm>
            <a:off x="8619212" y="2933700"/>
            <a:ext cx="67718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usr/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5" name="Shape 145"/>
          <p:cNvSpPr txBox="1"/>
          <p:nvPr/>
        </p:nvSpPr>
        <p:spPr>
          <a:xfrm>
            <a:off x="1698354" y="3581400"/>
            <a:ext cx="67718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bash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6" name="Shape 146"/>
          <p:cNvSpPr txBox="1"/>
          <p:nvPr/>
        </p:nvSpPr>
        <p:spPr>
          <a:xfrm>
            <a:off x="2667001" y="3581400"/>
            <a:ext cx="67718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tty1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7" name="Shape 147"/>
          <p:cNvSpPr txBox="1"/>
          <p:nvPr/>
        </p:nvSpPr>
        <p:spPr>
          <a:xfrm>
            <a:off x="3481515" y="3581400"/>
            <a:ext cx="80031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group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8" name="Shape 148"/>
          <p:cNvSpPr txBox="1"/>
          <p:nvPr/>
        </p:nvSpPr>
        <p:spPr>
          <a:xfrm>
            <a:off x="4258150" y="3581400"/>
            <a:ext cx="9234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passwd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9" name="Shape 149"/>
          <p:cNvSpPr txBox="1"/>
          <p:nvPr/>
        </p:nvSpPr>
        <p:spPr>
          <a:xfrm>
            <a:off x="5553551" y="3581400"/>
            <a:ext cx="80031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droh/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0" name="Shape 150"/>
          <p:cNvSpPr txBox="1"/>
          <p:nvPr/>
        </p:nvSpPr>
        <p:spPr>
          <a:xfrm>
            <a:off x="6421020" y="3581400"/>
            <a:ext cx="104658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bryant/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1" name="Shape 151"/>
          <p:cNvSpPr txBox="1"/>
          <p:nvPr/>
        </p:nvSpPr>
        <p:spPr>
          <a:xfrm>
            <a:off x="7620001" y="3581400"/>
            <a:ext cx="116971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include/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2" name="Shape 152"/>
          <p:cNvSpPr txBox="1"/>
          <p:nvPr/>
        </p:nvSpPr>
        <p:spPr>
          <a:xfrm>
            <a:off x="9305012" y="3581400"/>
            <a:ext cx="67718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bin/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3" name="Shape 153"/>
          <p:cNvSpPr txBox="1"/>
          <p:nvPr/>
        </p:nvSpPr>
        <p:spPr>
          <a:xfrm>
            <a:off x="7162801" y="4419600"/>
            <a:ext cx="104658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stdio.h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4" name="Shape 154"/>
          <p:cNvSpPr txBox="1"/>
          <p:nvPr/>
        </p:nvSpPr>
        <p:spPr>
          <a:xfrm>
            <a:off x="9366576" y="4419600"/>
            <a:ext cx="55405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vim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5" name="Shape 155"/>
          <p:cNvSpPr txBox="1"/>
          <p:nvPr/>
        </p:nvSpPr>
        <p:spPr>
          <a:xfrm>
            <a:off x="8399662" y="4419600"/>
            <a:ext cx="67718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sys/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6" name="Shape 156"/>
          <p:cNvSpPr txBox="1"/>
          <p:nvPr/>
        </p:nvSpPr>
        <p:spPr>
          <a:xfrm>
            <a:off x="8153401" y="5300246"/>
            <a:ext cx="116971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unistd.h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57" name="Shape 157"/>
          <p:cNvCxnSpPr>
            <a:stCxn id="139" idx="2"/>
            <a:endCxn id="140" idx="0"/>
          </p:cNvCxnSpPr>
          <p:nvPr/>
        </p:nvCxnSpPr>
        <p:spPr>
          <a:xfrm flipH="1">
            <a:off x="2036999" y="2548354"/>
            <a:ext cx="3603300" cy="3852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8" name="Shape 158"/>
          <p:cNvCxnSpPr>
            <a:stCxn id="139" idx="2"/>
            <a:endCxn id="141" idx="0"/>
          </p:cNvCxnSpPr>
          <p:nvPr/>
        </p:nvCxnSpPr>
        <p:spPr>
          <a:xfrm flipH="1">
            <a:off x="3005699" y="2548354"/>
            <a:ext cx="2634600" cy="3852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9" name="Shape 159"/>
          <p:cNvCxnSpPr>
            <a:stCxn id="139" idx="2"/>
            <a:endCxn id="142" idx="0"/>
          </p:cNvCxnSpPr>
          <p:nvPr/>
        </p:nvCxnSpPr>
        <p:spPr>
          <a:xfrm flipH="1">
            <a:off x="4239299" y="2548354"/>
            <a:ext cx="1401000" cy="3852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0" name="Shape 160"/>
          <p:cNvCxnSpPr>
            <a:stCxn id="139" idx="2"/>
            <a:endCxn id="143" idx="0"/>
          </p:cNvCxnSpPr>
          <p:nvPr/>
        </p:nvCxnSpPr>
        <p:spPr>
          <a:xfrm>
            <a:off x="5640299" y="2548354"/>
            <a:ext cx="741300" cy="3852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1" name="Shape 161"/>
          <p:cNvCxnSpPr>
            <a:stCxn id="139" idx="2"/>
            <a:endCxn id="144" idx="0"/>
          </p:cNvCxnSpPr>
          <p:nvPr/>
        </p:nvCxnSpPr>
        <p:spPr>
          <a:xfrm>
            <a:off x="5640299" y="2548354"/>
            <a:ext cx="3317400" cy="3852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2" name="Shape 162"/>
          <p:cNvCxnSpPr>
            <a:stCxn id="143" idx="2"/>
            <a:endCxn id="149" idx="0"/>
          </p:cNvCxnSpPr>
          <p:nvPr/>
        </p:nvCxnSpPr>
        <p:spPr>
          <a:xfrm flipH="1">
            <a:off x="5953840" y="3272254"/>
            <a:ext cx="427800" cy="3090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3" name="Shape 163"/>
          <p:cNvCxnSpPr>
            <a:stCxn id="143" idx="2"/>
            <a:endCxn id="150" idx="0"/>
          </p:cNvCxnSpPr>
          <p:nvPr/>
        </p:nvCxnSpPr>
        <p:spPr>
          <a:xfrm>
            <a:off x="6381640" y="3272254"/>
            <a:ext cx="562800" cy="3090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4" name="Shape 164"/>
          <p:cNvCxnSpPr>
            <a:stCxn id="149" idx="2"/>
          </p:cNvCxnSpPr>
          <p:nvPr/>
        </p:nvCxnSpPr>
        <p:spPr>
          <a:xfrm>
            <a:off x="5953709" y="3919954"/>
            <a:ext cx="0" cy="5376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5" name="Shape 165"/>
          <p:cNvCxnSpPr>
            <a:stCxn id="140" idx="2"/>
            <a:endCxn id="145" idx="0"/>
          </p:cNvCxnSpPr>
          <p:nvPr/>
        </p:nvCxnSpPr>
        <p:spPr>
          <a:xfrm>
            <a:off x="2036948" y="3272254"/>
            <a:ext cx="0" cy="3090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6" name="Shape 166"/>
          <p:cNvCxnSpPr>
            <a:stCxn id="141" idx="2"/>
            <a:endCxn id="146" idx="0"/>
          </p:cNvCxnSpPr>
          <p:nvPr/>
        </p:nvCxnSpPr>
        <p:spPr>
          <a:xfrm>
            <a:off x="3005595" y="3272254"/>
            <a:ext cx="0" cy="3090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7" name="Shape 167"/>
          <p:cNvCxnSpPr>
            <a:stCxn id="142" idx="2"/>
            <a:endCxn id="147" idx="0"/>
          </p:cNvCxnSpPr>
          <p:nvPr/>
        </p:nvCxnSpPr>
        <p:spPr>
          <a:xfrm flipH="1">
            <a:off x="3881529" y="3272254"/>
            <a:ext cx="357900" cy="3090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8" name="Shape 168"/>
          <p:cNvCxnSpPr>
            <a:stCxn id="142" idx="2"/>
            <a:endCxn id="148" idx="0"/>
          </p:cNvCxnSpPr>
          <p:nvPr/>
        </p:nvCxnSpPr>
        <p:spPr>
          <a:xfrm>
            <a:off x="4239429" y="3272254"/>
            <a:ext cx="480300" cy="3090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9" name="Shape 169"/>
          <p:cNvCxnSpPr>
            <a:stCxn id="144" idx="2"/>
            <a:endCxn id="151" idx="0"/>
          </p:cNvCxnSpPr>
          <p:nvPr/>
        </p:nvCxnSpPr>
        <p:spPr>
          <a:xfrm flipH="1">
            <a:off x="8204805" y="3272254"/>
            <a:ext cx="753000" cy="3090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0" name="Shape 170"/>
          <p:cNvCxnSpPr>
            <a:stCxn id="144" idx="2"/>
            <a:endCxn id="152" idx="0"/>
          </p:cNvCxnSpPr>
          <p:nvPr/>
        </p:nvCxnSpPr>
        <p:spPr>
          <a:xfrm>
            <a:off x="8957805" y="3272254"/>
            <a:ext cx="685800" cy="3090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1" name="Shape 171"/>
          <p:cNvCxnSpPr>
            <a:stCxn id="151" idx="2"/>
            <a:endCxn id="153" idx="0"/>
          </p:cNvCxnSpPr>
          <p:nvPr/>
        </p:nvCxnSpPr>
        <p:spPr>
          <a:xfrm flipH="1">
            <a:off x="7686155" y="3919954"/>
            <a:ext cx="518700" cy="4995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2" name="Shape 172"/>
          <p:cNvCxnSpPr>
            <a:stCxn id="151" idx="2"/>
            <a:endCxn id="155" idx="0"/>
          </p:cNvCxnSpPr>
          <p:nvPr/>
        </p:nvCxnSpPr>
        <p:spPr>
          <a:xfrm>
            <a:off x="8204855" y="3919954"/>
            <a:ext cx="533400" cy="4995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3" name="Shape 173"/>
          <p:cNvCxnSpPr>
            <a:stCxn id="152" idx="2"/>
            <a:endCxn id="154" idx="0"/>
          </p:cNvCxnSpPr>
          <p:nvPr/>
        </p:nvCxnSpPr>
        <p:spPr>
          <a:xfrm>
            <a:off x="9643605" y="3919954"/>
            <a:ext cx="0" cy="4995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4" name="Shape 174"/>
          <p:cNvCxnSpPr>
            <a:stCxn id="155" idx="2"/>
            <a:endCxn id="156" idx="0"/>
          </p:cNvCxnSpPr>
          <p:nvPr/>
        </p:nvCxnSpPr>
        <p:spPr>
          <a:xfrm>
            <a:off x="8738255" y="4758154"/>
            <a:ext cx="0" cy="5421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5" name="Shape 175"/>
          <p:cNvSpPr txBox="1"/>
          <p:nvPr/>
        </p:nvSpPr>
        <p:spPr>
          <a:xfrm>
            <a:off x="5430420" y="4419600"/>
            <a:ext cx="104658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hello.c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 txBox="1">
            <a:spLocks noGrp="1"/>
          </p:cNvSpPr>
          <p:nvPr>
            <p:ph type="title"/>
          </p:nvPr>
        </p:nvSpPr>
        <p:spPr>
          <a:xfrm>
            <a:off x="1881019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Pathnames	</a:t>
            </a:r>
            <a:endParaRPr sz="3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Shape 181"/>
          <p:cNvSpPr txBox="1">
            <a:spLocks noGrp="1"/>
          </p:cNvSpPr>
          <p:nvPr>
            <p:ph type="body" idx="1"/>
          </p:nvPr>
        </p:nvSpPr>
        <p:spPr>
          <a:xfrm>
            <a:off x="1920876" y="1362076"/>
            <a:ext cx="8518525" cy="19145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Locations of files in the hierarchy denoted by </a:t>
            </a:r>
            <a:r>
              <a:rPr lang="en-US" sz="24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pathnames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Absolute pathname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starts with ‘/’ and denotes path from root</a:t>
            </a:r>
            <a:endParaRPr dirty="0"/>
          </a:p>
          <a:p>
            <a:pPr lvl="2">
              <a:spcBef>
                <a:spcPts val="400"/>
              </a:spcBef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/home/</a:t>
            </a:r>
            <a:r>
              <a:rPr lang="en-US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droh</a:t>
            </a:r>
            <a:r>
              <a:rPr lang="en-US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-US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hello.c</a:t>
            </a:r>
            <a:endParaRPr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Relative pathname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denotes path from current working directory</a:t>
            </a:r>
            <a:endParaRPr dirty="0"/>
          </a:p>
          <a:p>
            <a:pPr lvl="2">
              <a:spcBef>
                <a:spcPts val="400"/>
              </a:spcBef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../</a:t>
            </a:r>
            <a:r>
              <a:rPr lang="en-US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droh</a:t>
            </a:r>
            <a:r>
              <a:rPr lang="en-US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-US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hello.c</a:t>
            </a:r>
            <a:endParaRPr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Shape 182"/>
          <p:cNvSpPr txBox="1"/>
          <p:nvPr/>
        </p:nvSpPr>
        <p:spPr>
          <a:xfrm>
            <a:off x="5540646" y="3242846"/>
            <a:ext cx="30779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3" name="Shape 183"/>
          <p:cNvSpPr txBox="1"/>
          <p:nvPr/>
        </p:nvSpPr>
        <p:spPr>
          <a:xfrm>
            <a:off x="1752599" y="3966746"/>
            <a:ext cx="67718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bin/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4" name="Shape 184"/>
          <p:cNvSpPr txBox="1"/>
          <p:nvPr/>
        </p:nvSpPr>
        <p:spPr>
          <a:xfrm>
            <a:off x="2721246" y="3966746"/>
            <a:ext cx="67718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dev/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5" name="Shape 185"/>
          <p:cNvSpPr txBox="1"/>
          <p:nvPr/>
        </p:nvSpPr>
        <p:spPr>
          <a:xfrm>
            <a:off x="3955081" y="3966746"/>
            <a:ext cx="67718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etc/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6" name="Shape 186"/>
          <p:cNvSpPr txBox="1"/>
          <p:nvPr/>
        </p:nvSpPr>
        <p:spPr>
          <a:xfrm>
            <a:off x="6035726" y="3966746"/>
            <a:ext cx="80031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home/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7" name="Shape 187"/>
          <p:cNvSpPr txBox="1"/>
          <p:nvPr/>
        </p:nvSpPr>
        <p:spPr>
          <a:xfrm>
            <a:off x="8673457" y="3966746"/>
            <a:ext cx="67718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usr/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8" name="Shape 188"/>
          <p:cNvSpPr txBox="1"/>
          <p:nvPr/>
        </p:nvSpPr>
        <p:spPr>
          <a:xfrm>
            <a:off x="1752599" y="4614446"/>
            <a:ext cx="67718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bash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9" name="Shape 189"/>
          <p:cNvSpPr txBox="1"/>
          <p:nvPr/>
        </p:nvSpPr>
        <p:spPr>
          <a:xfrm>
            <a:off x="2721246" y="4614446"/>
            <a:ext cx="67718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tty1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0" name="Shape 190"/>
          <p:cNvSpPr txBox="1"/>
          <p:nvPr/>
        </p:nvSpPr>
        <p:spPr>
          <a:xfrm>
            <a:off x="3535760" y="4614446"/>
            <a:ext cx="80031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group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1" name="Shape 191"/>
          <p:cNvSpPr txBox="1"/>
          <p:nvPr/>
        </p:nvSpPr>
        <p:spPr>
          <a:xfrm>
            <a:off x="4312395" y="4614446"/>
            <a:ext cx="9234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passwd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2" name="Shape 192"/>
          <p:cNvSpPr txBox="1"/>
          <p:nvPr/>
        </p:nvSpPr>
        <p:spPr>
          <a:xfrm>
            <a:off x="5607796" y="4614446"/>
            <a:ext cx="80031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droh/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3" name="Shape 193"/>
          <p:cNvSpPr txBox="1"/>
          <p:nvPr/>
        </p:nvSpPr>
        <p:spPr>
          <a:xfrm>
            <a:off x="6475265" y="4614446"/>
            <a:ext cx="104658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bryant/</a:t>
            </a:r>
            <a:endParaRPr sz="1600" b="1">
              <a:solidFill>
                <a:srgbClr val="3333C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4" name="Shape 194"/>
          <p:cNvSpPr txBox="1"/>
          <p:nvPr/>
        </p:nvSpPr>
        <p:spPr>
          <a:xfrm>
            <a:off x="7674246" y="4614446"/>
            <a:ext cx="116971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include/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5" name="Shape 195"/>
          <p:cNvSpPr txBox="1"/>
          <p:nvPr/>
        </p:nvSpPr>
        <p:spPr>
          <a:xfrm>
            <a:off x="9359257" y="4614446"/>
            <a:ext cx="67718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bin/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6" name="Shape 196"/>
          <p:cNvSpPr txBox="1"/>
          <p:nvPr/>
        </p:nvSpPr>
        <p:spPr>
          <a:xfrm>
            <a:off x="7217046" y="5452646"/>
            <a:ext cx="104658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stdio.h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7" name="Shape 197"/>
          <p:cNvSpPr txBox="1"/>
          <p:nvPr/>
        </p:nvSpPr>
        <p:spPr>
          <a:xfrm>
            <a:off x="9420821" y="5452646"/>
            <a:ext cx="55405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vim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8" name="Shape 198"/>
          <p:cNvSpPr txBox="1"/>
          <p:nvPr/>
        </p:nvSpPr>
        <p:spPr>
          <a:xfrm>
            <a:off x="8453907" y="5452646"/>
            <a:ext cx="67718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sys/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9" name="Shape 199"/>
          <p:cNvSpPr txBox="1"/>
          <p:nvPr/>
        </p:nvSpPr>
        <p:spPr>
          <a:xfrm>
            <a:off x="8207646" y="6333292"/>
            <a:ext cx="116971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unistd.h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00" name="Shape 200"/>
          <p:cNvCxnSpPr>
            <a:stCxn id="182" idx="2"/>
            <a:endCxn id="183" idx="0"/>
          </p:cNvCxnSpPr>
          <p:nvPr/>
        </p:nvCxnSpPr>
        <p:spPr>
          <a:xfrm flipH="1">
            <a:off x="2091244" y="3581400"/>
            <a:ext cx="3603300" cy="3852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1" name="Shape 201"/>
          <p:cNvCxnSpPr>
            <a:stCxn id="182" idx="2"/>
            <a:endCxn id="184" idx="0"/>
          </p:cNvCxnSpPr>
          <p:nvPr/>
        </p:nvCxnSpPr>
        <p:spPr>
          <a:xfrm flipH="1">
            <a:off x="3059944" y="3581400"/>
            <a:ext cx="2634600" cy="3852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2" name="Shape 202"/>
          <p:cNvCxnSpPr>
            <a:stCxn id="182" idx="2"/>
            <a:endCxn id="185" idx="0"/>
          </p:cNvCxnSpPr>
          <p:nvPr/>
        </p:nvCxnSpPr>
        <p:spPr>
          <a:xfrm flipH="1">
            <a:off x="4293544" y="3581400"/>
            <a:ext cx="1401000" cy="3852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3" name="Shape 203"/>
          <p:cNvCxnSpPr>
            <a:stCxn id="182" idx="2"/>
            <a:endCxn id="186" idx="0"/>
          </p:cNvCxnSpPr>
          <p:nvPr/>
        </p:nvCxnSpPr>
        <p:spPr>
          <a:xfrm>
            <a:off x="5694544" y="3581400"/>
            <a:ext cx="741300" cy="3852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4" name="Shape 204"/>
          <p:cNvCxnSpPr>
            <a:stCxn id="182" idx="2"/>
            <a:endCxn id="187" idx="0"/>
          </p:cNvCxnSpPr>
          <p:nvPr/>
        </p:nvCxnSpPr>
        <p:spPr>
          <a:xfrm>
            <a:off x="5694544" y="3581400"/>
            <a:ext cx="3317400" cy="3852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5" name="Shape 205"/>
          <p:cNvCxnSpPr>
            <a:stCxn id="186" idx="2"/>
            <a:endCxn id="192" idx="0"/>
          </p:cNvCxnSpPr>
          <p:nvPr/>
        </p:nvCxnSpPr>
        <p:spPr>
          <a:xfrm flipH="1">
            <a:off x="6008085" y="4305300"/>
            <a:ext cx="427800" cy="3090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6" name="Shape 206"/>
          <p:cNvCxnSpPr>
            <a:stCxn id="186" idx="2"/>
            <a:endCxn id="193" idx="0"/>
          </p:cNvCxnSpPr>
          <p:nvPr/>
        </p:nvCxnSpPr>
        <p:spPr>
          <a:xfrm>
            <a:off x="6435885" y="4305300"/>
            <a:ext cx="562800" cy="3090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7" name="Shape 207"/>
          <p:cNvCxnSpPr>
            <a:stCxn id="192" idx="2"/>
          </p:cNvCxnSpPr>
          <p:nvPr/>
        </p:nvCxnSpPr>
        <p:spPr>
          <a:xfrm>
            <a:off x="6007954" y="4953000"/>
            <a:ext cx="0" cy="5376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8" name="Shape 208"/>
          <p:cNvCxnSpPr>
            <a:stCxn id="183" idx="2"/>
            <a:endCxn id="188" idx="0"/>
          </p:cNvCxnSpPr>
          <p:nvPr/>
        </p:nvCxnSpPr>
        <p:spPr>
          <a:xfrm>
            <a:off x="2091193" y="4305300"/>
            <a:ext cx="0" cy="3090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9" name="Shape 209"/>
          <p:cNvCxnSpPr>
            <a:stCxn id="184" idx="2"/>
            <a:endCxn id="189" idx="0"/>
          </p:cNvCxnSpPr>
          <p:nvPr/>
        </p:nvCxnSpPr>
        <p:spPr>
          <a:xfrm>
            <a:off x="3059840" y="4305300"/>
            <a:ext cx="0" cy="3090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0" name="Shape 210"/>
          <p:cNvCxnSpPr>
            <a:stCxn id="185" idx="2"/>
            <a:endCxn id="190" idx="0"/>
          </p:cNvCxnSpPr>
          <p:nvPr/>
        </p:nvCxnSpPr>
        <p:spPr>
          <a:xfrm flipH="1">
            <a:off x="3935774" y="4305300"/>
            <a:ext cx="357900" cy="3090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1" name="Shape 211"/>
          <p:cNvCxnSpPr>
            <a:stCxn id="185" idx="2"/>
            <a:endCxn id="191" idx="0"/>
          </p:cNvCxnSpPr>
          <p:nvPr/>
        </p:nvCxnSpPr>
        <p:spPr>
          <a:xfrm>
            <a:off x="4293674" y="4305300"/>
            <a:ext cx="480300" cy="3090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2" name="Shape 212"/>
          <p:cNvCxnSpPr>
            <a:stCxn id="187" idx="2"/>
            <a:endCxn id="194" idx="0"/>
          </p:cNvCxnSpPr>
          <p:nvPr/>
        </p:nvCxnSpPr>
        <p:spPr>
          <a:xfrm flipH="1">
            <a:off x="8259050" y="4305300"/>
            <a:ext cx="753000" cy="3090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3" name="Shape 213"/>
          <p:cNvCxnSpPr>
            <a:stCxn id="187" idx="2"/>
            <a:endCxn id="195" idx="0"/>
          </p:cNvCxnSpPr>
          <p:nvPr/>
        </p:nvCxnSpPr>
        <p:spPr>
          <a:xfrm>
            <a:off x="9012050" y="4305300"/>
            <a:ext cx="685800" cy="3090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4" name="Shape 214"/>
          <p:cNvCxnSpPr>
            <a:stCxn id="194" idx="2"/>
            <a:endCxn id="196" idx="0"/>
          </p:cNvCxnSpPr>
          <p:nvPr/>
        </p:nvCxnSpPr>
        <p:spPr>
          <a:xfrm flipH="1">
            <a:off x="7740400" y="4953000"/>
            <a:ext cx="518700" cy="4995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5" name="Shape 215"/>
          <p:cNvCxnSpPr>
            <a:stCxn id="194" idx="2"/>
            <a:endCxn id="198" idx="0"/>
          </p:cNvCxnSpPr>
          <p:nvPr/>
        </p:nvCxnSpPr>
        <p:spPr>
          <a:xfrm>
            <a:off x="8259100" y="4953000"/>
            <a:ext cx="533400" cy="4995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6" name="Shape 216"/>
          <p:cNvCxnSpPr>
            <a:stCxn id="195" idx="2"/>
            <a:endCxn id="197" idx="0"/>
          </p:cNvCxnSpPr>
          <p:nvPr/>
        </p:nvCxnSpPr>
        <p:spPr>
          <a:xfrm>
            <a:off x="9697850" y="4953000"/>
            <a:ext cx="0" cy="4995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7" name="Shape 217"/>
          <p:cNvCxnSpPr>
            <a:stCxn id="198" idx="2"/>
            <a:endCxn id="199" idx="0"/>
          </p:cNvCxnSpPr>
          <p:nvPr/>
        </p:nvCxnSpPr>
        <p:spPr>
          <a:xfrm>
            <a:off x="8792500" y="5791200"/>
            <a:ext cx="0" cy="5421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8" name="Shape 218"/>
          <p:cNvSpPr txBox="1"/>
          <p:nvPr/>
        </p:nvSpPr>
        <p:spPr>
          <a:xfrm>
            <a:off x="5484665" y="5452646"/>
            <a:ext cx="104658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hello.c</a:t>
            </a:r>
            <a:endParaRPr sz="1600"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9" name="Shape 219"/>
          <p:cNvSpPr txBox="1"/>
          <p:nvPr/>
        </p:nvSpPr>
        <p:spPr>
          <a:xfrm>
            <a:off x="7805751" y="3212068"/>
            <a:ext cx="244159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cwd:</a:t>
            </a: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/home/bryant</a:t>
            </a:r>
            <a:endParaRPr b="1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224"/>
          <p:cNvSpPr txBox="1">
            <a:spLocks noGrp="1"/>
          </p:cNvSpPr>
          <p:nvPr>
            <p:ph type="title"/>
          </p:nvPr>
        </p:nvSpPr>
        <p:spPr>
          <a:xfrm>
            <a:off x="1880286" y="493712"/>
            <a:ext cx="6496050" cy="57308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Opening Files</a:t>
            </a:r>
            <a:endParaRPr/>
          </a:p>
        </p:txBody>
      </p:sp>
      <p:sp>
        <p:nvSpPr>
          <p:cNvPr id="225" name="Shape 225"/>
          <p:cNvSpPr txBox="1">
            <a:spLocks noGrp="1"/>
          </p:cNvSpPr>
          <p:nvPr>
            <p:ph type="body" idx="1"/>
          </p:nvPr>
        </p:nvSpPr>
        <p:spPr>
          <a:xfrm>
            <a:off x="1890714" y="1296988"/>
            <a:ext cx="8624887" cy="52562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lnSpc>
                <a:spcPct val="85000"/>
              </a:lnSpc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Opening a file informs the kernel that you are getting ready to access that file</a:t>
            </a:r>
            <a:endParaRPr dirty="0"/>
          </a:p>
          <a:p>
            <a:pPr marL="342900" indent="-251459">
              <a:lnSpc>
                <a:spcPct val="85000"/>
              </a:lnSpc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lnSpc>
                <a:spcPct val="85000"/>
              </a:lnSpc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lnSpc>
                <a:spcPct val="85000"/>
              </a:lnSpc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lnSpc>
                <a:spcPct val="85000"/>
              </a:lnSpc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lnSpc>
                <a:spcPct val="85000"/>
              </a:lnSpc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lnSpc>
                <a:spcPct val="85000"/>
              </a:lnSpc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Returns a small identifying integer </a:t>
            </a:r>
            <a:r>
              <a:rPr lang="en-US" sz="2400" b="1" i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file descriptor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fd</a:t>
            </a:r>
            <a:r>
              <a:rPr lang="en-US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== -1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indicates that an error occurred</a:t>
            </a:r>
            <a:endParaRPr dirty="0"/>
          </a:p>
          <a:p>
            <a:pPr marL="342900" indent="-342900">
              <a:lnSpc>
                <a:spcPct val="85000"/>
              </a:lnSpc>
              <a:spcBef>
                <a:spcPts val="120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process begins life with three open files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0: standard input (stdin)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1: standard output (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stdout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2: standard error (stderr)</a:t>
            </a:r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These could be files, pipes, your terminal, or even a network connection!</a:t>
            </a:r>
            <a:endParaRPr sz="2000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B067D24-FEBD-E4FD-A271-CC21CEC08869}"/>
              </a:ext>
            </a:extLst>
          </p:cNvPr>
          <p:cNvGrpSpPr/>
          <p:nvPr/>
        </p:nvGrpSpPr>
        <p:grpSpPr>
          <a:xfrm>
            <a:off x="2121082" y="2146619"/>
            <a:ext cx="6773884" cy="1570769"/>
            <a:chOff x="895288" y="4161173"/>
            <a:chExt cx="7524376" cy="157076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A1E2A24-7E02-453E-8318-F2178E2A4B12}"/>
                </a:ext>
              </a:extLst>
            </p:cNvPr>
            <p:cNvSpPr txBox="1"/>
            <p:nvPr/>
          </p:nvSpPr>
          <p:spPr>
            <a:xfrm>
              <a:off x="895288" y="4162282"/>
              <a:ext cx="329767" cy="15696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D2BE7EB-1021-2C83-34A0-48DB5D87DDD2}"/>
                </a:ext>
              </a:extLst>
            </p:cNvPr>
            <p:cNvSpPr txBox="1"/>
            <p:nvPr/>
          </p:nvSpPr>
          <p:spPr>
            <a:xfrm>
              <a:off x="1225056" y="4161173"/>
              <a:ext cx="7194608" cy="156966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lIns="182880" rIns="182880" rtlCol="0">
              <a:spAutoFit/>
            </a:bodyPr>
            <a:lstStyle/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int 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fd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;   </a:t>
              </a:r>
              <a:r>
                <a:rPr lang="en-US" sz="1600" dirty="0">
                  <a:solidFill>
                    <a:srgbClr val="99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/* file descriptor */</a:t>
              </a:r>
              <a:endParaRPr lang="en-US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endParaRPr lang="en-US" sz="160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endParaRP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if ((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fd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= open("/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etc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/hosts", O_RDONLY)) &lt; 0) {</a:t>
              </a:r>
              <a:endParaRPr lang="en-US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  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perror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("open");</a:t>
              </a:r>
              <a:endParaRPr lang="en-US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  exit(1);</a:t>
              </a:r>
              <a:endParaRPr lang="en-US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}</a:t>
              </a:r>
              <a:endParaRPr lang="en-US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1B0EA-BA10-4C8A-A654-6688A7A2A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368"/>
            <a:ext cx="10515600" cy="1325563"/>
          </a:xfrm>
        </p:spPr>
        <p:txBody>
          <a:bodyPr/>
          <a:lstStyle/>
          <a:p>
            <a:r>
              <a:rPr lang="en-US" dirty="0"/>
              <a:t>Lots of ways to call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63D405-7CA7-477B-B151-BD1D76FCF2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3" y="1774012"/>
            <a:ext cx="4040188" cy="447675"/>
          </a:xfrm>
        </p:spPr>
        <p:txBody>
          <a:bodyPr>
            <a:noAutofit/>
          </a:bodyPr>
          <a:lstStyle/>
          <a:p>
            <a:pPr marL="137160"/>
            <a:r>
              <a:rPr lang="en-US" dirty="0"/>
              <a:t>Open an existing file:</a:t>
            </a:r>
          </a:p>
          <a:p>
            <a:pPr marL="137160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open(path, flags)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D8D61F-3536-4B99-9578-9E0A939AA85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981991" y="2337435"/>
            <a:ext cx="5054600" cy="4408487"/>
          </a:xfrm>
        </p:spPr>
        <p:txBody>
          <a:bodyPr>
            <a:normAutofit fontScale="92500" lnSpcReduction="10000"/>
          </a:bodyPr>
          <a:lstStyle/>
          <a:p>
            <a:pPr marL="13716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flags</a:t>
            </a:r>
            <a:r>
              <a:rPr lang="en-US" sz="1800" dirty="0"/>
              <a:t> must include exactly one of:</a:t>
            </a:r>
          </a:p>
          <a:p>
            <a:pPr marL="137160" indent="0">
              <a:buNone/>
            </a:pPr>
            <a:endParaRPr lang="en-US" sz="1800" dirty="0"/>
          </a:p>
          <a:p>
            <a:pPr marL="137160" indent="0">
              <a:buNone/>
            </a:pPr>
            <a:endParaRPr lang="en-US" sz="1800" dirty="0"/>
          </a:p>
          <a:p>
            <a:pPr marL="137160" indent="0">
              <a:buNone/>
            </a:pPr>
            <a:endParaRPr lang="en-US" sz="1800" dirty="0"/>
          </a:p>
          <a:p>
            <a:pPr marL="137160" indent="0">
              <a:buNone/>
            </a:pPr>
            <a:endParaRPr lang="en-US" sz="1800" dirty="0"/>
          </a:p>
          <a:p>
            <a:pPr marL="137160" indent="0">
              <a:buNone/>
            </a:pPr>
            <a:r>
              <a:rPr lang="en-US" sz="1800" dirty="0"/>
              <a:t>Flags may also include (use | to combine)</a:t>
            </a:r>
          </a:p>
          <a:p>
            <a:pPr marL="137160" indent="0">
              <a:buNone/>
            </a:pPr>
            <a:endParaRPr lang="en-US" sz="1800" dirty="0"/>
          </a:p>
          <a:p>
            <a:pPr marL="137160" indent="0">
              <a:buNone/>
            </a:pPr>
            <a:endParaRPr lang="en-US" sz="1800" dirty="0"/>
          </a:p>
          <a:p>
            <a:pPr marL="137160" indent="0">
              <a:buNone/>
            </a:pPr>
            <a:endParaRPr lang="en-US" sz="1800" dirty="0"/>
          </a:p>
          <a:p>
            <a:pPr marL="137160" indent="0">
              <a:buNone/>
            </a:pPr>
            <a:endParaRPr lang="en-US" sz="1800" dirty="0"/>
          </a:p>
          <a:p>
            <a:pPr marL="137160" indent="0">
              <a:buNone/>
            </a:pPr>
            <a:endParaRPr lang="en-US" sz="1800" dirty="0"/>
          </a:p>
          <a:p>
            <a:pPr marL="137160" indent="0">
              <a:buNone/>
            </a:pPr>
            <a:endParaRPr lang="en-US" sz="1800" dirty="0"/>
          </a:p>
          <a:p>
            <a:pPr marL="137160" indent="0">
              <a:buNone/>
            </a:pPr>
            <a:r>
              <a:rPr lang="en-US" sz="1800" dirty="0"/>
              <a:t>(and many more… consult the open() </a:t>
            </a:r>
            <a:r>
              <a:rPr lang="en-US" sz="1800" dirty="0" err="1"/>
              <a:t>manpage</a:t>
            </a:r>
            <a:r>
              <a:rPr lang="en-US" sz="1800" dirty="0"/>
              <a:t>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0FC4574-EF89-4F7A-AB1D-DA32827D8525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6527534" y="2366961"/>
            <a:ext cx="4041775" cy="3951288"/>
          </a:xfrm>
        </p:spPr>
        <p:txBody>
          <a:bodyPr/>
          <a:lstStyle/>
          <a:p>
            <a:pPr marL="13716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flags</a:t>
            </a:r>
            <a:r>
              <a:rPr lang="en-US" sz="1800" dirty="0"/>
              <a:t> must include </a:t>
            </a:r>
          </a:p>
          <a:p>
            <a:pPr marL="137160" indent="0">
              <a:buNone/>
            </a:pPr>
            <a:endParaRPr lang="en-US" sz="1800" dirty="0"/>
          </a:p>
          <a:p>
            <a:pPr marL="137160" indent="0">
              <a:buNone/>
            </a:pPr>
            <a:r>
              <a:rPr lang="en-US" sz="1800" dirty="0"/>
              <a:t>and exactly one of:</a:t>
            </a:r>
          </a:p>
          <a:p>
            <a:pPr marL="137160" indent="0">
              <a:buNone/>
            </a:pPr>
            <a:endParaRPr lang="en-US" sz="1800" dirty="0"/>
          </a:p>
          <a:p>
            <a:pPr marL="137160" indent="0">
              <a:buNone/>
            </a:pPr>
            <a:endParaRPr lang="en-US" sz="1800" dirty="0"/>
          </a:p>
          <a:p>
            <a:pPr marL="137160" indent="0">
              <a:buNone/>
            </a:pPr>
            <a:br>
              <a:rPr lang="en-US" sz="1800" dirty="0"/>
            </a:br>
            <a:r>
              <a:rPr lang="en-US" sz="1800" dirty="0"/>
              <a:t>and maybe also some of: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569F2156-47E4-46E1-994D-C7E6F07B7A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3454861"/>
              </p:ext>
            </p:extLst>
          </p:nvPr>
        </p:nvGraphicFramePr>
        <p:xfrm>
          <a:off x="732311" y="2743359"/>
          <a:ext cx="5184564" cy="111252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450703">
                  <a:extLst>
                    <a:ext uri="{9D8B030D-6E8A-4147-A177-3AD203B41FA5}">
                      <a16:colId xmlns:a16="http://schemas.microsoft.com/office/drawing/2014/main" val="54354380"/>
                    </a:ext>
                  </a:extLst>
                </a:gridCol>
                <a:gridCol w="3733861">
                  <a:extLst>
                    <a:ext uri="{9D8B030D-6E8A-4147-A177-3AD203B41FA5}">
                      <a16:colId xmlns:a16="http://schemas.microsoft.com/office/drawing/2014/main" val="38319762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O_RDONLY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Only want to read from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552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O_WRONLY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Only want to write to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028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O_RDWR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Want to do both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2531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B7BAAD1-042D-4D90-A255-B957716D15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5213370"/>
              </p:ext>
            </p:extLst>
          </p:nvPr>
        </p:nvGraphicFramePr>
        <p:xfrm>
          <a:off x="6631251" y="2776352"/>
          <a:ext cx="4978928" cy="37084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448440">
                  <a:extLst>
                    <a:ext uri="{9D8B030D-6E8A-4147-A177-3AD203B41FA5}">
                      <a16:colId xmlns:a16="http://schemas.microsoft.com/office/drawing/2014/main" val="54354380"/>
                    </a:ext>
                  </a:extLst>
                </a:gridCol>
                <a:gridCol w="3530488">
                  <a:extLst>
                    <a:ext uri="{9D8B030D-6E8A-4147-A177-3AD203B41FA5}">
                      <a16:colId xmlns:a16="http://schemas.microsoft.com/office/drawing/2014/main" val="38319762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O_CREAT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the file if it doesn’t exist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552030"/>
                  </a:ext>
                </a:extLst>
              </a:tr>
            </a:tbl>
          </a:graphicData>
        </a:graphic>
      </p:graphicFrame>
      <p:graphicFrame>
        <p:nvGraphicFramePr>
          <p:cNvPr id="9" name="Table 7">
            <a:extLst>
              <a:ext uri="{FF2B5EF4-FFF2-40B4-BE49-F238E27FC236}">
                <a16:creationId xmlns:a16="http://schemas.microsoft.com/office/drawing/2014/main" id="{A62EE8BA-20DA-4E6C-B851-A1A5E0C67E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7784168"/>
              </p:ext>
            </p:extLst>
          </p:nvPr>
        </p:nvGraphicFramePr>
        <p:xfrm>
          <a:off x="732311" y="4516041"/>
          <a:ext cx="5560272" cy="111252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461609">
                  <a:extLst>
                    <a:ext uri="{9D8B030D-6E8A-4147-A177-3AD203B41FA5}">
                      <a16:colId xmlns:a16="http://schemas.microsoft.com/office/drawing/2014/main" val="54354380"/>
                    </a:ext>
                  </a:extLst>
                </a:gridCol>
                <a:gridCol w="4098663">
                  <a:extLst>
                    <a:ext uri="{9D8B030D-6E8A-4147-A177-3AD203B41FA5}">
                      <a16:colId xmlns:a16="http://schemas.microsoft.com/office/drawing/2014/main" val="38319762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O_APPEND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 writes go to the very end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552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O_TRUNC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 existing contents if any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028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O_CLOEXEC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Close this file if </a:t>
                      </a:r>
                      <a:r>
                        <a:rPr lang="en-US" dirty="0" err="1"/>
                        <a:t>execve</a:t>
                      </a:r>
                      <a:r>
                        <a:rPr lang="en-US" dirty="0"/>
                        <a:t>() is called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4184162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94556BB-F1D7-4125-B26F-15D34DD869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7499990"/>
              </p:ext>
            </p:extLst>
          </p:nvPr>
        </p:nvGraphicFramePr>
        <p:xfrm>
          <a:off x="6641145" y="3578867"/>
          <a:ext cx="4976549" cy="74168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450948">
                  <a:extLst>
                    <a:ext uri="{9D8B030D-6E8A-4147-A177-3AD203B41FA5}">
                      <a16:colId xmlns:a16="http://schemas.microsoft.com/office/drawing/2014/main" val="54354380"/>
                    </a:ext>
                  </a:extLst>
                </a:gridCol>
                <a:gridCol w="3525601">
                  <a:extLst>
                    <a:ext uri="{9D8B030D-6E8A-4147-A177-3AD203B41FA5}">
                      <a16:colId xmlns:a16="http://schemas.microsoft.com/office/drawing/2014/main" val="38319762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O_WRONLY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Only want to write to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028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O_RDWR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Want to write and read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25311"/>
                  </a:ext>
                </a:extLst>
              </a:tr>
            </a:tbl>
          </a:graphicData>
        </a:graphic>
      </p:graphicFrame>
      <p:graphicFrame>
        <p:nvGraphicFramePr>
          <p:cNvPr id="11" name="Table 7">
            <a:extLst>
              <a:ext uri="{FF2B5EF4-FFF2-40B4-BE49-F238E27FC236}">
                <a16:creationId xmlns:a16="http://schemas.microsoft.com/office/drawing/2014/main" id="{5521F7CA-E006-494F-BA1B-9C33AC0E34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0006497"/>
              </p:ext>
            </p:extLst>
          </p:nvPr>
        </p:nvGraphicFramePr>
        <p:xfrm>
          <a:off x="6631251" y="4875213"/>
          <a:ext cx="4976549" cy="148336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490509">
                  <a:extLst>
                    <a:ext uri="{9D8B030D-6E8A-4147-A177-3AD203B41FA5}">
                      <a16:colId xmlns:a16="http://schemas.microsoft.com/office/drawing/2014/main" val="54354380"/>
                    </a:ext>
                  </a:extLst>
                </a:gridCol>
                <a:gridCol w="3486040">
                  <a:extLst>
                    <a:ext uri="{9D8B030D-6E8A-4147-A177-3AD203B41FA5}">
                      <a16:colId xmlns:a16="http://schemas.microsoft.com/office/drawing/2014/main" val="38319762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O_EXCL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Fail if file does exist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225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O_APPEND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 writes go to the very end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552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O_TRUNC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 existing contents if any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028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O_CLOEXEC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Close this file if </a:t>
                      </a:r>
                      <a:r>
                        <a:rPr lang="en-US" dirty="0" err="1"/>
                        <a:t>execve</a:t>
                      </a:r>
                      <a:r>
                        <a:rPr lang="en-US" dirty="0"/>
                        <a:t>() is called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4184162"/>
                  </a:ext>
                </a:extLst>
              </a:tr>
            </a:tbl>
          </a:graphicData>
        </a:graphic>
      </p:graphicFrame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FA11353-D3F5-40B7-7D65-1120D4DB8C8C}"/>
              </a:ext>
            </a:extLst>
          </p:cNvPr>
          <p:cNvSpPr txBox="1">
            <a:spLocks/>
          </p:cNvSpPr>
          <p:nvPr/>
        </p:nvSpPr>
        <p:spPr>
          <a:xfrm>
            <a:off x="6411911" y="1774011"/>
            <a:ext cx="4825840" cy="4476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7160"/>
            <a:r>
              <a:rPr lang="en-US" dirty="0"/>
              <a:t>Open an existing file:</a:t>
            </a:r>
          </a:p>
          <a:p>
            <a:pPr marL="137160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open(path, flags, mode)</a:t>
            </a:r>
          </a:p>
        </p:txBody>
      </p:sp>
    </p:spTree>
    <p:extLst>
      <p:ext uri="{BB962C8B-B14F-4D97-AF65-F5344CB8AC3E}">
        <p14:creationId xmlns:p14="http://schemas.microsoft.com/office/powerpoint/2010/main" val="914290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412F92F-9B46-40E0-9A1C-241B84924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third argument to open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9010650-B0F9-44DE-A3F5-C61AF98E31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Yes, open takes either two or three arguments</a:t>
            </a:r>
          </a:p>
          <a:p>
            <a:pPr lvl="1"/>
            <a:r>
              <a:rPr lang="en-US" dirty="0"/>
              <a:t>Bet you thought you couldn’t do that in C</a:t>
            </a:r>
          </a:p>
          <a:p>
            <a:pPr lvl="1"/>
            <a:r>
              <a:rPr lang="en-US" dirty="0"/>
              <a:t>Look through </a:t>
            </a:r>
            <a:r>
              <a:rPr lang="en-US" dirty="0">
                <a:latin typeface="Consolas" panose="020B0609020204030204" pitchFamily="49" charset="0"/>
              </a:rPr>
              <a:t>/</a:t>
            </a:r>
            <a:r>
              <a:rPr lang="en-US" dirty="0" err="1">
                <a:latin typeface="Consolas" panose="020B0609020204030204" pitchFamily="49" charset="0"/>
              </a:rPr>
              <a:t>usr</a:t>
            </a:r>
            <a:r>
              <a:rPr lang="en-US" dirty="0">
                <a:latin typeface="Consolas" panose="020B0609020204030204" pitchFamily="49" charset="0"/>
              </a:rPr>
              <a:t>/include/</a:t>
            </a:r>
            <a:r>
              <a:rPr lang="en-US" dirty="0" err="1">
                <a:latin typeface="Consolas" panose="020B0609020204030204" pitchFamily="49" charset="0"/>
              </a:rPr>
              <a:t>fcntl.h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/>
              <a:t>and try to figure out how it’s done</a:t>
            </a:r>
          </a:p>
          <a:p>
            <a:pPr lvl="1"/>
            <a:r>
              <a:rPr lang="en-US" dirty="0"/>
              <a:t>Third argument must be present when O_CREAT appears in second argument; ignored otherwise</a:t>
            </a:r>
          </a:p>
          <a:p>
            <a:r>
              <a:rPr lang="en-US" dirty="0"/>
              <a:t>Third argument gives </a:t>
            </a:r>
            <a:r>
              <a:rPr lang="en-US" i="1" dirty="0"/>
              <a:t>default access permissions</a:t>
            </a:r>
            <a:br>
              <a:rPr lang="en-US" i="1" dirty="0"/>
            </a:br>
            <a:r>
              <a:rPr lang="en-US" dirty="0"/>
              <a:t>for newly created files</a:t>
            </a:r>
          </a:p>
          <a:p>
            <a:pPr lvl="1"/>
            <a:r>
              <a:rPr lang="en-US" dirty="0"/>
              <a:t>Modified by </a:t>
            </a:r>
            <a:r>
              <a:rPr lang="en-US" i="1" dirty="0" err="1"/>
              <a:t>umask</a:t>
            </a:r>
            <a:r>
              <a:rPr lang="en-US" dirty="0"/>
              <a:t> setting (see </a:t>
            </a:r>
            <a:r>
              <a:rPr lang="en-US" dirty="0">
                <a:latin typeface="Consolas" panose="020B0609020204030204" pitchFamily="49" charset="0"/>
              </a:rPr>
              <a:t>man </a:t>
            </a:r>
            <a:r>
              <a:rPr lang="en-US" dirty="0" err="1">
                <a:latin typeface="Consolas" panose="020B0609020204030204" pitchFamily="49" charset="0"/>
              </a:rPr>
              <a:t>umask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Use DEFFILEMODE (from </a:t>
            </a:r>
            <a:r>
              <a:rPr lang="en-US" dirty="0">
                <a:latin typeface="Consolas" panose="020B0609020204030204" pitchFamily="49" charset="0"/>
              </a:rPr>
              <a:t>sys/</a:t>
            </a:r>
            <a:r>
              <a:rPr lang="en-US" dirty="0" err="1">
                <a:latin typeface="Consolas" panose="020B0609020204030204" pitchFamily="49" charset="0"/>
              </a:rPr>
              <a:t>stat.h</a:t>
            </a:r>
            <a:r>
              <a:rPr lang="en-US" dirty="0"/>
              <a:t>) unless you have a specific reason to want something else</a:t>
            </a:r>
          </a:p>
          <a:p>
            <a:pPr lvl="1"/>
            <a:r>
              <a:rPr lang="en-US" dirty="0"/>
              <a:t>More explanation:</a:t>
            </a:r>
          </a:p>
          <a:p>
            <a:pPr lvl="2"/>
            <a:r>
              <a:rPr lang="en-US" sz="1800" dirty="0">
                <a:hlinkClick r:id="rId2"/>
              </a:rPr>
              <a:t>https://linuxfoundation.org/blog/classic-sysadmin-understanding-linux-file-permissions/</a:t>
            </a:r>
            <a:endParaRPr lang="en-US" sz="1800" dirty="0"/>
          </a:p>
          <a:p>
            <a:pPr lvl="2"/>
            <a:r>
              <a:rPr lang="en-US" sz="1800" dirty="0">
                <a:hlinkClick r:id="rId3"/>
              </a:rPr>
              <a:t>https://linuxcommand.org/lc3_lts0090.php</a:t>
            </a:r>
            <a:endParaRPr lang="en-US" sz="1800" dirty="0"/>
          </a:p>
          <a:p>
            <a:pPr lvl="2"/>
            <a:r>
              <a:rPr lang="en-US" sz="1700" dirty="0">
                <a:hlinkClick r:id="rId4"/>
              </a:rPr>
              <a:t>https://devconnected.com/linux-file-permissions-complete-guide/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6662696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>
          <a:extLst>
            <a:ext uri="{FF2B5EF4-FFF2-40B4-BE49-F238E27FC236}">
              <a16:creationId xmlns:a16="http://schemas.microsoft.com/office/drawing/2014/main" id="{AC8AF83E-77D7-5CFD-2E2F-1F3968B20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hape 231">
            <a:extLst>
              <a:ext uri="{FF2B5EF4-FFF2-40B4-BE49-F238E27FC236}">
                <a16:creationId xmlns:a16="http://schemas.microsoft.com/office/drawing/2014/main" id="{05A43F72-D8E2-CAB0-38C6-157B0B1CB4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5001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Closing Files</a:t>
            </a:r>
            <a:endParaRPr/>
          </a:p>
        </p:txBody>
      </p:sp>
      <p:sp>
        <p:nvSpPr>
          <p:cNvPr id="232" name="Shape 232">
            <a:extLst>
              <a:ext uri="{FF2B5EF4-FFF2-40B4-BE49-F238E27FC236}">
                <a16:creationId xmlns:a16="http://schemas.microsoft.com/office/drawing/2014/main" id="{D23DAB77-9F02-5EFB-5EA0-23B3031EC5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920875" y="127063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Closing a file informs the kernel that you are finished accessing that file</a:t>
            </a:r>
            <a:endParaRPr lang="en-US" dirty="0"/>
          </a:p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endParaRPr lang="en-US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endParaRPr lang="en-US" dirty="0"/>
          </a:p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endParaRPr lang="en-US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endParaRPr lang="en-US" dirty="0"/>
          </a:p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endParaRPr lang="en-US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Take care not to close any file more than once</a:t>
            </a:r>
          </a:p>
          <a:p>
            <a:pPr marL="800100" lvl="1" indent="-342900">
              <a:spcBef>
                <a:spcPts val="0"/>
              </a:spcBef>
              <a:buSzPts val="1440"/>
              <a:buFont typeface="Wingdings" panose="05000000000000000000" pitchFamily="2" charset="2"/>
              <a:buChar char="§"/>
            </a:pPr>
            <a:r>
              <a:rPr lang="en-US" dirty="0"/>
              <a:t>Same as not calling free() twice on the same pointer</a:t>
            </a:r>
            <a:endParaRPr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Closing a file can fail!</a:t>
            </a:r>
          </a:p>
          <a:p>
            <a:pPr marL="800100" lvl="1" indent="-342900">
              <a:spcBef>
                <a:spcPts val="480"/>
              </a:spcBef>
              <a:buSzPts val="1440"/>
              <a:buFont typeface="Wingdings" panose="05000000000000000000" pitchFamily="2" charset="2"/>
              <a:buChar char="§"/>
            </a:pPr>
            <a:r>
              <a:rPr lang="en-US" dirty="0"/>
              <a:t>You might silently lose data if you don’t check!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DB1AA2E-31E7-DD9B-26FC-F6AEF20771CE}"/>
              </a:ext>
            </a:extLst>
          </p:cNvPr>
          <p:cNvGrpSpPr/>
          <p:nvPr/>
        </p:nvGrpSpPr>
        <p:grpSpPr>
          <a:xfrm>
            <a:off x="2314105" y="2238059"/>
            <a:ext cx="6773884" cy="1324548"/>
            <a:chOff x="895288" y="4161173"/>
            <a:chExt cx="7524376" cy="132454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E365242-E15E-99D8-1BE0-77BD89967415}"/>
                </a:ext>
              </a:extLst>
            </p:cNvPr>
            <p:cNvSpPr txBox="1"/>
            <p:nvPr/>
          </p:nvSpPr>
          <p:spPr>
            <a:xfrm>
              <a:off x="895288" y="4162282"/>
              <a:ext cx="329767" cy="132343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3C64CB6-4C80-C9A0-5B17-C38EDFA6D5AA}"/>
                </a:ext>
              </a:extLst>
            </p:cNvPr>
            <p:cNvSpPr txBox="1"/>
            <p:nvPr/>
          </p:nvSpPr>
          <p:spPr>
            <a:xfrm>
              <a:off x="1225055" y="4161173"/>
              <a:ext cx="7194609" cy="132343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lIns="182880" rIns="182880" rtlCol="0">
              <a:spAutoFit/>
            </a:bodyPr>
            <a:lstStyle/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if (close(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fd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) &lt; 0) {</a:t>
              </a: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  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fprintf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(stderr, "%s: write error: %s",</a:t>
              </a: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          filename, 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strerror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(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errno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));</a:t>
              </a: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  exit(1); </a:t>
              </a: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366403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238"/>
          <p:cNvSpPr txBox="1">
            <a:spLocks noGrp="1"/>
          </p:cNvSpPr>
          <p:nvPr>
            <p:ph type="title"/>
          </p:nvPr>
        </p:nvSpPr>
        <p:spPr>
          <a:xfrm>
            <a:off x="1905000" y="457201"/>
            <a:ext cx="6496050" cy="5730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Reading Files</a:t>
            </a:r>
            <a:endParaRPr/>
          </a:p>
        </p:txBody>
      </p:sp>
      <p:sp>
        <p:nvSpPr>
          <p:cNvPr id="239" name="Shape 239"/>
          <p:cNvSpPr txBox="1">
            <a:spLocks noGrp="1"/>
          </p:cNvSpPr>
          <p:nvPr>
            <p:ph type="body" idx="1"/>
          </p:nvPr>
        </p:nvSpPr>
        <p:spPr>
          <a:xfrm>
            <a:off x="1903414" y="1219200"/>
            <a:ext cx="8307387" cy="5257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lnSpc>
                <a:spcPct val="85000"/>
              </a:lnSpc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Reading a file copies bytes from the current file position to memory, and then updates file position</a:t>
            </a:r>
            <a:endParaRPr dirty="0"/>
          </a:p>
          <a:p>
            <a:pPr marL="342900" indent="-251459">
              <a:lnSpc>
                <a:spcPct val="85000"/>
              </a:lnSpc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lnSpc>
                <a:spcPct val="85000"/>
              </a:lnSpc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lnSpc>
                <a:spcPct val="85000"/>
              </a:lnSpc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lnSpc>
                <a:spcPct val="85000"/>
              </a:lnSpc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lnSpc>
                <a:spcPct val="85000"/>
              </a:lnSpc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lnSpc>
                <a:spcPct val="85000"/>
              </a:lnSpc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lnSpc>
                <a:spcPct val="85000"/>
              </a:lnSpc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lnSpc>
                <a:spcPct val="85000"/>
              </a:lnSpc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lnSpc>
                <a:spcPct val="85000"/>
              </a:lnSpc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Returns number of bytes read from file </a:t>
            </a:r>
            <a:r>
              <a:rPr lang="en-US" sz="24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fd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into </a:t>
            </a:r>
            <a:r>
              <a:rPr lang="en-US" sz="24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buf</a:t>
            </a:r>
            <a:endParaRPr sz="24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 type </a:t>
            </a:r>
            <a:r>
              <a:rPr lang="en-US" sz="20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ssize_t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signed integer</a:t>
            </a:r>
            <a:endParaRPr sz="20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nbytes</a:t>
            </a:r>
            <a:r>
              <a:rPr lang="en-US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&lt; 0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indicates that an error occurred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b="1" i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Short counts</a:t>
            </a:r>
            <a:r>
              <a:rPr lang="en-US" sz="20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20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nbytes</a:t>
            </a:r>
            <a:r>
              <a:rPr lang="en-US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&lt; </a:t>
            </a:r>
            <a:r>
              <a:rPr lang="en-US" sz="20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lang="en-US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0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buf</a:t>
            </a:r>
            <a:r>
              <a:rPr lang="en-US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are possible</a:t>
            </a:r>
            <a:b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are not errors!</a:t>
            </a:r>
            <a:endParaRPr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A8F9027-7031-9749-39CD-A821BF3468F1}"/>
              </a:ext>
            </a:extLst>
          </p:cNvPr>
          <p:cNvGrpSpPr/>
          <p:nvPr/>
        </p:nvGrpSpPr>
        <p:grpSpPr>
          <a:xfrm>
            <a:off x="2273014" y="2151173"/>
            <a:ext cx="6362986" cy="2555654"/>
            <a:chOff x="770645" y="4161173"/>
            <a:chExt cx="7067954" cy="2555654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0CF49FD-5376-A3F8-DAA2-DB04F1734BE8}"/>
                </a:ext>
              </a:extLst>
            </p:cNvPr>
            <p:cNvSpPr txBox="1"/>
            <p:nvPr/>
          </p:nvSpPr>
          <p:spPr>
            <a:xfrm>
              <a:off x="770645" y="4162282"/>
              <a:ext cx="454411" cy="255454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8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9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DA85B97-D44B-21CB-7CBD-733A9BAC0EAE}"/>
                </a:ext>
              </a:extLst>
            </p:cNvPr>
            <p:cNvSpPr txBox="1"/>
            <p:nvPr/>
          </p:nvSpPr>
          <p:spPr>
            <a:xfrm>
              <a:off x="1225056" y="4161173"/>
              <a:ext cx="6613543" cy="255454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lIns="182880" rIns="182880" rtlCol="0">
              <a:spAutoFit/>
            </a:bodyPr>
            <a:lstStyle/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char 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buf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[512];</a:t>
              </a: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int 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fd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;       </a:t>
              </a:r>
              <a:r>
                <a:rPr lang="en-US" sz="1600" dirty="0">
                  <a:solidFill>
                    <a:srgbClr val="C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/* file descriptor */</a:t>
              </a: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int 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nbytes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;   </a:t>
              </a:r>
              <a:r>
                <a:rPr lang="en-US" sz="1600" dirty="0">
                  <a:solidFill>
                    <a:srgbClr val="C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/* number of bytes read */</a:t>
              </a:r>
            </a:p>
            <a:p>
              <a:endParaRPr lang="en-US" sz="160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endParaRPr>
            </a:p>
            <a:p>
              <a:r>
                <a:rPr lang="en-US" sz="1600" dirty="0">
                  <a:solidFill>
                    <a:srgbClr val="C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/* Open file </a:t>
              </a:r>
              <a:r>
                <a:rPr lang="en-US" sz="1600" dirty="0" err="1">
                  <a:solidFill>
                    <a:srgbClr val="C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fd</a:t>
              </a:r>
              <a:r>
                <a:rPr lang="en-US" sz="1600" dirty="0">
                  <a:solidFill>
                    <a:srgbClr val="C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...  */</a:t>
              </a:r>
            </a:p>
            <a:p>
              <a:r>
                <a:rPr lang="en-US" sz="1600" dirty="0">
                  <a:solidFill>
                    <a:srgbClr val="C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/* Then read up to 512 bytes from file </a:t>
              </a:r>
              <a:r>
                <a:rPr lang="en-US" sz="1600" dirty="0" err="1">
                  <a:solidFill>
                    <a:srgbClr val="C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fd</a:t>
              </a:r>
              <a:r>
                <a:rPr lang="en-US" sz="1600" dirty="0">
                  <a:solidFill>
                    <a:srgbClr val="C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*/</a:t>
              </a: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if ((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nbytes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= read(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fd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, 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buf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, 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sizeof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(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buf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))) &lt; 0) {</a:t>
              </a: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  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perror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("read");</a:t>
              </a: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  exit(1);</a:t>
              </a: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}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 txBox="1">
            <a:spLocks noGrp="1"/>
          </p:cNvSpPr>
          <p:nvPr>
            <p:ph type="title"/>
          </p:nvPr>
        </p:nvSpPr>
        <p:spPr>
          <a:xfrm>
            <a:off x="1905001" y="457200"/>
            <a:ext cx="6634163" cy="57308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Writing Files</a:t>
            </a:r>
            <a:endParaRPr/>
          </a:p>
        </p:txBody>
      </p:sp>
      <p:sp>
        <p:nvSpPr>
          <p:cNvPr id="246" name="Shape 246"/>
          <p:cNvSpPr txBox="1">
            <a:spLocks noGrp="1"/>
          </p:cNvSpPr>
          <p:nvPr>
            <p:ph type="body" idx="1"/>
          </p:nvPr>
        </p:nvSpPr>
        <p:spPr>
          <a:xfrm>
            <a:off x="1905001" y="1143000"/>
            <a:ext cx="8548687" cy="5562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Writing a file copies bytes from memory to the current file position, and then updates current file position</a:t>
            </a:r>
            <a:endParaRPr dirty="0"/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endParaRPr lang="en-US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Returns number of bytes written from </a:t>
            </a:r>
            <a:r>
              <a:rPr lang="en-US" sz="24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buf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file </a:t>
            </a:r>
            <a:r>
              <a:rPr lang="en-US" sz="24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fd</a:t>
            </a: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nbytes</a:t>
            </a:r>
            <a:r>
              <a:rPr lang="en-US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&lt; 0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indicates that an error occurred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with reads, short counts are possible and are not errors!</a:t>
            </a:r>
            <a:endParaRPr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7910EA3-A42C-2237-6DE5-44A18B49D241}"/>
              </a:ext>
            </a:extLst>
          </p:cNvPr>
          <p:cNvGrpSpPr/>
          <p:nvPr/>
        </p:nvGrpSpPr>
        <p:grpSpPr>
          <a:xfrm>
            <a:off x="1905001" y="2028062"/>
            <a:ext cx="6558214" cy="2801876"/>
            <a:chOff x="770646" y="4161173"/>
            <a:chExt cx="7284812" cy="280187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78C651C-4A2B-8207-0C3D-6CF12A074AEC}"/>
                </a:ext>
              </a:extLst>
            </p:cNvPr>
            <p:cNvSpPr txBox="1"/>
            <p:nvPr/>
          </p:nvSpPr>
          <p:spPr>
            <a:xfrm>
              <a:off x="770646" y="4162282"/>
              <a:ext cx="454409" cy="280076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8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9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11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C59C870-2C0B-1396-1B36-AC2F7BDF07ED}"/>
                </a:ext>
              </a:extLst>
            </p:cNvPr>
            <p:cNvSpPr txBox="1"/>
            <p:nvPr/>
          </p:nvSpPr>
          <p:spPr>
            <a:xfrm>
              <a:off x="1225056" y="4161173"/>
              <a:ext cx="6830402" cy="280076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lIns="182880" rIns="182880" rtlCol="0">
              <a:spAutoFit/>
            </a:bodyPr>
            <a:lstStyle/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char 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buf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[512];</a:t>
              </a: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int 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fd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;       </a:t>
              </a:r>
              <a:r>
                <a:rPr lang="en-US" sz="1600" dirty="0">
                  <a:solidFill>
                    <a:srgbClr val="C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/* file descriptor */</a:t>
              </a: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int 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nbytes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;   </a:t>
              </a:r>
              <a:r>
                <a:rPr lang="en-US" sz="1600" dirty="0">
                  <a:solidFill>
                    <a:srgbClr val="C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/* number of bytes read */</a:t>
              </a:r>
            </a:p>
            <a:p>
              <a:endParaRPr lang="en-US" sz="160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endParaRPr>
            </a:p>
            <a:p>
              <a:endParaRPr lang="en-US" sz="1600" dirty="0">
                <a:solidFill>
                  <a:srgbClr val="C00000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endParaRPr>
            </a:p>
            <a:p>
              <a:r>
                <a:rPr lang="en-US" sz="1600" dirty="0">
                  <a:solidFill>
                    <a:srgbClr val="C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/* Open the file </a:t>
              </a:r>
              <a:r>
                <a:rPr lang="en-US" sz="1600" dirty="0" err="1">
                  <a:solidFill>
                    <a:srgbClr val="C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fd</a:t>
              </a:r>
              <a:r>
                <a:rPr lang="en-US" sz="1600" dirty="0">
                  <a:solidFill>
                    <a:srgbClr val="C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... */</a:t>
              </a:r>
            </a:p>
            <a:p>
              <a:r>
                <a:rPr lang="en-US" sz="1600" dirty="0">
                  <a:solidFill>
                    <a:srgbClr val="C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/* Then write up to 512 bytes from </a:t>
              </a:r>
              <a:r>
                <a:rPr lang="en-US" sz="1600" dirty="0" err="1">
                  <a:solidFill>
                    <a:srgbClr val="C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buf</a:t>
              </a:r>
              <a:r>
                <a:rPr lang="en-US" sz="1600" dirty="0">
                  <a:solidFill>
                    <a:srgbClr val="C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to file </a:t>
              </a:r>
              <a:r>
                <a:rPr lang="en-US" sz="1600" dirty="0" err="1">
                  <a:solidFill>
                    <a:srgbClr val="C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fd</a:t>
              </a:r>
              <a:r>
                <a:rPr lang="en-US" sz="1600" dirty="0">
                  <a:solidFill>
                    <a:srgbClr val="C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*/</a:t>
              </a: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if ((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nbytes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= write(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fd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, 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buf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, 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sizeof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(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buf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)) &lt; 0) {</a:t>
              </a: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  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perror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("write");</a:t>
              </a: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  exit(1);</a:t>
              </a: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}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252"/>
          <p:cNvSpPr txBox="1">
            <a:spLocks noGrp="1"/>
          </p:cNvSpPr>
          <p:nvPr>
            <p:ph type="title"/>
          </p:nvPr>
        </p:nvSpPr>
        <p:spPr>
          <a:xfrm>
            <a:off x="1881019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Simple Unix I/O example</a:t>
            </a:r>
            <a:endParaRPr/>
          </a:p>
        </p:txBody>
      </p:sp>
      <p:sp>
        <p:nvSpPr>
          <p:cNvPr id="253" name="Shape 253"/>
          <p:cNvSpPr txBox="1">
            <a:spLocks noGrp="1"/>
          </p:cNvSpPr>
          <p:nvPr>
            <p:ph type="body" idx="1"/>
          </p:nvPr>
        </p:nvSpPr>
        <p:spPr>
          <a:xfrm>
            <a:off x="1905000" y="1143000"/>
            <a:ext cx="86106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Copying stdin to </a:t>
            </a:r>
            <a:r>
              <a:rPr lang="en-US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stdout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one byte at a time</a:t>
            </a:r>
            <a:endParaRPr dirty="0"/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5" name="Shape 255"/>
          <p:cNvGrpSpPr/>
          <p:nvPr/>
        </p:nvGrpSpPr>
        <p:grpSpPr>
          <a:xfrm>
            <a:off x="3824220" y="2670038"/>
            <a:ext cx="6386580" cy="2477218"/>
            <a:chOff x="2317173" y="3067972"/>
            <a:chExt cx="6386580" cy="2477218"/>
          </a:xfrm>
        </p:grpSpPr>
        <p:sp>
          <p:nvSpPr>
            <p:cNvPr id="256" name="Shape 256"/>
            <p:cNvSpPr/>
            <p:nvPr/>
          </p:nvSpPr>
          <p:spPr>
            <a:xfrm>
              <a:off x="2317173" y="3067972"/>
              <a:ext cx="457200" cy="685800"/>
            </a:xfrm>
            <a:prstGeom prst="noSmoking">
              <a:avLst>
                <a:gd name="adj" fmla="val 18750"/>
              </a:avLst>
            </a:prstGeom>
            <a:solidFill>
              <a:srgbClr val="FF000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Shape 257"/>
            <p:cNvSpPr txBox="1"/>
            <p:nvPr/>
          </p:nvSpPr>
          <p:spPr>
            <a:xfrm>
              <a:off x="2774373" y="5083525"/>
              <a:ext cx="5929380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r>
                <a:rPr lang="en-US" sz="24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Always check return codes from system calls!</a:t>
              </a:r>
              <a:endParaRPr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E327AA5-E6E1-C77C-4166-21C043BE03A7}"/>
              </a:ext>
            </a:extLst>
          </p:cNvPr>
          <p:cNvGrpSpPr/>
          <p:nvPr/>
        </p:nvGrpSpPr>
        <p:grpSpPr>
          <a:xfrm>
            <a:off x="2539980" y="1718733"/>
            <a:ext cx="6446004" cy="2063212"/>
            <a:chOff x="895288" y="4161173"/>
            <a:chExt cx="7160170" cy="206321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DC9CABE-A4C9-2A97-CAD4-1A341DFDD1BD}"/>
                </a:ext>
              </a:extLst>
            </p:cNvPr>
            <p:cNvSpPr txBox="1"/>
            <p:nvPr/>
          </p:nvSpPr>
          <p:spPr>
            <a:xfrm>
              <a:off x="895288" y="4162282"/>
              <a:ext cx="329768" cy="20621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8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7113A02-6E9E-A80A-36C5-71EA802539A8}"/>
                </a:ext>
              </a:extLst>
            </p:cNvPr>
            <p:cNvSpPr txBox="1"/>
            <p:nvPr/>
          </p:nvSpPr>
          <p:spPr>
            <a:xfrm>
              <a:off x="1225055" y="4161173"/>
              <a:ext cx="6830403" cy="206210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lIns="182880" rIns="182880" rtlCol="0">
              <a:spAutoFit/>
            </a:bodyPr>
            <a:lstStyle/>
            <a:p>
              <a:r>
                <a:rPr lang="en-US" sz="1600" dirty="0">
                  <a:solidFill>
                    <a:srgbClr val="926492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#include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</a:t>
              </a:r>
              <a:r>
                <a:rPr lang="en-US" sz="1600" dirty="0">
                  <a:solidFill>
                    <a:srgbClr val="9D206F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&lt;</a:t>
              </a:r>
              <a:r>
                <a:rPr lang="en-US" sz="1600" dirty="0" err="1">
                  <a:solidFill>
                    <a:srgbClr val="9D206F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unistd.h</a:t>
              </a:r>
              <a:r>
                <a:rPr lang="en-US" sz="1600" dirty="0">
                  <a:solidFill>
                    <a:srgbClr val="9D206F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&gt;</a:t>
              </a:r>
              <a:endPara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endParaRPr>
            </a:p>
            <a:p>
              <a:endPara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endParaRPr>
            </a:p>
            <a:p>
              <a:r>
                <a:rPr lang="en-US" sz="1600" dirty="0">
                  <a:solidFill>
                    <a:srgbClr val="2D961E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int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</a:t>
              </a:r>
              <a:r>
                <a:rPr lang="en-US" sz="1600" dirty="0">
                  <a:solidFill>
                    <a:srgbClr val="4A00FF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main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(</a:t>
              </a:r>
              <a:r>
                <a:rPr lang="en-US" sz="1600" dirty="0">
                  <a:solidFill>
                    <a:srgbClr val="2D961E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void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)</a:t>
              </a:r>
              <a:r>
                <a:rPr lang="en-US" sz="1600" dirty="0"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</a:rPr>
                <a:t> 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{</a:t>
              </a:r>
              <a:endParaRPr lang="en-US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   </a:t>
              </a:r>
              <a:r>
                <a:rPr lang="en-US" sz="1600" dirty="0">
                  <a:solidFill>
                    <a:srgbClr val="2D961E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char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</a:t>
              </a:r>
              <a:r>
                <a:rPr lang="en-US" sz="1600" dirty="0">
                  <a:solidFill>
                    <a:srgbClr val="C1651C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c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;</a:t>
              </a:r>
            </a:p>
            <a:p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   </a:t>
              </a:r>
              <a:r>
                <a:rPr lang="en-US" sz="1600" dirty="0">
                  <a:solidFill>
                    <a:srgbClr val="C200FF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while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(read(STDIN_FILENO, &amp;c, 1) != 0)</a:t>
              </a:r>
              <a:endParaRPr lang="en-US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       write(STDOUT_FILENO, &amp;c, 1);</a:t>
              </a:r>
              <a:endParaRPr lang="en-US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   return 0;</a:t>
              </a:r>
              <a:endParaRPr lang="en-US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}</a:t>
              </a:r>
            </a:p>
          </p:txBody>
        </p:sp>
      </p:grpSp>
      <p:sp>
        <p:nvSpPr>
          <p:cNvPr id="8" name="&quot;No&quot; Symbol 7">
            <a:extLst>
              <a:ext uri="{FF2B5EF4-FFF2-40B4-BE49-F238E27FC236}">
                <a16:creationId xmlns:a16="http://schemas.microsoft.com/office/drawing/2014/main" id="{F06EE075-1440-FD60-F61A-2481D465D1D0}"/>
              </a:ext>
            </a:extLst>
          </p:cNvPr>
          <p:cNvSpPr/>
          <p:nvPr/>
        </p:nvSpPr>
        <p:spPr>
          <a:xfrm>
            <a:off x="4731938" y="2503839"/>
            <a:ext cx="914400" cy="914400"/>
          </a:xfrm>
          <a:prstGeom prst="noSmoking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Shape 262"/>
          <p:cNvSpPr txBox="1">
            <a:spLocks noGrp="1"/>
          </p:cNvSpPr>
          <p:nvPr>
            <p:ph type="title"/>
          </p:nvPr>
        </p:nvSpPr>
        <p:spPr>
          <a:xfrm>
            <a:off x="1881019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Simple Unix I/O example</a:t>
            </a:r>
            <a:endParaRPr/>
          </a:p>
        </p:txBody>
      </p:sp>
      <p:sp>
        <p:nvSpPr>
          <p:cNvPr id="263" name="Shape 263"/>
          <p:cNvSpPr txBox="1">
            <a:spLocks noGrp="1"/>
          </p:cNvSpPr>
          <p:nvPr>
            <p:ph type="body" idx="1"/>
          </p:nvPr>
        </p:nvSpPr>
        <p:spPr>
          <a:xfrm>
            <a:off x="1905000" y="1143000"/>
            <a:ext cx="86106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Copying stdin to </a:t>
            </a:r>
            <a:r>
              <a:rPr lang="en-US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stdout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one byte at a time</a:t>
            </a:r>
            <a:endParaRPr dirty="0"/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A8DFC45-218F-1B37-2E5A-7135A6C16CB8}"/>
              </a:ext>
            </a:extLst>
          </p:cNvPr>
          <p:cNvGrpSpPr/>
          <p:nvPr/>
        </p:nvGrpSpPr>
        <p:grpSpPr>
          <a:xfrm>
            <a:off x="1881019" y="1781554"/>
            <a:ext cx="6363050" cy="4771646"/>
            <a:chOff x="770574" y="4161173"/>
            <a:chExt cx="7068025" cy="477164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6FDA3DC-4F57-DC0B-0D9B-F184544965EF}"/>
                </a:ext>
              </a:extLst>
            </p:cNvPr>
            <p:cNvSpPr txBox="1"/>
            <p:nvPr/>
          </p:nvSpPr>
          <p:spPr>
            <a:xfrm>
              <a:off x="770574" y="4162282"/>
              <a:ext cx="454482" cy="477053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8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9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11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12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13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14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15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16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17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18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19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A6EADBE-F33F-5772-02A9-CADADFF15A6D}"/>
                </a:ext>
              </a:extLst>
            </p:cNvPr>
            <p:cNvSpPr txBox="1"/>
            <p:nvPr/>
          </p:nvSpPr>
          <p:spPr>
            <a:xfrm>
              <a:off x="1225056" y="4161173"/>
              <a:ext cx="6613543" cy="477053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lIns="182880" rIns="182880" rtlCol="0">
              <a:spAutoFit/>
            </a:bodyPr>
            <a:lstStyle/>
            <a:p>
              <a:r>
                <a:rPr lang="en-US" sz="1600" dirty="0">
                  <a:solidFill>
                    <a:srgbClr val="926492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#include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</a:t>
              </a:r>
              <a:r>
                <a:rPr lang="en-US" sz="1600" dirty="0">
                  <a:solidFill>
                    <a:srgbClr val="9D206F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&lt;</a:t>
              </a:r>
              <a:r>
                <a:rPr lang="en-US" sz="1600" dirty="0" err="1">
                  <a:solidFill>
                    <a:srgbClr val="9D206F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unistd.h</a:t>
              </a:r>
              <a:r>
                <a:rPr lang="en-US" sz="1600" dirty="0">
                  <a:solidFill>
                    <a:srgbClr val="9D206F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&gt;</a:t>
              </a:r>
              <a:endPara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endParaRPr>
            </a:p>
            <a:p>
              <a:r>
                <a:rPr lang="en-US" sz="1600" dirty="0">
                  <a:solidFill>
                    <a:srgbClr val="926492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#include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</a:t>
              </a:r>
              <a:r>
                <a:rPr lang="en-US" sz="1600" dirty="0">
                  <a:solidFill>
                    <a:srgbClr val="9D206F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&lt;</a:t>
              </a:r>
              <a:r>
                <a:rPr lang="en-US" sz="1600" dirty="0" err="1">
                  <a:solidFill>
                    <a:srgbClr val="9D206F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stdio.h</a:t>
              </a:r>
              <a:r>
                <a:rPr lang="en-US" sz="1600" dirty="0">
                  <a:solidFill>
                    <a:srgbClr val="9D206F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&gt;</a:t>
              </a:r>
              <a:endPara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endParaRPr>
            </a:p>
            <a:p>
              <a:endPara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endParaRPr>
            </a:p>
            <a:p>
              <a:r>
                <a:rPr lang="en-US" sz="1600" dirty="0">
                  <a:solidFill>
                    <a:srgbClr val="2D961E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int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</a:t>
              </a:r>
              <a:r>
                <a:rPr lang="en-US" sz="1600" dirty="0">
                  <a:solidFill>
                    <a:srgbClr val="4A00FF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main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(</a:t>
              </a:r>
              <a:r>
                <a:rPr lang="en-US" sz="1600" dirty="0">
                  <a:solidFill>
                    <a:srgbClr val="2D961E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void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)</a:t>
              </a:r>
              <a:r>
                <a:rPr lang="en-US" sz="1600" dirty="0"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</a:rPr>
                <a:t> 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{</a:t>
              </a:r>
              <a:endParaRPr lang="en-US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   </a:t>
              </a:r>
              <a:r>
                <a:rPr lang="en-US" sz="1600" dirty="0">
                  <a:solidFill>
                    <a:srgbClr val="2D961E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char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</a:t>
              </a:r>
              <a:r>
                <a:rPr lang="en-US" sz="1600" dirty="0">
                  <a:solidFill>
                    <a:srgbClr val="C1651C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c</a:t>
              </a:r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;</a:t>
              </a:r>
            </a:p>
            <a:p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    for (;;) {</a:t>
              </a:r>
            </a:p>
            <a:p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        </a:t>
              </a:r>
              <a:r>
                <a:rPr lang="en-US" sz="1600" dirty="0" err="1">
                  <a:solidFill>
                    <a:srgbClr val="2D961E"/>
                  </a:solidFill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ssize_t</a:t>
              </a:r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 </a:t>
              </a:r>
              <a:r>
                <a:rPr lang="en-US" sz="1600" dirty="0" err="1">
                  <a:solidFill>
                    <a:srgbClr val="C1651C"/>
                  </a:solidFill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nread</a:t>
              </a:r>
              <a:r>
                <a:rPr lang="en-US" sz="1600" dirty="0">
                  <a:solidFill>
                    <a:srgbClr val="C1651C"/>
                  </a:solidFill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 </a:t>
              </a:r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= read(STDIN_FILENO, &amp;c, 1);</a:t>
              </a:r>
            </a:p>
            <a:p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        if (</a:t>
              </a:r>
              <a:r>
                <a:rPr lang="en-US" sz="1600" dirty="0" err="1"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nread</a:t>
              </a:r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 == 0) {</a:t>
              </a:r>
            </a:p>
            <a:p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            return 0;</a:t>
              </a:r>
            </a:p>
            <a:p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        } else if (</a:t>
              </a:r>
              <a:r>
                <a:rPr lang="en-US" sz="1600" dirty="0" err="1"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nread</a:t>
              </a:r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 &lt; 0) {</a:t>
              </a:r>
            </a:p>
            <a:p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            </a:t>
              </a:r>
              <a:r>
                <a:rPr lang="en-US" sz="1600" dirty="0" err="1"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perror</a:t>
              </a:r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("stdin");</a:t>
              </a:r>
            </a:p>
            <a:p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            return 1;</a:t>
              </a:r>
            </a:p>
            <a:p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        }</a:t>
              </a:r>
            </a:p>
            <a:p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        if (write(STDOUT_FILENO, &amp;c, 1) &lt; 1) {</a:t>
              </a:r>
              <a:endParaRPr lang="en-US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            </a:t>
              </a:r>
              <a:r>
                <a:rPr lang="en-US" sz="1600" dirty="0" err="1"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perror</a:t>
              </a:r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("</a:t>
              </a:r>
              <a:r>
                <a:rPr lang="en-US" sz="1600" dirty="0" err="1"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stdout</a:t>
              </a:r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: write error");</a:t>
              </a:r>
            </a:p>
            <a:p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            return 1;</a:t>
              </a:r>
            </a:p>
            <a:p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        }</a:t>
              </a:r>
              <a:endPara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endParaRPr>
            </a:p>
            <a:p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   }</a:t>
              </a:r>
            </a:p>
            <a:p>
              <a:r>
                <a:rPr lang="en-US" sz="1600" dirty="0"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}</a:t>
              </a:r>
              <a:endPara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Shape 262"/>
          <p:cNvSpPr txBox="1">
            <a:spLocks noGrp="1"/>
          </p:cNvSpPr>
          <p:nvPr>
            <p:ph type="title"/>
          </p:nvPr>
        </p:nvSpPr>
        <p:spPr>
          <a:xfrm>
            <a:off x="1881019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Simple Unix I/O example</a:t>
            </a:r>
            <a:endParaRPr/>
          </a:p>
        </p:txBody>
      </p:sp>
      <p:sp>
        <p:nvSpPr>
          <p:cNvPr id="263" name="Shape 263"/>
          <p:cNvSpPr txBox="1">
            <a:spLocks noGrp="1"/>
          </p:cNvSpPr>
          <p:nvPr>
            <p:ph type="body" idx="1"/>
          </p:nvPr>
        </p:nvSpPr>
        <p:spPr>
          <a:xfrm>
            <a:off x="1905000" y="1143000"/>
            <a:ext cx="86106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Copying stdin to </a:t>
            </a:r>
            <a:r>
              <a:rPr lang="en-US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stdout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one byte at a time</a:t>
            </a:r>
            <a:endParaRPr dirty="0"/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8816A9-8C9A-4547-9089-B28F8DC92D02}"/>
              </a:ext>
            </a:extLst>
          </p:cNvPr>
          <p:cNvSpPr txBox="1"/>
          <p:nvPr/>
        </p:nvSpPr>
        <p:spPr>
          <a:xfrm>
            <a:off x="3039533" y="4986868"/>
            <a:ext cx="67987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“Stevens wrappers” make things shorter…</a:t>
            </a:r>
          </a:p>
          <a:p>
            <a:r>
              <a:rPr lang="en-US" sz="20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but they don’t let you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recover</a:t>
            </a:r>
            <a:r>
              <a:rPr lang="en-US" sz="20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from errors</a:t>
            </a:r>
            <a:r>
              <a:rPr lang="en-US" sz="2800" b="1" i="1" dirty="0"/>
              <a:t>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19A7AA6-CC69-BCC2-4AF1-4E372BB2C98E}"/>
              </a:ext>
            </a:extLst>
          </p:cNvPr>
          <p:cNvGrpSpPr/>
          <p:nvPr/>
        </p:nvGrpSpPr>
        <p:grpSpPr>
          <a:xfrm>
            <a:off x="2438915" y="1819406"/>
            <a:ext cx="6250775" cy="2309433"/>
            <a:chOff x="895288" y="4161173"/>
            <a:chExt cx="6943311" cy="230943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CFEC69F-CC67-F555-CFA6-8E0D4625C75E}"/>
                </a:ext>
              </a:extLst>
            </p:cNvPr>
            <p:cNvSpPr txBox="1"/>
            <p:nvPr/>
          </p:nvSpPr>
          <p:spPr>
            <a:xfrm>
              <a:off x="895288" y="4162282"/>
              <a:ext cx="329767" cy="23083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8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9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2EDBE8A-63FF-1D59-DC8A-B95C0D37D1AB}"/>
                </a:ext>
              </a:extLst>
            </p:cNvPr>
            <p:cNvSpPr txBox="1"/>
            <p:nvPr/>
          </p:nvSpPr>
          <p:spPr>
            <a:xfrm>
              <a:off x="1225056" y="4161173"/>
              <a:ext cx="6613543" cy="230832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lIns="182880" rIns="182880" rtlCol="0">
              <a:spAutoFit/>
            </a:bodyPr>
            <a:lstStyle/>
            <a:p>
              <a:r>
                <a:rPr lang="en-US" sz="1600" dirty="0">
                  <a:solidFill>
                    <a:srgbClr val="926492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#include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</a:t>
              </a:r>
              <a:r>
                <a:rPr lang="en-US" sz="1600" dirty="0">
                  <a:solidFill>
                    <a:srgbClr val="9D206F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"</a:t>
              </a:r>
              <a:r>
                <a:rPr lang="en-US" sz="1600" dirty="0" err="1">
                  <a:solidFill>
                    <a:srgbClr val="9D206F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csapp.h</a:t>
              </a:r>
              <a:r>
                <a:rPr lang="en-US" sz="1600" dirty="0">
                  <a:solidFill>
                    <a:srgbClr val="9D206F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"</a:t>
              </a:r>
              <a:endPara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endParaRPr>
            </a:p>
            <a:p>
              <a:endPara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endParaRPr>
            </a:p>
            <a:p>
              <a:r>
                <a:rPr lang="en-US" sz="1600" dirty="0">
                  <a:solidFill>
                    <a:srgbClr val="2D961E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int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</a:t>
              </a:r>
              <a:r>
                <a:rPr lang="en-US" sz="1600" dirty="0">
                  <a:solidFill>
                    <a:srgbClr val="4A00FF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main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(</a:t>
              </a:r>
              <a:r>
                <a:rPr lang="en-US" sz="1600" dirty="0">
                  <a:solidFill>
                    <a:srgbClr val="2D961E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void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)</a:t>
              </a:r>
              <a:r>
                <a:rPr lang="en-US" sz="1600" dirty="0"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</a:rPr>
                <a:t> 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{</a:t>
              </a:r>
              <a:endParaRPr lang="en-US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   </a:t>
              </a:r>
              <a:r>
                <a:rPr lang="en-US" sz="1600" dirty="0">
                  <a:solidFill>
                    <a:srgbClr val="2D961E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char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</a:t>
              </a:r>
              <a:r>
                <a:rPr lang="en-US" sz="1600" dirty="0">
                  <a:solidFill>
                    <a:srgbClr val="C1651C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c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;</a:t>
              </a:r>
            </a:p>
            <a:p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   </a:t>
              </a:r>
              <a:r>
                <a:rPr lang="en-US" sz="1600" dirty="0">
                  <a:solidFill>
                    <a:srgbClr val="C200FF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while 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(Read(STDIN_FILENO, &amp;c, 1) != 0) {</a:t>
              </a:r>
              <a:endParaRPr lang="en-US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       Write(STDOUT_FILENO, &amp;c, 1);</a:t>
              </a:r>
            </a:p>
            <a:p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    }</a:t>
              </a:r>
              <a:endParaRPr lang="en-US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   return 0;</a:t>
              </a:r>
              <a:endParaRPr lang="en-US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157521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Shape 269"/>
          <p:cNvSpPr txBox="1">
            <a:spLocks noGrp="1"/>
          </p:cNvSpPr>
          <p:nvPr>
            <p:ph type="title"/>
          </p:nvPr>
        </p:nvSpPr>
        <p:spPr>
          <a:xfrm>
            <a:off x="1905001" y="457200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Short Counts</a:t>
            </a:r>
            <a:endParaRPr sz="3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Shape 270"/>
          <p:cNvSpPr txBox="1">
            <a:spLocks noGrp="1"/>
          </p:cNvSpPr>
          <p:nvPr>
            <p:ph type="body" idx="1"/>
          </p:nvPr>
        </p:nvSpPr>
        <p:spPr>
          <a:xfrm>
            <a:off x="1912638" y="1295400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Short counts can occur in these situations: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Encountering (end-of-file) EOF on reads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Reading text lines from a terminal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Reading and writing network sockets, pipes, etc.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Short counts never occur in these situations: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Reading from disk files (except for EOF)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Writing to disk files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Best practice is to always allow for short counts. </a:t>
            </a: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49A65-DB00-FE82-9868-49A2DA1C4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16C7A-610B-8AA6-DE4E-BCB50FBAA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Today: </a:t>
            </a:r>
            <a:r>
              <a:rPr lang="en-US" dirty="0"/>
              <a:t>How does systems I/O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4B0B3-EC1B-50F3-CBAA-06580DCBF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Unix I/O</a:t>
            </a:r>
          </a:p>
          <a:p>
            <a:r>
              <a:rPr lang="en-US" sz="4000" b="1" dirty="0"/>
              <a:t>Standard I/O</a:t>
            </a:r>
          </a:p>
          <a:p>
            <a:r>
              <a:rPr lang="en-US" sz="4000" dirty="0"/>
              <a:t>Which I/O when</a:t>
            </a:r>
          </a:p>
          <a:p>
            <a:r>
              <a:rPr lang="en-US" sz="4000" dirty="0"/>
              <a:t>Metadata, sharing, and redirection</a:t>
            </a:r>
          </a:p>
          <a:p>
            <a:endParaRPr lang="en-US" sz="4000" b="1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50378C-4815-168E-32D3-407494604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8FB5B-1F60-994B-8E33-8E782B4CF04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731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381"/>
          <p:cNvSpPr txBox="1">
            <a:spLocks noGrp="1"/>
          </p:cNvSpPr>
          <p:nvPr>
            <p:ph type="title"/>
          </p:nvPr>
        </p:nvSpPr>
        <p:spPr>
          <a:xfrm>
            <a:off x="1908194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 I/O Functions</a:t>
            </a:r>
            <a:endParaRPr/>
          </a:p>
        </p:txBody>
      </p:sp>
      <p:sp>
        <p:nvSpPr>
          <p:cNvPr id="382" name="Shape 382"/>
          <p:cNvSpPr txBox="1">
            <a:spLocks noGrp="1"/>
          </p:cNvSpPr>
          <p:nvPr>
            <p:ph type="body" idx="1"/>
          </p:nvPr>
        </p:nvSpPr>
        <p:spPr>
          <a:xfrm>
            <a:off x="1908862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 standard library (</a:t>
            </a:r>
            <a: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libc.so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contains a collection of higher-level </a:t>
            </a:r>
            <a:r>
              <a:rPr lang="en-US" sz="2400" b="1" i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standard I/O 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functions</a:t>
            </a:r>
            <a:endParaRPr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Documented in Appendix B of K&amp;R</a:t>
            </a:r>
            <a:endParaRPr/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 of standard I/O functions:</a:t>
            </a:r>
            <a:endParaRPr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Opening and closing files (</a:t>
            </a: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fopen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fclose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Reading and writing bytes (</a:t>
            </a: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fread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fwrite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Reading and writing text lines (</a:t>
            </a: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fgets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fputs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Formatted reading and writing (</a:t>
            </a: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fscanf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fprintf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Shape 387"/>
          <p:cNvSpPr txBox="1">
            <a:spLocks noGrp="1"/>
          </p:cNvSpPr>
          <p:nvPr>
            <p:ph type="title"/>
          </p:nvPr>
        </p:nvSpPr>
        <p:spPr>
          <a:xfrm>
            <a:off x="1881019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 I/O Streams</a:t>
            </a:r>
            <a:endParaRPr/>
          </a:p>
        </p:txBody>
      </p:sp>
      <p:sp>
        <p:nvSpPr>
          <p:cNvPr id="388" name="Shape 388"/>
          <p:cNvSpPr txBox="1">
            <a:spLocks noGrp="1"/>
          </p:cNvSpPr>
          <p:nvPr>
            <p:ph type="body" idx="1"/>
          </p:nvPr>
        </p:nvSpPr>
        <p:spPr>
          <a:xfrm>
            <a:off x="1886938" y="1220788"/>
            <a:ext cx="8307387" cy="29702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 I/O models open files as </a:t>
            </a:r>
            <a:r>
              <a:rPr lang="en-US" sz="2400" b="1" i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streams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Abstraction for a file descriptor and a buffer in memory</a:t>
            </a:r>
            <a:endParaRPr dirty="0"/>
          </a:p>
          <a:p>
            <a:pPr marL="742950" lvl="1" indent="-146050">
              <a:spcBef>
                <a:spcPts val="400"/>
              </a:spcBef>
              <a:buClr>
                <a:srgbClr val="990000"/>
              </a:buClr>
              <a:buSzPts val="2200"/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programs begin life with three open streams </a:t>
            </a:r>
            <a:b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(defined in </a:t>
            </a:r>
            <a:r>
              <a:rPr lang="en-US" sz="24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stdio.h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stdin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(standard input)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stdout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(standard output)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stderr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(standard error)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E548F4D-92F9-69C1-19BF-C1823AA1FE2D}"/>
              </a:ext>
            </a:extLst>
          </p:cNvPr>
          <p:cNvGrpSpPr/>
          <p:nvPr/>
        </p:nvGrpSpPr>
        <p:grpSpPr>
          <a:xfrm>
            <a:off x="1672102" y="4359110"/>
            <a:ext cx="7801010" cy="2063212"/>
            <a:chOff x="895288" y="4161173"/>
            <a:chExt cx="8665300" cy="206321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27B4231-1A12-C737-B2F5-2C25678685D8}"/>
                </a:ext>
              </a:extLst>
            </p:cNvPr>
            <p:cNvSpPr txBox="1"/>
            <p:nvPr/>
          </p:nvSpPr>
          <p:spPr>
            <a:xfrm>
              <a:off x="895288" y="4162282"/>
              <a:ext cx="329768" cy="20621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8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D9C9A8F-F51F-69E7-0123-90B11953DB21}"/>
                </a:ext>
              </a:extLst>
            </p:cNvPr>
            <p:cNvSpPr txBox="1"/>
            <p:nvPr/>
          </p:nvSpPr>
          <p:spPr>
            <a:xfrm>
              <a:off x="1225055" y="4161173"/>
              <a:ext cx="8335533" cy="206210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lIns="182880" rIns="182880" rtlCol="0">
              <a:spAutoFit/>
            </a:bodyPr>
            <a:lstStyle/>
            <a:p>
              <a:r>
                <a:rPr lang="en-US" sz="1600" b="1" dirty="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#include &lt;</a:t>
              </a:r>
              <a:r>
                <a:rPr lang="en-US" sz="1600" b="1" dirty="0" err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stdio.h</a:t>
              </a:r>
              <a:r>
                <a:rPr lang="en-US" sz="1600" b="1" dirty="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&gt;</a:t>
              </a:r>
              <a:endParaRPr lang="en-US" sz="1600" dirty="0"/>
            </a:p>
            <a:p>
              <a:r>
                <a:rPr lang="en-US" sz="1600" b="1" dirty="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extern FILE *stdin;  </a:t>
              </a:r>
              <a:r>
                <a:rPr lang="en-US" sz="1600" b="1" dirty="0">
                  <a:solidFill>
                    <a:srgbClr val="99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/* standard input  (descriptor 0) */</a:t>
              </a:r>
            </a:p>
            <a:p>
              <a:r>
                <a:rPr lang="en-US" sz="1600" b="1" dirty="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extern FILE *</a:t>
              </a:r>
              <a:r>
                <a:rPr lang="en-US" sz="1600" b="1" dirty="0" err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stdout</a:t>
              </a:r>
              <a:r>
                <a:rPr lang="en-US" sz="1600" b="1" dirty="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 </a:t>
              </a:r>
              <a:r>
                <a:rPr lang="en-US" sz="1600" b="1" dirty="0">
                  <a:solidFill>
                    <a:srgbClr val="99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/* standard output (descriptor 1) */</a:t>
              </a:r>
            </a:p>
            <a:p>
              <a:r>
                <a:rPr lang="en-US" sz="1600" b="1" dirty="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extern FILE *stderr; </a:t>
              </a:r>
              <a:r>
                <a:rPr lang="en-US" sz="1600" b="1" dirty="0">
                  <a:solidFill>
                    <a:srgbClr val="99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/* standard error  (descriptor 2) */</a:t>
              </a:r>
            </a:p>
            <a:p>
              <a:endParaRPr lang="en-US" sz="16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r>
                <a:rPr lang="en-US" sz="1600" b="1" dirty="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 main() {</a:t>
              </a:r>
              <a:endParaRPr lang="en-US" sz="1600" dirty="0"/>
            </a:p>
            <a:p>
              <a:r>
                <a:rPr lang="en-US" sz="1600" b="1" dirty="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</a:t>
              </a:r>
              <a:r>
                <a:rPr lang="en-US" sz="1600" b="1" dirty="0" err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fprintf</a:t>
              </a:r>
              <a:r>
                <a:rPr lang="en-US" sz="1600" b="1" dirty="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lang="en-US" sz="1600" b="1" dirty="0" err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stdout</a:t>
              </a:r>
              <a:r>
                <a:rPr lang="en-US" sz="1600" b="1" dirty="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"Hello, world\n");</a:t>
              </a:r>
              <a:endParaRPr lang="en-US" sz="1600" dirty="0"/>
            </a:p>
            <a:p>
              <a:r>
                <a:rPr lang="en-US" sz="1600" b="1" dirty="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lang="en-US" sz="1600" dirty="0"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Shape 394"/>
          <p:cNvSpPr txBox="1">
            <a:spLocks noGrp="1"/>
          </p:cNvSpPr>
          <p:nvPr>
            <p:ph type="title"/>
          </p:nvPr>
        </p:nvSpPr>
        <p:spPr>
          <a:xfrm>
            <a:off x="1881019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Buffered I/O: Motivation</a:t>
            </a:r>
            <a:endParaRPr/>
          </a:p>
        </p:txBody>
      </p:sp>
      <p:sp>
        <p:nvSpPr>
          <p:cNvPr id="395" name="Shape 395"/>
          <p:cNvSpPr txBox="1">
            <a:spLocks noGrp="1"/>
          </p:cNvSpPr>
          <p:nvPr>
            <p:ph type="body" idx="1"/>
          </p:nvPr>
        </p:nvSpPr>
        <p:spPr>
          <a:xfrm>
            <a:off x="1886938" y="1220788"/>
            <a:ext cx="8307387" cy="43418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Applications often read/write one character at a time</a:t>
            </a:r>
            <a:endParaRPr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getc, putc, ungetc</a:t>
            </a:r>
            <a:endParaRPr sz="20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gets, fgets</a:t>
            </a:r>
            <a:endParaRPr sz="20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lvl="2">
              <a:spcBef>
                <a:spcPts val="400"/>
              </a:spcBef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 line of text one character at a time, stopping at newline</a:t>
            </a:r>
            <a:endParaRPr/>
          </a:p>
          <a:p>
            <a:pPr marL="342900" indent="-342900"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Implementing as Unix I/O calls expensive</a:t>
            </a:r>
            <a:endParaRPr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read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write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require Unix kernel calls</a:t>
            </a:r>
            <a:endParaRPr/>
          </a:p>
          <a:p>
            <a:pPr lvl="2">
              <a:spcBef>
                <a:spcPts val="400"/>
              </a:spcBef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10,000 clock cycles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Solution: Buffered read</a:t>
            </a:r>
            <a:endParaRPr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Unix </a:t>
            </a: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read</a:t>
            </a: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grab block of bytes</a:t>
            </a:r>
            <a:endParaRPr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input functions take one byte at a time from buffer</a:t>
            </a:r>
            <a:endParaRPr/>
          </a:p>
          <a:p>
            <a:pPr lvl="2">
              <a:spcBef>
                <a:spcPts val="400"/>
              </a:spcBef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Refill buffer when empty</a:t>
            </a:r>
            <a:endParaRPr/>
          </a:p>
        </p:txBody>
      </p:sp>
      <p:sp>
        <p:nvSpPr>
          <p:cNvPr id="396" name="Shape 396"/>
          <p:cNvSpPr/>
          <p:nvPr/>
        </p:nvSpPr>
        <p:spPr>
          <a:xfrm>
            <a:off x="5350476" y="5807076"/>
            <a:ext cx="2362200" cy="441325"/>
          </a:xfrm>
          <a:prstGeom prst="rect">
            <a:avLst/>
          </a:prstGeom>
          <a:solidFill>
            <a:srgbClr val="F1C7C7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unread</a:t>
            </a:r>
            <a:endParaRPr/>
          </a:p>
        </p:txBody>
      </p:sp>
      <p:sp>
        <p:nvSpPr>
          <p:cNvPr id="397" name="Shape 397"/>
          <p:cNvSpPr/>
          <p:nvPr/>
        </p:nvSpPr>
        <p:spPr>
          <a:xfrm>
            <a:off x="2988276" y="5807076"/>
            <a:ext cx="2362200" cy="441325"/>
          </a:xfrm>
          <a:prstGeom prst="rect">
            <a:avLst/>
          </a:prstGeom>
          <a:solidFill>
            <a:srgbClr val="D5F1CF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already read</a:t>
            </a:r>
            <a:endParaRPr/>
          </a:p>
        </p:txBody>
      </p:sp>
      <p:sp>
        <p:nvSpPr>
          <p:cNvPr id="398" name="Shape 398"/>
          <p:cNvSpPr/>
          <p:nvPr/>
        </p:nvSpPr>
        <p:spPr>
          <a:xfrm>
            <a:off x="2988276" y="5807076"/>
            <a:ext cx="6096000" cy="441325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Shape 399"/>
          <p:cNvSpPr txBox="1"/>
          <p:nvPr/>
        </p:nvSpPr>
        <p:spPr>
          <a:xfrm>
            <a:off x="2133600" y="5831299"/>
            <a:ext cx="84234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000" b="1" i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Buffer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Shape 404"/>
          <p:cNvSpPr txBox="1">
            <a:spLocks noGrp="1"/>
          </p:cNvSpPr>
          <p:nvPr>
            <p:ph type="title"/>
          </p:nvPr>
        </p:nvSpPr>
        <p:spPr>
          <a:xfrm>
            <a:off x="1905001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Buffering in Standard I/O</a:t>
            </a:r>
            <a:endParaRPr dirty="0"/>
          </a:p>
        </p:txBody>
      </p:sp>
      <p:sp>
        <p:nvSpPr>
          <p:cNvPr id="405" name="Shape 405"/>
          <p:cNvSpPr txBox="1">
            <a:spLocks noGrp="1"/>
          </p:cNvSpPr>
          <p:nvPr>
            <p:ph type="body" idx="1"/>
          </p:nvPr>
        </p:nvSpPr>
        <p:spPr>
          <a:xfrm>
            <a:off x="1920876" y="1362075"/>
            <a:ext cx="7896225" cy="52673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 I/O functions use buffered I/O</a:t>
            </a:r>
            <a:endParaRPr dirty="0"/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endParaRPr lang="en-US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Buffer flushed to output </a:t>
            </a:r>
            <a:r>
              <a:rPr lang="en-US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 “\n”, call to </a:t>
            </a:r>
            <a:r>
              <a:rPr lang="en-US" sz="24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fflush</a:t>
            </a:r>
            <a:r>
              <a:rPr lang="en-US" sz="24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r>
              <a:rPr lang="en-US" sz="24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exit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-US" sz="24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 return from </a:t>
            </a:r>
            <a:r>
              <a:rPr lang="en-US" sz="24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main. </a:t>
            </a: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Shape 406"/>
          <p:cNvSpPr txBox="1"/>
          <p:nvPr/>
        </p:nvSpPr>
        <p:spPr>
          <a:xfrm>
            <a:off x="4068762" y="1905000"/>
            <a:ext cx="16510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printf("h");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Shape 407"/>
          <p:cNvSpPr/>
          <p:nvPr/>
        </p:nvSpPr>
        <p:spPr>
          <a:xfrm>
            <a:off x="4144962" y="3995737"/>
            <a:ext cx="457200" cy="228600"/>
          </a:xfrm>
          <a:prstGeom prst="rect">
            <a:avLst/>
          </a:prstGeom>
          <a:solidFill>
            <a:srgbClr val="D5D5F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/>
          </a:p>
        </p:txBody>
      </p:sp>
      <p:sp>
        <p:nvSpPr>
          <p:cNvPr id="408" name="Shape 408"/>
          <p:cNvSpPr/>
          <p:nvPr/>
        </p:nvSpPr>
        <p:spPr>
          <a:xfrm>
            <a:off x="4602162" y="3995737"/>
            <a:ext cx="457200" cy="228600"/>
          </a:xfrm>
          <a:prstGeom prst="rect">
            <a:avLst/>
          </a:prstGeom>
          <a:solidFill>
            <a:srgbClr val="D5D5F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sp>
        <p:nvSpPr>
          <p:cNvPr id="409" name="Shape 409"/>
          <p:cNvSpPr/>
          <p:nvPr/>
        </p:nvSpPr>
        <p:spPr>
          <a:xfrm>
            <a:off x="4983162" y="3995737"/>
            <a:ext cx="457200" cy="228600"/>
          </a:xfrm>
          <a:prstGeom prst="rect">
            <a:avLst/>
          </a:prstGeom>
          <a:solidFill>
            <a:srgbClr val="D5D5F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/>
          </a:p>
        </p:txBody>
      </p:sp>
      <p:sp>
        <p:nvSpPr>
          <p:cNvPr id="410" name="Shape 410"/>
          <p:cNvSpPr/>
          <p:nvPr/>
        </p:nvSpPr>
        <p:spPr>
          <a:xfrm>
            <a:off x="5440362" y="3995737"/>
            <a:ext cx="457200" cy="228600"/>
          </a:xfrm>
          <a:prstGeom prst="rect">
            <a:avLst/>
          </a:prstGeom>
          <a:solidFill>
            <a:srgbClr val="D5D5F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/>
          </a:p>
        </p:txBody>
      </p:sp>
      <p:sp>
        <p:nvSpPr>
          <p:cNvPr id="411" name="Shape 411"/>
          <p:cNvSpPr/>
          <p:nvPr/>
        </p:nvSpPr>
        <p:spPr>
          <a:xfrm>
            <a:off x="5897562" y="3995737"/>
            <a:ext cx="457200" cy="228600"/>
          </a:xfrm>
          <a:prstGeom prst="rect">
            <a:avLst/>
          </a:prstGeom>
          <a:solidFill>
            <a:srgbClr val="D5D5F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/>
          </a:p>
        </p:txBody>
      </p:sp>
      <p:sp>
        <p:nvSpPr>
          <p:cNvPr id="412" name="Shape 412"/>
          <p:cNvSpPr/>
          <p:nvPr/>
        </p:nvSpPr>
        <p:spPr>
          <a:xfrm>
            <a:off x="6354762" y="3995737"/>
            <a:ext cx="457200" cy="228600"/>
          </a:xfrm>
          <a:prstGeom prst="rect">
            <a:avLst/>
          </a:prstGeom>
          <a:solidFill>
            <a:srgbClr val="D5D5F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\n</a:t>
            </a:r>
            <a:endParaRPr/>
          </a:p>
        </p:txBody>
      </p:sp>
      <p:sp>
        <p:nvSpPr>
          <p:cNvPr id="413" name="Shape 413"/>
          <p:cNvSpPr/>
          <p:nvPr/>
        </p:nvSpPr>
        <p:spPr>
          <a:xfrm>
            <a:off x="6811962" y="3995737"/>
            <a:ext cx="457200" cy="228600"/>
          </a:xfrm>
          <a:prstGeom prst="rect">
            <a:avLst/>
          </a:prstGeom>
          <a:solidFill>
            <a:srgbClr val="D5D5F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414" name="Shape 414"/>
          <p:cNvSpPr/>
          <p:nvPr/>
        </p:nvSpPr>
        <p:spPr>
          <a:xfrm>
            <a:off x="7269162" y="3995737"/>
            <a:ext cx="457200" cy="228600"/>
          </a:xfrm>
          <a:prstGeom prst="rect">
            <a:avLst/>
          </a:prstGeom>
          <a:solidFill>
            <a:srgbClr val="D5D5F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cxnSp>
        <p:nvCxnSpPr>
          <p:cNvPr id="415" name="Shape 415"/>
          <p:cNvCxnSpPr/>
          <p:nvPr/>
        </p:nvCxnSpPr>
        <p:spPr>
          <a:xfrm>
            <a:off x="4373562" y="2319337"/>
            <a:ext cx="0" cy="16764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16" name="Shape 416"/>
          <p:cNvSpPr txBox="1"/>
          <p:nvPr/>
        </p:nvSpPr>
        <p:spPr>
          <a:xfrm>
            <a:off x="4525962" y="2133600"/>
            <a:ext cx="16510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printf("e");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7" name="Shape 417"/>
          <p:cNvCxnSpPr/>
          <p:nvPr/>
        </p:nvCxnSpPr>
        <p:spPr>
          <a:xfrm>
            <a:off x="4830762" y="2471737"/>
            <a:ext cx="0" cy="15240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18" name="Shape 418"/>
          <p:cNvSpPr txBox="1"/>
          <p:nvPr/>
        </p:nvSpPr>
        <p:spPr>
          <a:xfrm>
            <a:off x="4906962" y="2363787"/>
            <a:ext cx="16510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printf("l");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9" name="Shape 419"/>
          <p:cNvCxnSpPr/>
          <p:nvPr/>
        </p:nvCxnSpPr>
        <p:spPr>
          <a:xfrm>
            <a:off x="6583362" y="3462337"/>
            <a:ext cx="0" cy="5334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20" name="Shape 420"/>
          <p:cNvSpPr txBox="1"/>
          <p:nvPr/>
        </p:nvSpPr>
        <p:spPr>
          <a:xfrm>
            <a:off x="5283200" y="2624137"/>
            <a:ext cx="16510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printf("l");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1" name="Shape 421"/>
          <p:cNvCxnSpPr/>
          <p:nvPr/>
        </p:nvCxnSpPr>
        <p:spPr>
          <a:xfrm>
            <a:off x="6049962" y="3233737"/>
            <a:ext cx="0" cy="7620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22" name="Shape 422"/>
          <p:cNvSpPr txBox="1"/>
          <p:nvPr/>
        </p:nvSpPr>
        <p:spPr>
          <a:xfrm>
            <a:off x="5664200" y="2897187"/>
            <a:ext cx="16510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printf("o");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Shape 423"/>
          <p:cNvSpPr txBox="1"/>
          <p:nvPr/>
        </p:nvSpPr>
        <p:spPr>
          <a:xfrm>
            <a:off x="6151562" y="3157537"/>
            <a:ext cx="1773238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printf("\n");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4" name="Shape 424"/>
          <p:cNvCxnSpPr/>
          <p:nvPr/>
        </p:nvCxnSpPr>
        <p:spPr>
          <a:xfrm>
            <a:off x="5211762" y="2700337"/>
            <a:ext cx="0" cy="12954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5" name="Shape 425"/>
          <p:cNvCxnSpPr/>
          <p:nvPr/>
        </p:nvCxnSpPr>
        <p:spPr>
          <a:xfrm>
            <a:off x="5668962" y="2928937"/>
            <a:ext cx="0" cy="10668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6" name="Shape 426"/>
          <p:cNvCxnSpPr/>
          <p:nvPr/>
        </p:nvCxnSpPr>
        <p:spPr>
          <a:xfrm>
            <a:off x="5440362" y="4300537"/>
            <a:ext cx="0" cy="82296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27" name="Shape 427"/>
          <p:cNvSpPr txBox="1"/>
          <p:nvPr/>
        </p:nvSpPr>
        <p:spPr>
          <a:xfrm>
            <a:off x="5516563" y="4510088"/>
            <a:ext cx="2232025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fflush(stdout);</a:t>
            </a:r>
            <a:endParaRPr/>
          </a:p>
        </p:txBody>
      </p:sp>
      <p:sp>
        <p:nvSpPr>
          <p:cNvPr id="428" name="Shape 428"/>
          <p:cNvSpPr txBox="1"/>
          <p:nvPr/>
        </p:nvSpPr>
        <p:spPr>
          <a:xfrm>
            <a:off x="3154363" y="3076575"/>
            <a:ext cx="593725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buf</a:t>
            </a:r>
            <a:endParaRPr/>
          </a:p>
        </p:txBody>
      </p:sp>
      <p:cxnSp>
        <p:nvCxnSpPr>
          <p:cNvPr id="429" name="Shape 429"/>
          <p:cNvCxnSpPr/>
          <p:nvPr/>
        </p:nvCxnSpPr>
        <p:spPr>
          <a:xfrm>
            <a:off x="3459162" y="3394075"/>
            <a:ext cx="685800" cy="601662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0" name="Shape 430"/>
          <p:cNvSpPr txBox="1"/>
          <p:nvPr/>
        </p:nvSpPr>
        <p:spPr>
          <a:xfrm>
            <a:off x="4183400" y="5195887"/>
            <a:ext cx="25282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write(1, buf, 6);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Shape 435"/>
          <p:cNvSpPr txBox="1">
            <a:spLocks noGrp="1"/>
          </p:cNvSpPr>
          <p:nvPr>
            <p:ph type="title"/>
          </p:nvPr>
        </p:nvSpPr>
        <p:spPr>
          <a:xfrm>
            <a:off x="1881019" y="457200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 I/O Buffering in Action</a:t>
            </a:r>
            <a:endParaRPr dirty="0"/>
          </a:p>
        </p:txBody>
      </p:sp>
      <p:sp>
        <p:nvSpPr>
          <p:cNvPr id="436" name="Shape 436"/>
          <p:cNvSpPr txBox="1">
            <a:spLocks noGrp="1"/>
          </p:cNvSpPr>
          <p:nvPr>
            <p:ph type="body" idx="1"/>
          </p:nvPr>
        </p:nvSpPr>
        <p:spPr>
          <a:xfrm>
            <a:off x="1880287" y="1295400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can see this buffering in action for yourself, using the always fascinating Linux </a:t>
            </a:r>
            <a: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strace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program:</a:t>
            </a:r>
            <a:endParaRPr/>
          </a:p>
        </p:txBody>
      </p:sp>
      <p:sp>
        <p:nvSpPr>
          <p:cNvPr id="437" name="Shape 437"/>
          <p:cNvSpPr/>
          <p:nvPr/>
        </p:nvSpPr>
        <p:spPr>
          <a:xfrm>
            <a:off x="4800600" y="2438400"/>
            <a:ext cx="5638800" cy="1815882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linux</a:t>
            </a:r>
            <a:r>
              <a:rPr lang="en-US" sz="16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-US" sz="16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strace</a:t>
            </a:r>
            <a:r>
              <a:rPr lang="en-US" sz="16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./hello</a:t>
            </a:r>
            <a:endParaRPr dirty="0"/>
          </a:p>
          <a:p>
            <a:r>
              <a:rPr lang="en-US" sz="16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execve</a:t>
            </a:r>
            <a:r>
              <a:rPr lang="en-US" sz="16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("./hello", ["hello"], [/* ... */]).</a:t>
            </a:r>
            <a:endParaRPr dirty="0"/>
          </a:p>
          <a:p>
            <a:r>
              <a:rPr lang="en-US" sz="16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dirty="0"/>
          </a:p>
          <a:p>
            <a:r>
              <a:rPr lang="en-US" sz="16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write(1, "hello\n", 6)               = 6</a:t>
            </a:r>
            <a:endParaRPr dirty="0"/>
          </a:p>
          <a:p>
            <a:r>
              <a:rPr lang="en-US" sz="16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6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en-US" sz="16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exit_group</a:t>
            </a:r>
            <a:r>
              <a:rPr lang="en-US" sz="16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(0)                        = ?</a:t>
            </a:r>
            <a:endParaRPr dirty="0"/>
          </a:p>
          <a:p>
            <a:endParaRPr sz="16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C0CEEB0-51BB-9215-DCE3-C8C4EAA3DEE0}"/>
              </a:ext>
            </a:extLst>
          </p:cNvPr>
          <p:cNvGrpSpPr/>
          <p:nvPr/>
        </p:nvGrpSpPr>
        <p:grpSpPr>
          <a:xfrm>
            <a:off x="1217399" y="2438400"/>
            <a:ext cx="3352690" cy="3048097"/>
            <a:chOff x="770574" y="4161173"/>
            <a:chExt cx="3724141" cy="304809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4F34130-6A07-56A9-391D-6DB4ACE1B135}"/>
                </a:ext>
              </a:extLst>
            </p:cNvPr>
            <p:cNvSpPr txBox="1"/>
            <p:nvPr/>
          </p:nvSpPr>
          <p:spPr>
            <a:xfrm>
              <a:off x="770574" y="4162282"/>
              <a:ext cx="454482" cy="304698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8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9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11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12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D9B5FEB-F8B5-8952-C42E-90CE9D411FEA}"/>
                </a:ext>
              </a:extLst>
            </p:cNvPr>
            <p:cNvSpPr txBox="1"/>
            <p:nvPr/>
          </p:nvSpPr>
          <p:spPr>
            <a:xfrm>
              <a:off x="1225056" y="4161173"/>
              <a:ext cx="3269659" cy="30469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lIns="182880" rIns="182880" rtlCol="0">
              <a:spAutoFit/>
            </a:bodyPr>
            <a:lstStyle/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#include &lt;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stdio.h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&gt;</a:t>
              </a: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int main()</a:t>
              </a:r>
              <a:endParaRPr lang="en-US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{</a:t>
              </a:r>
              <a:endParaRPr lang="en-US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   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printf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("h");</a:t>
              </a:r>
              <a:endParaRPr lang="en-US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   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printf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("e");</a:t>
              </a:r>
              <a:endParaRPr lang="en-US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   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printf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("l");</a:t>
              </a:r>
              <a:endParaRPr lang="en-US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   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printf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("l");</a:t>
              </a:r>
              <a:endParaRPr lang="en-US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   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printf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("o");</a:t>
              </a:r>
              <a:endParaRPr lang="en-US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   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printf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("\n");</a:t>
              </a:r>
              <a:endParaRPr lang="en-US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   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fflush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(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stdout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);</a:t>
              </a:r>
              <a:endParaRPr lang="en-US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   exit(0);</a:t>
              </a:r>
              <a:endParaRPr lang="en-US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}</a:t>
              </a:r>
              <a:endParaRPr lang="en-US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A diagram of I/O buffering">
            <a:extLst>
              <a:ext uri="{FF2B5EF4-FFF2-40B4-BE49-F238E27FC236}">
                <a16:creationId xmlns:a16="http://schemas.microsoft.com/office/drawing/2014/main" id="{89AFD3BC-6CDD-8FEE-6B95-9A59F41E5B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7990"/>
          <a:stretch/>
        </p:blipFill>
        <p:spPr>
          <a:xfrm>
            <a:off x="3125325" y="548322"/>
            <a:ext cx="6583398" cy="55578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54141-D6A2-D107-AD6D-F512A402D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8FB5B-1F60-994B-8E33-8E782B4CF041}" type="slidenum">
              <a:rPr lang="en-US" smtClean="0"/>
              <a:t>30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368908-FE88-706D-69E2-057E4F968C70}"/>
              </a:ext>
            </a:extLst>
          </p:cNvPr>
          <p:cNvSpPr/>
          <p:nvPr/>
        </p:nvSpPr>
        <p:spPr>
          <a:xfrm>
            <a:off x="3900878" y="3281680"/>
            <a:ext cx="1402080" cy="1361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52575F-9030-2D9D-1D7D-0681483A1C5B}"/>
              </a:ext>
            </a:extLst>
          </p:cNvPr>
          <p:cNvSpPr/>
          <p:nvPr/>
        </p:nvSpPr>
        <p:spPr>
          <a:xfrm>
            <a:off x="7208520" y="1615440"/>
            <a:ext cx="2595880" cy="1635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D2C881-5D86-FDE1-7001-765716DF6AB7}"/>
              </a:ext>
            </a:extLst>
          </p:cNvPr>
          <p:cNvSpPr/>
          <p:nvPr/>
        </p:nvSpPr>
        <p:spPr>
          <a:xfrm>
            <a:off x="7208520" y="3281680"/>
            <a:ext cx="2500203" cy="1635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FEB29362-1808-92FB-C9E3-BED3EC1D6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278" y="2068082"/>
            <a:ext cx="259588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There is </a:t>
            </a:r>
            <a:br>
              <a:rPr lang="en-US" dirty="0"/>
            </a:br>
            <a:r>
              <a:rPr lang="en-US" dirty="0"/>
              <a:t>also a kernel </a:t>
            </a:r>
            <a:br>
              <a:rPr lang="en-US" dirty="0"/>
            </a:br>
            <a:r>
              <a:rPr lang="en-US" dirty="0"/>
              <a:t>buffer!</a:t>
            </a:r>
          </a:p>
        </p:txBody>
      </p:sp>
    </p:spTree>
    <p:extLst>
      <p:ext uri="{BB962C8B-B14F-4D97-AF65-F5344CB8AC3E}">
        <p14:creationId xmlns:p14="http://schemas.microsoft.com/office/powerpoint/2010/main" val="30975571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9B204-5DCC-4576-858E-38156650A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31A5F-536F-C960-0AD7-A2BE41E26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Today: </a:t>
            </a:r>
            <a:r>
              <a:rPr lang="en-US" dirty="0"/>
              <a:t>How does systems I/O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9482D-6557-AAC3-E49D-B0AB757AE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Unix I/O</a:t>
            </a:r>
          </a:p>
          <a:p>
            <a:r>
              <a:rPr lang="en-US" sz="4000" dirty="0"/>
              <a:t>Standard I/O</a:t>
            </a:r>
          </a:p>
          <a:p>
            <a:r>
              <a:rPr lang="en-US" sz="4000" b="1" dirty="0"/>
              <a:t>Which I/O when</a:t>
            </a:r>
          </a:p>
          <a:p>
            <a:r>
              <a:rPr lang="en-US" sz="4000" dirty="0"/>
              <a:t>Metadata, sharing, and redirection</a:t>
            </a:r>
          </a:p>
          <a:p>
            <a:endParaRPr lang="en-US" sz="4000" b="1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73142A-A0AC-812B-CC82-938F4D6E0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8FB5B-1F60-994B-8E33-8E782B4CF04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7686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Shape 467"/>
          <p:cNvSpPr txBox="1">
            <a:spLocks noGrp="1"/>
          </p:cNvSpPr>
          <p:nvPr>
            <p:ph type="title"/>
          </p:nvPr>
        </p:nvSpPr>
        <p:spPr>
          <a:xfrm>
            <a:off x="1913971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Pros and Cons of Unix I/O</a:t>
            </a:r>
            <a:endParaRPr/>
          </a:p>
        </p:txBody>
      </p:sp>
      <p:sp>
        <p:nvSpPr>
          <p:cNvPr id="468" name="Shape 468"/>
          <p:cNvSpPr txBox="1">
            <a:spLocks noGrp="1"/>
          </p:cNvSpPr>
          <p:nvPr>
            <p:ph type="body" idx="1"/>
          </p:nvPr>
        </p:nvSpPr>
        <p:spPr>
          <a:xfrm>
            <a:off x="1920876" y="1362075"/>
            <a:ext cx="8518525" cy="49720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Pros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Unix I/O is the most general form of I/O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2">
              <a:spcBef>
                <a:spcPts val="400"/>
              </a:spcBef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other I/O packages are implemented using Unix I/O functions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Unix I/O provides functions for accessing file metadata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Unix I/O functions are async-signal-safe and can be used safely in signal handlers</a:t>
            </a:r>
            <a:endParaRPr dirty="0"/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</a:t>
            </a: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Dealing with short counts is tricky and error prone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Efficient reading of text lines requires some form of buffering, also tricky and error prone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Shape 473"/>
          <p:cNvSpPr txBox="1">
            <a:spLocks noGrp="1"/>
          </p:cNvSpPr>
          <p:nvPr>
            <p:ph type="title"/>
          </p:nvPr>
        </p:nvSpPr>
        <p:spPr>
          <a:xfrm>
            <a:off x="1899956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Pros and Cons of Standard I/O</a:t>
            </a:r>
            <a:endParaRPr/>
          </a:p>
        </p:txBody>
      </p:sp>
      <p:sp>
        <p:nvSpPr>
          <p:cNvPr id="474" name="Shape 474"/>
          <p:cNvSpPr txBox="1">
            <a:spLocks noGrp="1"/>
          </p:cNvSpPr>
          <p:nvPr>
            <p:ph type="body" idx="1"/>
          </p:nvPr>
        </p:nvSpPr>
        <p:spPr>
          <a:xfrm>
            <a:off x="1752601" y="1362075"/>
            <a:ext cx="8458200" cy="49720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Pros: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Buffering increases efficiency by decreasing the number of </a:t>
            </a:r>
            <a:r>
              <a:rPr lang="en-US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read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write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system calls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Short counts are handled automatically</a:t>
            </a:r>
            <a:endParaRPr dirty="0"/>
          </a:p>
          <a:p>
            <a:pPr marL="342900" indent="-342900"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Cons: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 no function for accessing file metadata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 I/O functions are not async-signal-safe, and not appropriate for signal handlers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 I/O is not appropriate for input and output on network sockets</a:t>
            </a:r>
            <a:endParaRPr dirty="0"/>
          </a:p>
          <a:p>
            <a:pPr lvl="2">
              <a:spcBef>
                <a:spcPts val="400"/>
              </a:spcBef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poorly documented restrictions on streams that interact badly with restrictions on sockets (CS:APP3e, Sec 10.11)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Shape 479"/>
          <p:cNvSpPr txBox="1">
            <a:spLocks noGrp="1"/>
          </p:cNvSpPr>
          <p:nvPr>
            <p:ph type="title"/>
          </p:nvPr>
        </p:nvSpPr>
        <p:spPr>
          <a:xfrm>
            <a:off x="1905000" y="533401"/>
            <a:ext cx="6878638" cy="5730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Choosing I/O Functions</a:t>
            </a:r>
            <a:endParaRPr/>
          </a:p>
        </p:txBody>
      </p:sp>
      <p:sp>
        <p:nvSpPr>
          <p:cNvPr id="480" name="Shape 480"/>
          <p:cNvSpPr txBox="1">
            <a:spLocks noGrp="1"/>
          </p:cNvSpPr>
          <p:nvPr>
            <p:ph type="body" idx="1"/>
          </p:nvPr>
        </p:nvSpPr>
        <p:spPr>
          <a:xfrm>
            <a:off x="1905001" y="1252538"/>
            <a:ext cx="8472487" cy="52244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General rule: use the highest-level I/O functions you can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 C programmers are able to do all of their work using</a:t>
            </a:r>
            <a:b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standard I/O functions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But, be sure to understand the functions you use!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to use standard I/O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dirty="0"/>
              <a:t>When working with “ordinary” files</a:t>
            </a:r>
            <a:endParaRPr dirty="0"/>
          </a:p>
          <a:p>
            <a:pPr marL="342900" indent="-342900"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to use raw Unix I/O </a:t>
            </a: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i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Inside signal handlers, because Unix I/O is async-signal-safe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i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When you are reading and writing network sockets</a:t>
            </a:r>
          </a:p>
          <a:p>
            <a:pPr marL="1200150" lvl="2" indent="-285750">
              <a:buClr>
                <a:srgbClr val="990000"/>
              </a:buClr>
              <a:buSzPts val="2200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Libraries dedicated to buffered network I/O make this easier</a:t>
            </a:r>
          </a:p>
          <a:p>
            <a:pPr marL="1200150" lvl="2" indent="-285750">
              <a:buClr>
                <a:srgbClr val="990000"/>
              </a:buClr>
              <a:buSzPts val="2200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CS:APP </a:t>
            </a:r>
            <a:r>
              <a:rPr 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rio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_*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functions;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libevent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libuv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…</a:t>
            </a:r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rare cases when you need absolute highest performance</a:t>
            </a:r>
            <a:endParaRPr dirty="0"/>
          </a:p>
        </p:txBody>
      </p:sp>
      <p:sp>
        <p:nvSpPr>
          <p:cNvPr id="481" name="Shape 481"/>
          <p:cNvSpPr txBox="1"/>
          <p:nvPr/>
        </p:nvSpPr>
        <p:spPr>
          <a:xfrm>
            <a:off x="-304249" y="3082544"/>
            <a:ext cx="18466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Shape 486"/>
          <p:cNvSpPr txBox="1">
            <a:spLocks noGrp="1"/>
          </p:cNvSpPr>
          <p:nvPr>
            <p:ph type="title"/>
          </p:nvPr>
        </p:nvSpPr>
        <p:spPr>
          <a:xfrm>
            <a:off x="1920876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Aside: Working with Binary Files</a:t>
            </a:r>
            <a:endParaRPr/>
          </a:p>
        </p:txBody>
      </p:sp>
      <p:sp>
        <p:nvSpPr>
          <p:cNvPr id="487" name="Shape 487"/>
          <p:cNvSpPr txBox="1">
            <a:spLocks noGrp="1"/>
          </p:cNvSpPr>
          <p:nvPr>
            <p:ph type="body" idx="1"/>
          </p:nvPr>
        </p:nvSpPr>
        <p:spPr>
          <a:xfrm>
            <a:off x="1752600" y="1362075"/>
            <a:ext cx="9067800" cy="54959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>
              <a:spcBef>
                <a:spcPts val="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Functions you should </a:t>
            </a:r>
            <a:r>
              <a:rPr lang="en-US" sz="2400" b="1" i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never</a:t>
            </a:r>
            <a:r>
              <a:rPr lang="en-US" sz="24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use on binary files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Text-oriented I/O:</a:t>
            </a:r>
            <a:r>
              <a:rPr lang="en-US" sz="2000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such as </a:t>
            </a:r>
            <a:r>
              <a:rPr lang="en-US" sz="20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fgets</a:t>
            </a:r>
            <a:r>
              <a:rPr lang="en-US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20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scanf</a:t>
            </a:r>
            <a:r>
              <a:rPr lang="en-US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20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rio_readlineb</a:t>
            </a:r>
            <a:endParaRPr sz="20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lvl="2">
              <a:spcBef>
                <a:spcPts val="400"/>
              </a:spcBef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Interpret EOL characters. </a:t>
            </a:r>
            <a:endParaRPr dirty="0"/>
          </a:p>
          <a:p>
            <a:pPr lvl="2">
              <a:spcBef>
                <a:spcPts val="400"/>
              </a:spcBef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functions like </a:t>
            </a:r>
            <a:r>
              <a:rPr lang="en-US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rio_readn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US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rio_readnb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instead</a:t>
            </a:r>
            <a:endParaRPr dirty="0"/>
          </a:p>
          <a:p>
            <a:pPr lvl="3" indent="-101600">
              <a:spcBef>
                <a:spcPts val="400"/>
              </a:spcBef>
              <a:buClr>
                <a:schemeClr val="dk1"/>
              </a:buClr>
              <a:buSzPts val="2000"/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String functions</a:t>
            </a:r>
            <a:endParaRPr dirty="0"/>
          </a:p>
          <a:p>
            <a:pPr lvl="2">
              <a:spcBef>
                <a:spcPts val="400"/>
              </a:spcBef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strlen</a:t>
            </a:r>
            <a:r>
              <a:rPr lang="en-US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strcpy</a:t>
            </a:r>
            <a:r>
              <a:rPr lang="en-US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strcat</a:t>
            </a:r>
            <a:endParaRPr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lvl="2">
              <a:spcBef>
                <a:spcPts val="400"/>
              </a:spcBef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Interprets byte value 0 (end of string) as special</a:t>
            </a:r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A36A7-489A-2EA9-2A4F-95DE9698F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B2C2B-8B2E-ACD7-B931-C10DE4AEB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Today: </a:t>
            </a:r>
            <a:r>
              <a:rPr lang="en-US" dirty="0"/>
              <a:t>How does systems I/O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1FD2C-D018-C89C-4BB7-2BC65A8D7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Unix I/O</a:t>
            </a:r>
          </a:p>
          <a:p>
            <a:r>
              <a:rPr lang="en-US" sz="4000" dirty="0"/>
              <a:t>Standard I/O</a:t>
            </a:r>
          </a:p>
          <a:p>
            <a:r>
              <a:rPr lang="en-US" sz="4000" dirty="0"/>
              <a:t>Which I/O when</a:t>
            </a:r>
          </a:p>
          <a:p>
            <a:r>
              <a:rPr lang="en-US" sz="4000" b="1" dirty="0"/>
              <a:t>Metadata, sharing, and redirection</a:t>
            </a:r>
          </a:p>
          <a:p>
            <a:endParaRPr lang="en-US" sz="4000" b="1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6FAC7-7BAC-37FC-9BBD-36BE6FA31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8FB5B-1F60-994B-8E33-8E782B4CF041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0951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Shape 499"/>
          <p:cNvSpPr txBox="1">
            <a:spLocks noGrp="1"/>
          </p:cNvSpPr>
          <p:nvPr>
            <p:ph type="title"/>
          </p:nvPr>
        </p:nvSpPr>
        <p:spPr>
          <a:xfrm>
            <a:off x="1881019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Metadata</a:t>
            </a:r>
            <a:endParaRPr sz="3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00" name="Shape 500"/>
          <p:cNvSpPr txBox="1">
            <a:spLocks noGrp="1"/>
          </p:cNvSpPr>
          <p:nvPr>
            <p:ph type="body" idx="1"/>
          </p:nvPr>
        </p:nvSpPr>
        <p:spPr>
          <a:xfrm>
            <a:off x="1896162" y="1123950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i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Metadata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data about data, in this case file data</a:t>
            </a:r>
            <a:endParaRPr/>
          </a:p>
          <a:p>
            <a:pPr marL="342900" indent="-342900"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Per-file metadata maintained by kernel</a:t>
            </a:r>
            <a:endParaRPr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accessed by users with the </a:t>
            </a: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stat</a:t>
            </a: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fstat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functions</a:t>
            </a:r>
            <a:endParaRPr/>
          </a:p>
        </p:txBody>
      </p:sp>
      <p:sp>
        <p:nvSpPr>
          <p:cNvPr id="501" name="Shape 501"/>
          <p:cNvSpPr/>
          <p:nvPr/>
        </p:nvSpPr>
        <p:spPr>
          <a:xfrm>
            <a:off x="1997762" y="2590801"/>
            <a:ext cx="8264525" cy="4016375"/>
          </a:xfrm>
          <a:prstGeom prst="rect">
            <a:avLst/>
          </a:prstGeom>
          <a:solidFill>
            <a:srgbClr val="F6F5BD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Metadata returned by the stat and fstat functions */</a:t>
            </a:r>
            <a:endParaRPr/>
          </a:p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stat {</a:t>
            </a:r>
            <a:endParaRPr/>
          </a:p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dev_t         st_dev;      </a:t>
            </a:r>
            <a:r>
              <a:rPr lang="en-US" sz="1600" b="1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Device */</a:t>
            </a:r>
            <a:endParaRPr/>
          </a:p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ino_t         st_ino;      </a:t>
            </a:r>
            <a:r>
              <a:rPr lang="en-US" sz="1600" b="1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inode */</a:t>
            </a:r>
            <a:endParaRPr/>
          </a:p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mode_t        st_mode;     </a:t>
            </a:r>
            <a:r>
              <a:rPr lang="en-US" sz="1600" b="1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Protection and file type */</a:t>
            </a:r>
            <a:endParaRPr/>
          </a:p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nlink_t       st_nlink;    </a:t>
            </a:r>
            <a:r>
              <a:rPr lang="en-US" sz="1600" b="1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Number of hard links */</a:t>
            </a:r>
            <a:endParaRPr/>
          </a:p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uid_t         st_uid;      </a:t>
            </a:r>
            <a:r>
              <a:rPr lang="en-US" sz="1600" b="1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User ID of owner */</a:t>
            </a:r>
            <a:endParaRPr/>
          </a:p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gid_t         st_gid;      </a:t>
            </a:r>
            <a:r>
              <a:rPr lang="en-US" sz="1600" b="1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Group ID of owner */</a:t>
            </a:r>
            <a:endParaRPr/>
          </a:p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dev_t         st_rdev;     </a:t>
            </a:r>
            <a:r>
              <a:rPr lang="en-US" sz="1600" b="1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Device type (if inode device) */</a:t>
            </a:r>
            <a:endParaRPr/>
          </a:p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off_t         st_size;     </a:t>
            </a:r>
            <a:r>
              <a:rPr lang="en-US" sz="1600" b="1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Total size, in bytes */</a:t>
            </a:r>
            <a:endParaRPr/>
          </a:p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unsigned long st_blksize;  </a:t>
            </a:r>
            <a:r>
              <a:rPr lang="en-US" sz="1600" b="1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Blocksize for filesystem I/O */</a:t>
            </a:r>
            <a:endParaRPr/>
          </a:p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unsigned long st_blocks;   </a:t>
            </a:r>
            <a:r>
              <a:rPr lang="en-US" sz="1600" b="1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Number of blocks allocated */</a:t>
            </a:r>
            <a:endParaRPr/>
          </a:p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time_t        st_atime;    </a:t>
            </a:r>
            <a:r>
              <a:rPr lang="en-US" sz="1600" b="1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Time of last access */</a:t>
            </a:r>
            <a:endParaRPr/>
          </a:p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time_t        st_mtime;    </a:t>
            </a:r>
            <a:r>
              <a:rPr lang="en-US" sz="1600" b="1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Time of last modification */</a:t>
            </a:r>
            <a:endParaRPr/>
          </a:p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time_t        st_ctime;    </a:t>
            </a:r>
            <a:r>
              <a:rPr lang="en-US" sz="1600" b="1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Time of last change */</a:t>
            </a:r>
            <a:endParaRPr/>
          </a:p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Shape 506"/>
          <p:cNvSpPr txBox="1">
            <a:spLocks noGrp="1"/>
          </p:cNvSpPr>
          <p:nvPr>
            <p:ph type="title"/>
          </p:nvPr>
        </p:nvSpPr>
        <p:spPr>
          <a:xfrm>
            <a:off x="1856708" y="304800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of Accessing File Metadata</a:t>
            </a:r>
            <a:endParaRPr/>
          </a:p>
        </p:txBody>
      </p:sp>
      <p:sp>
        <p:nvSpPr>
          <p:cNvPr id="507" name="Shape 507"/>
          <p:cNvSpPr txBox="1"/>
          <p:nvPr/>
        </p:nvSpPr>
        <p:spPr>
          <a:xfrm>
            <a:off x="1676400" y="1371601"/>
            <a:ext cx="8153400" cy="5016759"/>
          </a:xfrm>
          <a:prstGeom prst="rect">
            <a:avLst/>
          </a:prstGeom>
          <a:solidFill>
            <a:srgbClr val="F6F5BD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rgbClr val="2D961E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 b="1">
                <a:solidFill>
                  <a:srgbClr val="4A00FF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-US" sz="1600" b="1">
                <a:solidFill>
                  <a:srgbClr val="2D961E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 b="1">
                <a:solidFill>
                  <a:srgbClr val="C1651C"/>
                </a:solidFill>
                <a:latin typeface="Courier New"/>
                <a:ea typeface="Courier New"/>
                <a:cs typeface="Courier New"/>
                <a:sym typeface="Courier New"/>
              </a:rPr>
              <a:t>argc</a:t>
            </a:r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1">
                <a:solidFill>
                  <a:srgbClr val="2D961E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**</a:t>
            </a:r>
            <a:r>
              <a:rPr lang="en-US" sz="1600" b="1">
                <a:solidFill>
                  <a:srgbClr val="C1651C"/>
                </a:solidFill>
                <a:latin typeface="Courier New"/>
                <a:ea typeface="Courier New"/>
                <a:cs typeface="Courier New"/>
                <a:sym typeface="Courier New"/>
              </a:rPr>
              <a:t>argv</a:t>
            </a:r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/>
          </a:p>
          <a:p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600" b="1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600" b="1">
                <a:solidFill>
                  <a:srgbClr val="C200FF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 b="1">
                <a:solidFill>
                  <a:srgbClr val="2D961E"/>
                </a:solidFill>
                <a:latin typeface="Courier New"/>
                <a:ea typeface="Courier New"/>
                <a:cs typeface="Courier New"/>
                <a:sym typeface="Courier New"/>
              </a:rPr>
              <a:t>stat</a:t>
            </a:r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 b="1">
                <a:solidFill>
                  <a:srgbClr val="C1651C"/>
                </a:solidFill>
                <a:latin typeface="Courier New"/>
                <a:ea typeface="Courier New"/>
                <a:cs typeface="Courier New"/>
                <a:sym typeface="Courier New"/>
              </a:rPr>
              <a:t>stat</a:t>
            </a:r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600" b="1">
                <a:solidFill>
                  <a:srgbClr val="2D961E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lang="en-US" sz="1600" b="1">
                <a:solidFill>
                  <a:srgbClr val="C1651C"/>
                </a:solidFill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*</a:t>
            </a:r>
            <a:r>
              <a:rPr lang="en-US" sz="1600" b="1">
                <a:solidFill>
                  <a:srgbClr val="C1651C"/>
                </a:solidFill>
                <a:latin typeface="Courier New"/>
                <a:ea typeface="Courier New"/>
                <a:cs typeface="Courier New"/>
                <a:sym typeface="Courier New"/>
              </a:rPr>
              <a:t>readok</a:t>
            </a:r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endParaRPr sz="1600" b="1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Stat(argv[1], &amp;stat);</a:t>
            </a:r>
            <a:endParaRPr/>
          </a:p>
          <a:p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600" b="1">
                <a:solidFill>
                  <a:srgbClr val="C200FF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(S_ISREG(stat.st_mode))     </a:t>
            </a:r>
            <a:r>
              <a:rPr lang="en-US" sz="1600" b="1">
                <a:solidFill>
                  <a:srgbClr val="CB2418"/>
                </a:solidFill>
                <a:latin typeface="Courier New"/>
                <a:ea typeface="Courier New"/>
                <a:cs typeface="Courier New"/>
                <a:sym typeface="Courier New"/>
              </a:rPr>
              <a:t>/* Determine file type */</a:t>
            </a:r>
            <a:endParaRPr sz="1600" b="1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type = </a:t>
            </a:r>
            <a:r>
              <a:rPr lang="en-US" sz="1600" b="1">
                <a:solidFill>
                  <a:srgbClr val="9D206F"/>
                </a:solidFill>
                <a:latin typeface="Courier New"/>
                <a:ea typeface="Courier New"/>
                <a:cs typeface="Courier New"/>
                <a:sym typeface="Courier New"/>
              </a:rPr>
              <a:t>"regular"</a:t>
            </a:r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600" b="1">
                <a:solidFill>
                  <a:srgbClr val="C200FF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 b="1">
                <a:solidFill>
                  <a:srgbClr val="C200FF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(S_ISDIR(stat.st_mode))</a:t>
            </a:r>
            <a:endParaRPr/>
          </a:p>
          <a:p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type = </a:t>
            </a:r>
            <a:r>
              <a:rPr lang="en-US" sz="1600" b="1">
                <a:solidFill>
                  <a:srgbClr val="9D206F"/>
                </a:solidFill>
                <a:latin typeface="Courier New"/>
                <a:ea typeface="Courier New"/>
                <a:cs typeface="Courier New"/>
                <a:sym typeface="Courier New"/>
              </a:rPr>
              <a:t>"directory"</a:t>
            </a:r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600" b="1">
                <a:solidFill>
                  <a:srgbClr val="C200FF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 sz="1600" b="1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type = </a:t>
            </a:r>
            <a:r>
              <a:rPr lang="en-US" sz="1600" b="1">
                <a:solidFill>
                  <a:srgbClr val="9D206F"/>
                </a:solidFill>
                <a:latin typeface="Courier New"/>
                <a:ea typeface="Courier New"/>
                <a:cs typeface="Courier New"/>
                <a:sym typeface="Courier New"/>
              </a:rPr>
              <a:t>"other"</a:t>
            </a:r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600" b="1">
                <a:solidFill>
                  <a:srgbClr val="C200FF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((stat.st_mode &amp; S_IRUSR)) </a:t>
            </a:r>
            <a:r>
              <a:rPr lang="en-US" sz="1600" b="1">
                <a:solidFill>
                  <a:srgbClr val="CB2418"/>
                </a:solidFill>
                <a:latin typeface="Courier New"/>
                <a:ea typeface="Courier New"/>
                <a:cs typeface="Courier New"/>
                <a:sym typeface="Courier New"/>
              </a:rPr>
              <a:t>/* Check read access */</a:t>
            </a:r>
            <a:endParaRPr sz="1600" b="1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readok = </a:t>
            </a:r>
            <a:r>
              <a:rPr lang="en-US" sz="1600" b="1">
                <a:solidFill>
                  <a:srgbClr val="9D206F"/>
                </a:solidFill>
                <a:latin typeface="Courier New"/>
                <a:ea typeface="Courier New"/>
                <a:cs typeface="Courier New"/>
                <a:sym typeface="Courier New"/>
              </a:rPr>
              <a:t>"yes"</a:t>
            </a:r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600" b="1">
                <a:solidFill>
                  <a:srgbClr val="C200FF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 sz="1600" b="1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readok = </a:t>
            </a:r>
            <a:r>
              <a:rPr lang="en-US" sz="1600" b="1">
                <a:solidFill>
                  <a:srgbClr val="9D206F"/>
                </a:solidFill>
                <a:latin typeface="Courier New"/>
                <a:ea typeface="Courier New"/>
                <a:cs typeface="Courier New"/>
                <a:sym typeface="Courier New"/>
              </a:rPr>
              <a:t>"no"</a:t>
            </a:r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endParaRPr sz="1600" b="1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printf(</a:t>
            </a:r>
            <a:r>
              <a:rPr lang="en-US" sz="1600" b="1">
                <a:solidFill>
                  <a:srgbClr val="9D206F"/>
                </a:solidFill>
                <a:latin typeface="Courier New"/>
                <a:ea typeface="Courier New"/>
                <a:cs typeface="Courier New"/>
                <a:sym typeface="Courier New"/>
              </a:rPr>
              <a:t>"type: %s, read: %s\n"</a:t>
            </a:r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type, readok);</a:t>
            </a:r>
            <a:endParaRPr/>
          </a:p>
          <a:p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exit(0);</a:t>
            </a:r>
            <a:endParaRPr/>
          </a:p>
          <a:p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508" name="Shape 508"/>
          <p:cNvSpPr txBox="1"/>
          <p:nvPr/>
        </p:nvSpPr>
        <p:spPr>
          <a:xfrm>
            <a:off x="6400801" y="1143000"/>
            <a:ext cx="4114800" cy="1815882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linux&gt; ./statcheck statcheck.c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type: regular, read: yes</a:t>
            </a:r>
            <a:endParaRPr/>
          </a:p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linux&gt; chmod 000 statcheck.c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linux&gt; ./statcheck statcheck.c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type: regular, read: no</a:t>
            </a:r>
            <a:endParaRPr/>
          </a:p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linux&gt; ./statcheck ..</a:t>
            </a:r>
            <a:endParaRPr/>
          </a:p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type: directory, read: yes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09" name="Shape 509"/>
          <p:cNvSpPr txBox="1"/>
          <p:nvPr/>
        </p:nvSpPr>
        <p:spPr>
          <a:xfrm>
            <a:off x="8077200" y="6019800"/>
            <a:ext cx="170840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/>
            <a:r>
              <a:rPr lang="en-US" b="1">
                <a:solidFill>
                  <a:srgbClr val="7F7F7F"/>
                </a:solidFill>
                <a:latin typeface="Courier New"/>
                <a:ea typeface="Courier New"/>
                <a:cs typeface="Courier New"/>
                <a:sym typeface="Courier New"/>
              </a:rPr>
              <a:t>statcheck.c</a:t>
            </a:r>
            <a:endParaRPr b="1">
              <a:solidFill>
                <a:srgbClr val="7F7F7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Shape 514"/>
          <p:cNvSpPr txBox="1">
            <a:spLocks noGrp="1"/>
          </p:cNvSpPr>
          <p:nvPr>
            <p:ph type="title"/>
          </p:nvPr>
        </p:nvSpPr>
        <p:spPr>
          <a:xfrm>
            <a:off x="1881018" y="435678"/>
            <a:ext cx="8710782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the Unix Kernel Represents Open Files</a:t>
            </a:r>
            <a:endParaRPr/>
          </a:p>
        </p:txBody>
      </p:sp>
      <p:sp>
        <p:nvSpPr>
          <p:cNvPr id="515" name="Shape 515"/>
          <p:cNvSpPr txBox="1">
            <a:spLocks noGrp="1"/>
          </p:cNvSpPr>
          <p:nvPr>
            <p:ph type="body" idx="1"/>
          </p:nvPr>
        </p:nvSpPr>
        <p:spPr>
          <a:xfrm>
            <a:off x="1886938" y="1295400"/>
            <a:ext cx="8307387" cy="1295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descriptors referencing two distinct open files. Descriptor 1 (stdout) points to terminal, and descriptor 4 points to open disk file</a:t>
            </a:r>
            <a:endParaRPr/>
          </a:p>
        </p:txBody>
      </p:sp>
      <p:sp>
        <p:nvSpPr>
          <p:cNvPr id="516" name="Shape 516"/>
          <p:cNvSpPr/>
          <p:nvPr/>
        </p:nvSpPr>
        <p:spPr>
          <a:xfrm>
            <a:off x="3030538" y="36703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Shape 517"/>
          <p:cNvSpPr/>
          <p:nvPr/>
        </p:nvSpPr>
        <p:spPr>
          <a:xfrm>
            <a:off x="3030538" y="38989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Shape 518"/>
          <p:cNvSpPr/>
          <p:nvPr/>
        </p:nvSpPr>
        <p:spPr>
          <a:xfrm>
            <a:off x="3030538" y="41275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Shape 519"/>
          <p:cNvSpPr/>
          <p:nvPr/>
        </p:nvSpPr>
        <p:spPr>
          <a:xfrm>
            <a:off x="3030538" y="43561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Shape 520"/>
          <p:cNvSpPr/>
          <p:nvPr/>
        </p:nvSpPr>
        <p:spPr>
          <a:xfrm>
            <a:off x="3030538" y="45847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Shape 521"/>
          <p:cNvSpPr/>
          <p:nvPr/>
        </p:nvSpPr>
        <p:spPr>
          <a:xfrm>
            <a:off x="2420938" y="36703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0</a:t>
            </a:r>
            <a:endParaRPr/>
          </a:p>
        </p:txBody>
      </p:sp>
      <p:sp>
        <p:nvSpPr>
          <p:cNvPr id="522" name="Shape 522"/>
          <p:cNvSpPr/>
          <p:nvPr/>
        </p:nvSpPr>
        <p:spPr>
          <a:xfrm>
            <a:off x="2420938" y="38989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1</a:t>
            </a:r>
            <a:endParaRPr/>
          </a:p>
        </p:txBody>
      </p:sp>
      <p:sp>
        <p:nvSpPr>
          <p:cNvPr id="523" name="Shape 523"/>
          <p:cNvSpPr/>
          <p:nvPr/>
        </p:nvSpPr>
        <p:spPr>
          <a:xfrm>
            <a:off x="2420938" y="41275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2</a:t>
            </a:r>
            <a:endParaRPr/>
          </a:p>
        </p:txBody>
      </p:sp>
      <p:sp>
        <p:nvSpPr>
          <p:cNvPr id="524" name="Shape 524"/>
          <p:cNvSpPr/>
          <p:nvPr/>
        </p:nvSpPr>
        <p:spPr>
          <a:xfrm>
            <a:off x="2420938" y="43561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3</a:t>
            </a:r>
            <a:endParaRPr/>
          </a:p>
        </p:txBody>
      </p:sp>
      <p:sp>
        <p:nvSpPr>
          <p:cNvPr id="525" name="Shape 525"/>
          <p:cNvSpPr/>
          <p:nvPr/>
        </p:nvSpPr>
        <p:spPr>
          <a:xfrm>
            <a:off x="2420938" y="45847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4</a:t>
            </a:r>
            <a:endParaRPr/>
          </a:p>
        </p:txBody>
      </p:sp>
      <p:sp>
        <p:nvSpPr>
          <p:cNvPr id="526" name="Shape 526"/>
          <p:cNvSpPr txBox="1"/>
          <p:nvPr/>
        </p:nvSpPr>
        <p:spPr>
          <a:xfrm>
            <a:off x="2134551" y="2636223"/>
            <a:ext cx="239008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Descriptor table</a:t>
            </a:r>
            <a:endParaRPr/>
          </a:p>
          <a:p>
            <a:pPr algn="ctr"/>
            <a:r>
              <a:rPr lang="en-US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[one table per process]</a:t>
            </a:r>
            <a:endParaRPr/>
          </a:p>
        </p:txBody>
      </p:sp>
      <p:sp>
        <p:nvSpPr>
          <p:cNvPr id="527" name="Shape 527"/>
          <p:cNvSpPr txBox="1"/>
          <p:nvPr/>
        </p:nvSpPr>
        <p:spPr>
          <a:xfrm>
            <a:off x="4683491" y="2636223"/>
            <a:ext cx="253232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Open file table </a:t>
            </a:r>
            <a:endParaRPr dirty="0"/>
          </a:p>
          <a:p>
            <a:pPr algn="ctr"/>
            <a:r>
              <a:rPr lang="en-US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[shared by all processes]</a:t>
            </a:r>
            <a:endParaRPr dirty="0"/>
          </a:p>
        </p:txBody>
      </p:sp>
      <p:sp>
        <p:nvSpPr>
          <p:cNvPr id="528" name="Shape 528"/>
          <p:cNvSpPr txBox="1"/>
          <p:nvPr/>
        </p:nvSpPr>
        <p:spPr>
          <a:xfrm>
            <a:off x="7274291" y="2636223"/>
            <a:ext cx="253232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v-node table</a:t>
            </a:r>
            <a:endParaRPr dirty="0"/>
          </a:p>
          <a:p>
            <a:pPr algn="ctr"/>
            <a:r>
              <a:rPr lang="en-US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[shared by all processes]</a:t>
            </a:r>
            <a:endParaRPr dirty="0"/>
          </a:p>
        </p:txBody>
      </p:sp>
      <p:sp>
        <p:nvSpPr>
          <p:cNvPr id="529" name="Shape 529"/>
          <p:cNvSpPr/>
          <p:nvPr/>
        </p:nvSpPr>
        <p:spPr>
          <a:xfrm>
            <a:off x="5392738" y="39624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File pos</a:t>
            </a:r>
            <a:endParaRPr/>
          </a:p>
        </p:txBody>
      </p:sp>
      <p:sp>
        <p:nvSpPr>
          <p:cNvPr id="530" name="Shape 530"/>
          <p:cNvSpPr/>
          <p:nvPr/>
        </p:nvSpPr>
        <p:spPr>
          <a:xfrm>
            <a:off x="5392738" y="42672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refcnt=1</a:t>
            </a:r>
            <a:endParaRPr/>
          </a:p>
        </p:txBody>
      </p:sp>
      <p:sp>
        <p:nvSpPr>
          <p:cNvPr id="531" name="Shape 531"/>
          <p:cNvSpPr/>
          <p:nvPr/>
        </p:nvSpPr>
        <p:spPr>
          <a:xfrm rot="5400000">
            <a:off x="5773738" y="4191000"/>
            <a:ext cx="304800" cy="1066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/>
          </a:p>
        </p:txBody>
      </p:sp>
      <p:cxnSp>
        <p:nvCxnSpPr>
          <p:cNvPr id="532" name="Shape 532"/>
          <p:cNvCxnSpPr/>
          <p:nvPr/>
        </p:nvCxnSpPr>
        <p:spPr>
          <a:xfrm rot="10800000" flipH="1">
            <a:off x="3352800" y="3657600"/>
            <a:ext cx="2039938" cy="352425"/>
          </a:xfrm>
          <a:prstGeom prst="straightConnector1">
            <a:avLst/>
          </a:prstGeom>
          <a:noFill/>
          <a:ln w="25400" cap="flat" cmpd="sng">
            <a:solidFill>
              <a:srgbClr val="60606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533" name="Shape 533"/>
          <p:cNvSpPr/>
          <p:nvPr/>
        </p:nvSpPr>
        <p:spPr>
          <a:xfrm>
            <a:off x="5392738" y="36576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Shape 534"/>
          <p:cNvSpPr/>
          <p:nvPr/>
        </p:nvSpPr>
        <p:spPr>
          <a:xfrm>
            <a:off x="5392738" y="56388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File pos</a:t>
            </a:r>
            <a:endParaRPr/>
          </a:p>
        </p:txBody>
      </p:sp>
      <p:sp>
        <p:nvSpPr>
          <p:cNvPr id="535" name="Shape 535"/>
          <p:cNvSpPr/>
          <p:nvPr/>
        </p:nvSpPr>
        <p:spPr>
          <a:xfrm>
            <a:off x="5392738" y="59436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refcnt=1</a:t>
            </a:r>
            <a:endParaRPr/>
          </a:p>
        </p:txBody>
      </p:sp>
      <p:sp>
        <p:nvSpPr>
          <p:cNvPr id="536" name="Shape 536"/>
          <p:cNvSpPr/>
          <p:nvPr/>
        </p:nvSpPr>
        <p:spPr>
          <a:xfrm rot="5400000">
            <a:off x="5773738" y="5867400"/>
            <a:ext cx="304800" cy="1066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/>
          </a:p>
        </p:txBody>
      </p:sp>
      <p:sp>
        <p:nvSpPr>
          <p:cNvPr id="537" name="Shape 537"/>
          <p:cNvSpPr/>
          <p:nvPr/>
        </p:nvSpPr>
        <p:spPr>
          <a:xfrm>
            <a:off x="5392738" y="53340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8" name="Shape 538"/>
          <p:cNvCxnSpPr/>
          <p:nvPr/>
        </p:nvCxnSpPr>
        <p:spPr>
          <a:xfrm>
            <a:off x="3352800" y="4683125"/>
            <a:ext cx="2057400" cy="698500"/>
          </a:xfrm>
          <a:prstGeom prst="straightConnector1">
            <a:avLst/>
          </a:prstGeom>
          <a:noFill/>
          <a:ln w="25400" cap="flat" cmpd="sng">
            <a:solidFill>
              <a:srgbClr val="60606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539" name="Shape 539"/>
          <p:cNvSpPr txBox="1"/>
          <p:nvPr/>
        </p:nvSpPr>
        <p:spPr>
          <a:xfrm>
            <a:off x="1752601" y="4086225"/>
            <a:ext cx="822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stderr</a:t>
            </a:r>
            <a:endParaRPr/>
          </a:p>
        </p:txBody>
      </p:sp>
      <p:sp>
        <p:nvSpPr>
          <p:cNvPr id="540" name="Shape 540"/>
          <p:cNvSpPr txBox="1"/>
          <p:nvPr/>
        </p:nvSpPr>
        <p:spPr>
          <a:xfrm>
            <a:off x="1752601" y="3857625"/>
            <a:ext cx="822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stdout</a:t>
            </a:r>
            <a:endParaRPr/>
          </a:p>
        </p:txBody>
      </p:sp>
      <p:sp>
        <p:nvSpPr>
          <p:cNvPr id="541" name="Shape 541"/>
          <p:cNvSpPr txBox="1"/>
          <p:nvPr/>
        </p:nvSpPr>
        <p:spPr>
          <a:xfrm>
            <a:off x="1858963" y="3629025"/>
            <a:ext cx="71596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stdin</a:t>
            </a:r>
            <a:endParaRPr/>
          </a:p>
        </p:txBody>
      </p:sp>
      <p:cxnSp>
        <p:nvCxnSpPr>
          <p:cNvPr id="542" name="Shape 542"/>
          <p:cNvCxnSpPr/>
          <p:nvPr/>
        </p:nvCxnSpPr>
        <p:spPr>
          <a:xfrm rot="10800000" flipH="1">
            <a:off x="6310314" y="3641725"/>
            <a:ext cx="1690687" cy="153988"/>
          </a:xfrm>
          <a:prstGeom prst="straightConnector1">
            <a:avLst/>
          </a:prstGeom>
          <a:noFill/>
          <a:ln w="25400" cap="flat" cmpd="sng">
            <a:solidFill>
              <a:srgbClr val="60606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543" name="Shape 543"/>
          <p:cNvSpPr/>
          <p:nvPr/>
        </p:nvSpPr>
        <p:spPr>
          <a:xfrm>
            <a:off x="8001000" y="3629025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access</a:t>
            </a:r>
            <a:endParaRPr/>
          </a:p>
        </p:txBody>
      </p:sp>
      <p:sp>
        <p:nvSpPr>
          <p:cNvPr id="544" name="Shape 544"/>
          <p:cNvSpPr/>
          <p:nvPr/>
        </p:nvSpPr>
        <p:spPr>
          <a:xfrm rot="5400000">
            <a:off x="8382000" y="4162425"/>
            <a:ext cx="304800" cy="1066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/>
          </a:p>
        </p:txBody>
      </p:sp>
      <p:sp>
        <p:nvSpPr>
          <p:cNvPr id="545" name="Shape 545"/>
          <p:cNvSpPr/>
          <p:nvPr/>
        </p:nvSpPr>
        <p:spPr>
          <a:xfrm>
            <a:off x="8001000" y="3933825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size</a:t>
            </a:r>
            <a:endParaRPr/>
          </a:p>
        </p:txBody>
      </p:sp>
      <p:sp>
        <p:nvSpPr>
          <p:cNvPr id="546" name="Shape 546"/>
          <p:cNvSpPr/>
          <p:nvPr/>
        </p:nvSpPr>
        <p:spPr>
          <a:xfrm>
            <a:off x="8001000" y="4238625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type</a:t>
            </a:r>
            <a:endParaRPr/>
          </a:p>
        </p:txBody>
      </p:sp>
      <p:sp>
        <p:nvSpPr>
          <p:cNvPr id="547" name="Shape 547"/>
          <p:cNvSpPr/>
          <p:nvPr/>
        </p:nvSpPr>
        <p:spPr>
          <a:xfrm>
            <a:off x="8001000" y="5229225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access</a:t>
            </a:r>
            <a:endParaRPr/>
          </a:p>
        </p:txBody>
      </p:sp>
      <p:sp>
        <p:nvSpPr>
          <p:cNvPr id="548" name="Shape 548"/>
          <p:cNvSpPr/>
          <p:nvPr/>
        </p:nvSpPr>
        <p:spPr>
          <a:xfrm rot="5400000">
            <a:off x="8382000" y="5762625"/>
            <a:ext cx="304800" cy="1066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/>
          </a:p>
        </p:txBody>
      </p:sp>
      <p:sp>
        <p:nvSpPr>
          <p:cNvPr id="549" name="Shape 549"/>
          <p:cNvSpPr/>
          <p:nvPr/>
        </p:nvSpPr>
        <p:spPr>
          <a:xfrm>
            <a:off x="8001000" y="5534025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size</a:t>
            </a:r>
            <a:endParaRPr/>
          </a:p>
        </p:txBody>
      </p:sp>
      <p:sp>
        <p:nvSpPr>
          <p:cNvPr id="550" name="Shape 550"/>
          <p:cNvSpPr/>
          <p:nvPr/>
        </p:nvSpPr>
        <p:spPr>
          <a:xfrm>
            <a:off x="8001000" y="5838825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type</a:t>
            </a:r>
            <a:endParaRPr/>
          </a:p>
        </p:txBody>
      </p:sp>
      <p:sp>
        <p:nvSpPr>
          <p:cNvPr id="551" name="Shape 551"/>
          <p:cNvSpPr txBox="1"/>
          <p:nvPr/>
        </p:nvSpPr>
        <p:spPr>
          <a:xfrm>
            <a:off x="5282515" y="3352800"/>
            <a:ext cx="1549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A (terminal)</a:t>
            </a:r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Shape 552"/>
          <p:cNvSpPr txBox="1"/>
          <p:nvPr/>
        </p:nvSpPr>
        <p:spPr>
          <a:xfrm>
            <a:off x="5290753" y="5029200"/>
            <a:ext cx="115768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B (disk)</a:t>
            </a:r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Shape 553"/>
          <p:cNvSpPr txBox="1"/>
          <p:nvPr/>
        </p:nvSpPr>
        <p:spPr>
          <a:xfrm>
            <a:off x="9499600" y="3886201"/>
            <a:ext cx="9144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 in </a:t>
            </a:r>
            <a:endParaRPr/>
          </a:p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stat</a:t>
            </a:r>
            <a:r>
              <a:rPr lang="en-US" sz="16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struct</a:t>
            </a:r>
            <a:endParaRPr sz="1600" b="1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Shape 554"/>
          <p:cNvSpPr/>
          <p:nvPr/>
        </p:nvSpPr>
        <p:spPr>
          <a:xfrm>
            <a:off x="9135076" y="3649361"/>
            <a:ext cx="366418" cy="1188720"/>
          </a:xfrm>
          <a:prstGeom prst="rightBrace">
            <a:avLst>
              <a:gd name="adj1" fmla="val 133333"/>
              <a:gd name="adj2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5" name="Shape 555"/>
          <p:cNvCxnSpPr/>
          <p:nvPr/>
        </p:nvCxnSpPr>
        <p:spPr>
          <a:xfrm rot="10800000" flipH="1">
            <a:off x="6230938" y="5229225"/>
            <a:ext cx="1770062" cy="257175"/>
          </a:xfrm>
          <a:prstGeom prst="straightConnector1">
            <a:avLst/>
          </a:prstGeom>
          <a:noFill/>
          <a:ln w="25400" cap="flat" cmpd="sng">
            <a:solidFill>
              <a:srgbClr val="60606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556" name="Shape 556"/>
          <p:cNvSpPr txBox="1"/>
          <p:nvPr/>
        </p:nvSpPr>
        <p:spPr>
          <a:xfrm>
            <a:off x="1600201" y="6248400"/>
            <a:ext cx="35177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b="1" i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File pos is maintained per open file</a:t>
            </a:r>
            <a:endParaRPr b="1" i="1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7" grpId="0"/>
      <p:bldP spid="528" grpId="0"/>
      <p:bldP spid="529" grpId="0" animBg="1"/>
      <p:bldP spid="530" grpId="0" animBg="1"/>
      <p:bldP spid="531" grpId="0" animBg="1"/>
      <p:bldP spid="533" grpId="0" animBg="1"/>
      <p:bldP spid="534" grpId="0" animBg="1"/>
      <p:bldP spid="535" grpId="0" animBg="1"/>
      <p:bldP spid="536" grpId="0" animBg="1"/>
      <p:bldP spid="537" grpId="0" animBg="1"/>
      <p:bldP spid="543" grpId="0" animBg="1"/>
      <p:bldP spid="544" grpId="0" animBg="1"/>
      <p:bldP spid="545" grpId="0" animBg="1"/>
      <p:bldP spid="546" grpId="0" animBg="1"/>
      <p:bldP spid="547" grpId="0" animBg="1"/>
      <p:bldP spid="548" grpId="0" animBg="1"/>
      <p:bldP spid="549" grpId="0" animBg="1"/>
      <p:bldP spid="550" grpId="0" animBg="1"/>
      <p:bldP spid="551" grpId="0"/>
      <p:bldP spid="552" grpId="0"/>
      <p:bldP spid="553" grpId="0"/>
      <p:bldP spid="554" grpId="0" animBg="1"/>
      <p:bldP spid="55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Shape 561"/>
          <p:cNvSpPr txBox="1">
            <a:spLocks noGrp="1"/>
          </p:cNvSpPr>
          <p:nvPr>
            <p:ph type="title"/>
          </p:nvPr>
        </p:nvSpPr>
        <p:spPr>
          <a:xfrm>
            <a:off x="1881019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Sharing</a:t>
            </a:r>
            <a:endParaRPr/>
          </a:p>
        </p:txBody>
      </p:sp>
      <p:sp>
        <p:nvSpPr>
          <p:cNvPr id="562" name="Shape 562"/>
          <p:cNvSpPr txBox="1">
            <a:spLocks noGrp="1"/>
          </p:cNvSpPr>
          <p:nvPr>
            <p:ph type="body" idx="1"/>
          </p:nvPr>
        </p:nvSpPr>
        <p:spPr>
          <a:xfrm>
            <a:off x="1895176" y="1220788"/>
            <a:ext cx="8307387" cy="11414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lnSpc>
                <a:spcPct val="85000"/>
              </a:lnSpc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distinct descriptors sharing the same disk file through two distinct open file table entries</a:t>
            </a:r>
            <a:endParaRPr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 Calling </a:t>
            </a: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twice with the same </a:t>
            </a: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filename</a:t>
            </a: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argument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63" name="Shape 563"/>
          <p:cNvSpPr/>
          <p:nvPr/>
        </p:nvSpPr>
        <p:spPr>
          <a:xfrm>
            <a:off x="3030538" y="36703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Shape 564"/>
          <p:cNvSpPr/>
          <p:nvPr/>
        </p:nvSpPr>
        <p:spPr>
          <a:xfrm>
            <a:off x="3030538" y="38989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Shape 565"/>
          <p:cNvSpPr/>
          <p:nvPr/>
        </p:nvSpPr>
        <p:spPr>
          <a:xfrm>
            <a:off x="3030538" y="41275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Shape 566"/>
          <p:cNvSpPr/>
          <p:nvPr/>
        </p:nvSpPr>
        <p:spPr>
          <a:xfrm>
            <a:off x="3030538" y="43561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Shape 567"/>
          <p:cNvSpPr/>
          <p:nvPr/>
        </p:nvSpPr>
        <p:spPr>
          <a:xfrm>
            <a:off x="3030538" y="45847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Shape 568"/>
          <p:cNvSpPr/>
          <p:nvPr/>
        </p:nvSpPr>
        <p:spPr>
          <a:xfrm>
            <a:off x="2420938" y="36703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0</a:t>
            </a:r>
            <a:endParaRPr/>
          </a:p>
        </p:txBody>
      </p:sp>
      <p:sp>
        <p:nvSpPr>
          <p:cNvPr id="569" name="Shape 569"/>
          <p:cNvSpPr/>
          <p:nvPr/>
        </p:nvSpPr>
        <p:spPr>
          <a:xfrm>
            <a:off x="2420938" y="38989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1</a:t>
            </a:r>
            <a:endParaRPr/>
          </a:p>
        </p:txBody>
      </p:sp>
      <p:sp>
        <p:nvSpPr>
          <p:cNvPr id="570" name="Shape 570"/>
          <p:cNvSpPr/>
          <p:nvPr/>
        </p:nvSpPr>
        <p:spPr>
          <a:xfrm>
            <a:off x="2420938" y="41275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2</a:t>
            </a:r>
            <a:endParaRPr/>
          </a:p>
        </p:txBody>
      </p:sp>
      <p:sp>
        <p:nvSpPr>
          <p:cNvPr id="571" name="Shape 571"/>
          <p:cNvSpPr/>
          <p:nvPr/>
        </p:nvSpPr>
        <p:spPr>
          <a:xfrm>
            <a:off x="2420938" y="43561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3</a:t>
            </a:r>
            <a:endParaRPr/>
          </a:p>
        </p:txBody>
      </p:sp>
      <p:sp>
        <p:nvSpPr>
          <p:cNvPr id="572" name="Shape 572"/>
          <p:cNvSpPr/>
          <p:nvPr/>
        </p:nvSpPr>
        <p:spPr>
          <a:xfrm>
            <a:off x="2420938" y="45847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4</a:t>
            </a:r>
            <a:endParaRPr/>
          </a:p>
        </p:txBody>
      </p:sp>
      <p:sp>
        <p:nvSpPr>
          <p:cNvPr id="573" name="Shape 573"/>
          <p:cNvSpPr txBox="1"/>
          <p:nvPr/>
        </p:nvSpPr>
        <p:spPr>
          <a:xfrm>
            <a:off x="2134551" y="2636223"/>
            <a:ext cx="239008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Descriptor table</a:t>
            </a:r>
            <a:endParaRPr/>
          </a:p>
          <a:p>
            <a:pPr algn="ctr"/>
            <a:r>
              <a:rPr lang="en-US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[one table per process]</a:t>
            </a:r>
            <a:endParaRPr/>
          </a:p>
        </p:txBody>
      </p:sp>
      <p:sp>
        <p:nvSpPr>
          <p:cNvPr id="574" name="Shape 574"/>
          <p:cNvSpPr txBox="1"/>
          <p:nvPr/>
        </p:nvSpPr>
        <p:spPr>
          <a:xfrm>
            <a:off x="4683491" y="2636223"/>
            <a:ext cx="253232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Open file table </a:t>
            </a:r>
            <a:endParaRPr/>
          </a:p>
          <a:p>
            <a:pPr algn="ctr"/>
            <a:r>
              <a:rPr lang="en-US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[shared by all processes]</a:t>
            </a:r>
            <a:endParaRPr/>
          </a:p>
        </p:txBody>
      </p:sp>
      <p:sp>
        <p:nvSpPr>
          <p:cNvPr id="575" name="Shape 575"/>
          <p:cNvSpPr txBox="1"/>
          <p:nvPr/>
        </p:nvSpPr>
        <p:spPr>
          <a:xfrm>
            <a:off x="7274291" y="2636223"/>
            <a:ext cx="253232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v-node table</a:t>
            </a:r>
            <a:endParaRPr/>
          </a:p>
          <a:p>
            <a:pPr algn="ctr"/>
            <a:r>
              <a:rPr lang="en-US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[shared by all processes]</a:t>
            </a:r>
            <a:endParaRPr/>
          </a:p>
        </p:txBody>
      </p:sp>
      <p:sp>
        <p:nvSpPr>
          <p:cNvPr id="576" name="Shape 576"/>
          <p:cNvSpPr/>
          <p:nvPr/>
        </p:nvSpPr>
        <p:spPr>
          <a:xfrm>
            <a:off x="5392738" y="39624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pos</a:t>
            </a:r>
            <a:endParaRPr/>
          </a:p>
        </p:txBody>
      </p:sp>
      <p:sp>
        <p:nvSpPr>
          <p:cNvPr id="577" name="Shape 577"/>
          <p:cNvSpPr/>
          <p:nvPr/>
        </p:nvSpPr>
        <p:spPr>
          <a:xfrm>
            <a:off x="5392738" y="42672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refcnt=1</a:t>
            </a:r>
            <a:endParaRPr/>
          </a:p>
        </p:txBody>
      </p:sp>
      <p:sp>
        <p:nvSpPr>
          <p:cNvPr id="578" name="Shape 578"/>
          <p:cNvSpPr/>
          <p:nvPr/>
        </p:nvSpPr>
        <p:spPr>
          <a:xfrm rot="5400000">
            <a:off x="5773738" y="4191000"/>
            <a:ext cx="304800" cy="1066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/>
          </a:p>
        </p:txBody>
      </p:sp>
      <p:cxnSp>
        <p:nvCxnSpPr>
          <p:cNvPr id="579" name="Shape 579"/>
          <p:cNvCxnSpPr/>
          <p:nvPr/>
        </p:nvCxnSpPr>
        <p:spPr>
          <a:xfrm rot="10800000" flipH="1">
            <a:off x="3640138" y="3657596"/>
            <a:ext cx="1752600" cy="733429"/>
          </a:xfrm>
          <a:prstGeom prst="straightConnector1">
            <a:avLst/>
          </a:prstGeom>
          <a:noFill/>
          <a:ln w="25400" cap="flat" cmpd="sng">
            <a:solidFill>
              <a:srgbClr val="60606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580" name="Shape 580"/>
          <p:cNvSpPr/>
          <p:nvPr/>
        </p:nvSpPr>
        <p:spPr>
          <a:xfrm>
            <a:off x="5392738" y="36576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Shape 581"/>
          <p:cNvSpPr/>
          <p:nvPr/>
        </p:nvSpPr>
        <p:spPr>
          <a:xfrm>
            <a:off x="5392738" y="56388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pos</a:t>
            </a:r>
            <a:endParaRPr/>
          </a:p>
        </p:txBody>
      </p:sp>
      <p:sp>
        <p:nvSpPr>
          <p:cNvPr id="582" name="Shape 582"/>
          <p:cNvSpPr/>
          <p:nvPr/>
        </p:nvSpPr>
        <p:spPr>
          <a:xfrm>
            <a:off x="5392738" y="59436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refcnt=1</a:t>
            </a:r>
            <a:endParaRPr/>
          </a:p>
        </p:txBody>
      </p:sp>
      <p:sp>
        <p:nvSpPr>
          <p:cNvPr id="583" name="Shape 583"/>
          <p:cNvSpPr/>
          <p:nvPr/>
        </p:nvSpPr>
        <p:spPr>
          <a:xfrm rot="5400000">
            <a:off x="5773738" y="5867400"/>
            <a:ext cx="304800" cy="1066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/>
          </a:p>
        </p:txBody>
      </p:sp>
      <p:sp>
        <p:nvSpPr>
          <p:cNvPr id="584" name="Shape 584"/>
          <p:cNvSpPr/>
          <p:nvPr/>
        </p:nvSpPr>
        <p:spPr>
          <a:xfrm>
            <a:off x="5392738" y="53340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5" name="Shape 585"/>
          <p:cNvCxnSpPr/>
          <p:nvPr/>
        </p:nvCxnSpPr>
        <p:spPr>
          <a:xfrm>
            <a:off x="3640138" y="4683125"/>
            <a:ext cx="1770062" cy="698500"/>
          </a:xfrm>
          <a:prstGeom prst="straightConnector1">
            <a:avLst/>
          </a:prstGeom>
          <a:noFill/>
          <a:ln w="25400" cap="flat" cmpd="sng">
            <a:solidFill>
              <a:srgbClr val="60606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586" name="Shape 586"/>
          <p:cNvSpPr txBox="1"/>
          <p:nvPr/>
        </p:nvSpPr>
        <p:spPr>
          <a:xfrm>
            <a:off x="1752601" y="4086225"/>
            <a:ext cx="822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stderr</a:t>
            </a:r>
            <a:endParaRPr/>
          </a:p>
        </p:txBody>
      </p:sp>
      <p:sp>
        <p:nvSpPr>
          <p:cNvPr id="587" name="Shape 587"/>
          <p:cNvSpPr txBox="1"/>
          <p:nvPr/>
        </p:nvSpPr>
        <p:spPr>
          <a:xfrm>
            <a:off x="1752601" y="3857625"/>
            <a:ext cx="822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stdout</a:t>
            </a:r>
            <a:endParaRPr/>
          </a:p>
        </p:txBody>
      </p:sp>
      <p:sp>
        <p:nvSpPr>
          <p:cNvPr id="588" name="Shape 588"/>
          <p:cNvSpPr txBox="1"/>
          <p:nvPr/>
        </p:nvSpPr>
        <p:spPr>
          <a:xfrm>
            <a:off x="1858963" y="3629025"/>
            <a:ext cx="71596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stdin</a:t>
            </a:r>
            <a:endParaRPr/>
          </a:p>
        </p:txBody>
      </p:sp>
      <p:cxnSp>
        <p:nvCxnSpPr>
          <p:cNvPr id="589" name="Shape 589"/>
          <p:cNvCxnSpPr/>
          <p:nvPr/>
        </p:nvCxnSpPr>
        <p:spPr>
          <a:xfrm rot="10800000" flipH="1">
            <a:off x="6310314" y="3641725"/>
            <a:ext cx="1690687" cy="153988"/>
          </a:xfrm>
          <a:prstGeom prst="straightConnector1">
            <a:avLst/>
          </a:prstGeom>
          <a:noFill/>
          <a:ln w="25400" cap="flat" cmpd="sng">
            <a:solidFill>
              <a:srgbClr val="0070C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590" name="Shape 590"/>
          <p:cNvSpPr/>
          <p:nvPr/>
        </p:nvSpPr>
        <p:spPr>
          <a:xfrm>
            <a:off x="8001000" y="3629025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access</a:t>
            </a:r>
            <a:endParaRPr/>
          </a:p>
        </p:txBody>
      </p:sp>
      <p:sp>
        <p:nvSpPr>
          <p:cNvPr id="591" name="Shape 591"/>
          <p:cNvSpPr/>
          <p:nvPr/>
        </p:nvSpPr>
        <p:spPr>
          <a:xfrm rot="5400000">
            <a:off x="8382000" y="4162425"/>
            <a:ext cx="304800" cy="1066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/>
          </a:p>
        </p:txBody>
      </p:sp>
      <p:sp>
        <p:nvSpPr>
          <p:cNvPr id="592" name="Shape 592"/>
          <p:cNvSpPr/>
          <p:nvPr/>
        </p:nvSpPr>
        <p:spPr>
          <a:xfrm>
            <a:off x="8001000" y="3933825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size</a:t>
            </a:r>
            <a:endParaRPr/>
          </a:p>
        </p:txBody>
      </p:sp>
      <p:sp>
        <p:nvSpPr>
          <p:cNvPr id="593" name="Shape 593"/>
          <p:cNvSpPr/>
          <p:nvPr/>
        </p:nvSpPr>
        <p:spPr>
          <a:xfrm>
            <a:off x="8001000" y="4238625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type</a:t>
            </a:r>
            <a:endParaRPr/>
          </a:p>
        </p:txBody>
      </p:sp>
      <p:sp>
        <p:nvSpPr>
          <p:cNvPr id="594" name="Shape 594"/>
          <p:cNvSpPr txBox="1"/>
          <p:nvPr/>
        </p:nvSpPr>
        <p:spPr>
          <a:xfrm>
            <a:off x="5282515" y="3352800"/>
            <a:ext cx="116870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A (disk)</a:t>
            </a:r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Shape 595"/>
          <p:cNvSpPr txBox="1"/>
          <p:nvPr/>
        </p:nvSpPr>
        <p:spPr>
          <a:xfrm>
            <a:off x="5290753" y="5029200"/>
            <a:ext cx="115768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B (disk)</a:t>
            </a:r>
            <a:endParaRPr/>
          </a:p>
        </p:txBody>
      </p:sp>
      <p:cxnSp>
        <p:nvCxnSpPr>
          <p:cNvPr id="596" name="Shape 596"/>
          <p:cNvCxnSpPr/>
          <p:nvPr/>
        </p:nvCxnSpPr>
        <p:spPr>
          <a:xfrm rot="10800000" flipH="1">
            <a:off x="6230938" y="3641725"/>
            <a:ext cx="1770062" cy="1844674"/>
          </a:xfrm>
          <a:prstGeom prst="straightConnector1">
            <a:avLst/>
          </a:prstGeom>
          <a:noFill/>
          <a:ln w="25400" cap="flat" cmpd="sng">
            <a:solidFill>
              <a:srgbClr val="0070C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597" name="Shape 597"/>
          <p:cNvSpPr txBox="1"/>
          <p:nvPr/>
        </p:nvSpPr>
        <p:spPr>
          <a:xfrm>
            <a:off x="6615798" y="6203484"/>
            <a:ext cx="38372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b="1" i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Different logical but same physical file</a:t>
            </a:r>
            <a:endParaRPr b="1" i="1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Shape 602"/>
          <p:cNvSpPr txBox="1">
            <a:spLocks noGrp="1"/>
          </p:cNvSpPr>
          <p:nvPr>
            <p:ph type="title"/>
          </p:nvPr>
        </p:nvSpPr>
        <p:spPr>
          <a:xfrm>
            <a:off x="1881019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Processes Share Files: </a:t>
            </a:r>
            <a:r>
              <a:rPr lang="en-US" sz="3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fork</a:t>
            </a:r>
            <a:endParaRPr sz="3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03" name="Shape 603"/>
          <p:cNvSpPr txBox="1">
            <a:spLocks noGrp="1"/>
          </p:cNvSpPr>
          <p:nvPr>
            <p:ph type="body" idx="1"/>
          </p:nvPr>
        </p:nvSpPr>
        <p:spPr>
          <a:xfrm>
            <a:off x="1903414" y="1143000"/>
            <a:ext cx="8307387" cy="1295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child process inherits its parent’s open files</a:t>
            </a:r>
            <a:endParaRPr sz="24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situation unchanged by </a:t>
            </a: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exec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functions (use </a:t>
            </a: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fcntl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change)</a:t>
            </a:r>
            <a:endParaRPr/>
          </a:p>
          <a:p>
            <a:pPr marL="342900" indent="-342900"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i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fork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call:</a:t>
            </a:r>
            <a:endParaRPr/>
          </a:p>
        </p:txBody>
      </p:sp>
      <p:sp>
        <p:nvSpPr>
          <p:cNvPr id="604" name="Shape 604"/>
          <p:cNvSpPr/>
          <p:nvPr/>
        </p:nvSpPr>
        <p:spPr>
          <a:xfrm>
            <a:off x="3030538" y="36703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Shape 605"/>
          <p:cNvSpPr/>
          <p:nvPr/>
        </p:nvSpPr>
        <p:spPr>
          <a:xfrm>
            <a:off x="3030538" y="38989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Shape 606"/>
          <p:cNvSpPr/>
          <p:nvPr/>
        </p:nvSpPr>
        <p:spPr>
          <a:xfrm>
            <a:off x="3030538" y="41275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Shape 607"/>
          <p:cNvSpPr/>
          <p:nvPr/>
        </p:nvSpPr>
        <p:spPr>
          <a:xfrm>
            <a:off x="3030538" y="43561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Shape 608"/>
          <p:cNvSpPr/>
          <p:nvPr/>
        </p:nvSpPr>
        <p:spPr>
          <a:xfrm>
            <a:off x="3030538" y="45847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Shape 609"/>
          <p:cNvSpPr/>
          <p:nvPr/>
        </p:nvSpPr>
        <p:spPr>
          <a:xfrm>
            <a:off x="2420938" y="36703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0</a:t>
            </a:r>
            <a:endParaRPr/>
          </a:p>
        </p:txBody>
      </p:sp>
      <p:sp>
        <p:nvSpPr>
          <p:cNvPr id="610" name="Shape 610"/>
          <p:cNvSpPr/>
          <p:nvPr/>
        </p:nvSpPr>
        <p:spPr>
          <a:xfrm>
            <a:off x="2420938" y="38989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1</a:t>
            </a:r>
            <a:endParaRPr/>
          </a:p>
        </p:txBody>
      </p:sp>
      <p:sp>
        <p:nvSpPr>
          <p:cNvPr id="611" name="Shape 611"/>
          <p:cNvSpPr/>
          <p:nvPr/>
        </p:nvSpPr>
        <p:spPr>
          <a:xfrm>
            <a:off x="2420938" y="41275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2</a:t>
            </a:r>
            <a:endParaRPr/>
          </a:p>
        </p:txBody>
      </p:sp>
      <p:sp>
        <p:nvSpPr>
          <p:cNvPr id="612" name="Shape 612"/>
          <p:cNvSpPr/>
          <p:nvPr/>
        </p:nvSpPr>
        <p:spPr>
          <a:xfrm>
            <a:off x="2420938" y="43561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3</a:t>
            </a:r>
            <a:endParaRPr/>
          </a:p>
        </p:txBody>
      </p:sp>
      <p:sp>
        <p:nvSpPr>
          <p:cNvPr id="613" name="Shape 613"/>
          <p:cNvSpPr/>
          <p:nvPr/>
        </p:nvSpPr>
        <p:spPr>
          <a:xfrm>
            <a:off x="2420938" y="45847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4</a:t>
            </a:r>
            <a:endParaRPr/>
          </a:p>
        </p:txBody>
      </p:sp>
      <p:sp>
        <p:nvSpPr>
          <p:cNvPr id="614" name="Shape 614"/>
          <p:cNvSpPr txBox="1"/>
          <p:nvPr/>
        </p:nvSpPr>
        <p:spPr>
          <a:xfrm>
            <a:off x="2134551" y="2636223"/>
            <a:ext cx="239008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Descriptor table</a:t>
            </a:r>
            <a:endParaRPr/>
          </a:p>
          <a:p>
            <a:pPr algn="ctr"/>
            <a:r>
              <a:rPr lang="en-US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[one table per process]</a:t>
            </a:r>
            <a:endParaRPr/>
          </a:p>
        </p:txBody>
      </p:sp>
      <p:sp>
        <p:nvSpPr>
          <p:cNvPr id="615" name="Shape 615"/>
          <p:cNvSpPr txBox="1"/>
          <p:nvPr/>
        </p:nvSpPr>
        <p:spPr>
          <a:xfrm>
            <a:off x="4683491" y="2636223"/>
            <a:ext cx="253232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Open file table </a:t>
            </a:r>
            <a:endParaRPr/>
          </a:p>
          <a:p>
            <a:pPr algn="ctr"/>
            <a:r>
              <a:rPr lang="en-US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[shared by all processes]</a:t>
            </a:r>
            <a:endParaRPr/>
          </a:p>
        </p:txBody>
      </p:sp>
      <p:sp>
        <p:nvSpPr>
          <p:cNvPr id="616" name="Shape 616"/>
          <p:cNvSpPr txBox="1"/>
          <p:nvPr/>
        </p:nvSpPr>
        <p:spPr>
          <a:xfrm>
            <a:off x="7274291" y="2636223"/>
            <a:ext cx="253232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v-node table</a:t>
            </a:r>
            <a:endParaRPr/>
          </a:p>
          <a:p>
            <a:pPr algn="ctr"/>
            <a:r>
              <a:rPr lang="en-US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[shared by all processes]</a:t>
            </a:r>
            <a:endParaRPr/>
          </a:p>
        </p:txBody>
      </p:sp>
      <p:sp>
        <p:nvSpPr>
          <p:cNvPr id="617" name="Shape 617"/>
          <p:cNvSpPr/>
          <p:nvPr/>
        </p:nvSpPr>
        <p:spPr>
          <a:xfrm>
            <a:off x="5392738" y="39624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pos</a:t>
            </a:r>
            <a:endParaRPr/>
          </a:p>
        </p:txBody>
      </p:sp>
      <p:sp>
        <p:nvSpPr>
          <p:cNvPr id="618" name="Shape 618"/>
          <p:cNvSpPr/>
          <p:nvPr/>
        </p:nvSpPr>
        <p:spPr>
          <a:xfrm>
            <a:off x="5392738" y="42672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refcnt=1</a:t>
            </a:r>
            <a:endParaRPr/>
          </a:p>
        </p:txBody>
      </p:sp>
      <p:sp>
        <p:nvSpPr>
          <p:cNvPr id="619" name="Shape 619"/>
          <p:cNvSpPr/>
          <p:nvPr/>
        </p:nvSpPr>
        <p:spPr>
          <a:xfrm rot="5400000">
            <a:off x="5773738" y="4191000"/>
            <a:ext cx="304800" cy="1066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/>
          </a:p>
        </p:txBody>
      </p:sp>
      <p:cxnSp>
        <p:nvCxnSpPr>
          <p:cNvPr id="620" name="Shape 620"/>
          <p:cNvCxnSpPr/>
          <p:nvPr/>
        </p:nvCxnSpPr>
        <p:spPr>
          <a:xfrm rot="10800000" flipH="1">
            <a:off x="3352800" y="3657600"/>
            <a:ext cx="2039938" cy="352425"/>
          </a:xfrm>
          <a:prstGeom prst="straightConnector1">
            <a:avLst/>
          </a:prstGeom>
          <a:noFill/>
          <a:ln w="25400" cap="flat" cmpd="sng">
            <a:solidFill>
              <a:srgbClr val="60606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621" name="Shape 621"/>
          <p:cNvSpPr/>
          <p:nvPr/>
        </p:nvSpPr>
        <p:spPr>
          <a:xfrm>
            <a:off x="5392738" y="36576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Shape 622"/>
          <p:cNvSpPr/>
          <p:nvPr/>
        </p:nvSpPr>
        <p:spPr>
          <a:xfrm>
            <a:off x="5392738" y="56388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pos</a:t>
            </a:r>
            <a:endParaRPr/>
          </a:p>
        </p:txBody>
      </p:sp>
      <p:sp>
        <p:nvSpPr>
          <p:cNvPr id="623" name="Shape 623"/>
          <p:cNvSpPr/>
          <p:nvPr/>
        </p:nvSpPr>
        <p:spPr>
          <a:xfrm>
            <a:off x="5392738" y="59436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refcnt=1</a:t>
            </a:r>
            <a:endParaRPr/>
          </a:p>
        </p:txBody>
      </p:sp>
      <p:sp>
        <p:nvSpPr>
          <p:cNvPr id="624" name="Shape 624"/>
          <p:cNvSpPr/>
          <p:nvPr/>
        </p:nvSpPr>
        <p:spPr>
          <a:xfrm rot="5400000">
            <a:off x="5773738" y="5867400"/>
            <a:ext cx="304800" cy="1066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/>
          </a:p>
        </p:txBody>
      </p:sp>
      <p:sp>
        <p:nvSpPr>
          <p:cNvPr id="625" name="Shape 625"/>
          <p:cNvSpPr/>
          <p:nvPr/>
        </p:nvSpPr>
        <p:spPr>
          <a:xfrm>
            <a:off x="5392738" y="53340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6" name="Shape 626"/>
          <p:cNvCxnSpPr/>
          <p:nvPr/>
        </p:nvCxnSpPr>
        <p:spPr>
          <a:xfrm>
            <a:off x="3352800" y="4683125"/>
            <a:ext cx="2057400" cy="698500"/>
          </a:xfrm>
          <a:prstGeom prst="straightConnector1">
            <a:avLst/>
          </a:prstGeom>
          <a:noFill/>
          <a:ln w="25400" cap="flat" cmpd="sng">
            <a:solidFill>
              <a:srgbClr val="60606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627" name="Shape 627"/>
          <p:cNvSpPr txBox="1"/>
          <p:nvPr/>
        </p:nvSpPr>
        <p:spPr>
          <a:xfrm>
            <a:off x="1752601" y="4086225"/>
            <a:ext cx="822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stderr</a:t>
            </a:r>
            <a:endParaRPr/>
          </a:p>
        </p:txBody>
      </p:sp>
      <p:sp>
        <p:nvSpPr>
          <p:cNvPr id="628" name="Shape 628"/>
          <p:cNvSpPr txBox="1"/>
          <p:nvPr/>
        </p:nvSpPr>
        <p:spPr>
          <a:xfrm>
            <a:off x="1752601" y="3857625"/>
            <a:ext cx="822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stdout</a:t>
            </a:r>
            <a:endParaRPr/>
          </a:p>
        </p:txBody>
      </p:sp>
      <p:sp>
        <p:nvSpPr>
          <p:cNvPr id="629" name="Shape 629"/>
          <p:cNvSpPr txBox="1"/>
          <p:nvPr/>
        </p:nvSpPr>
        <p:spPr>
          <a:xfrm>
            <a:off x="1858963" y="3629025"/>
            <a:ext cx="71596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stdin</a:t>
            </a:r>
            <a:endParaRPr/>
          </a:p>
        </p:txBody>
      </p:sp>
      <p:cxnSp>
        <p:nvCxnSpPr>
          <p:cNvPr id="630" name="Shape 630"/>
          <p:cNvCxnSpPr/>
          <p:nvPr/>
        </p:nvCxnSpPr>
        <p:spPr>
          <a:xfrm rot="10800000" flipH="1">
            <a:off x="6310314" y="3641725"/>
            <a:ext cx="1690687" cy="153988"/>
          </a:xfrm>
          <a:prstGeom prst="straightConnector1">
            <a:avLst/>
          </a:prstGeom>
          <a:noFill/>
          <a:ln w="25400" cap="flat" cmpd="sng">
            <a:solidFill>
              <a:srgbClr val="60606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631" name="Shape 631"/>
          <p:cNvSpPr/>
          <p:nvPr/>
        </p:nvSpPr>
        <p:spPr>
          <a:xfrm>
            <a:off x="8001000" y="3629025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access</a:t>
            </a:r>
            <a:endParaRPr/>
          </a:p>
        </p:txBody>
      </p:sp>
      <p:sp>
        <p:nvSpPr>
          <p:cNvPr id="632" name="Shape 632"/>
          <p:cNvSpPr/>
          <p:nvPr/>
        </p:nvSpPr>
        <p:spPr>
          <a:xfrm rot="5400000">
            <a:off x="8382000" y="4162425"/>
            <a:ext cx="304800" cy="1066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/>
          </a:p>
        </p:txBody>
      </p:sp>
      <p:sp>
        <p:nvSpPr>
          <p:cNvPr id="633" name="Shape 633"/>
          <p:cNvSpPr/>
          <p:nvPr/>
        </p:nvSpPr>
        <p:spPr>
          <a:xfrm>
            <a:off x="8001000" y="3933825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size</a:t>
            </a:r>
            <a:endParaRPr/>
          </a:p>
        </p:txBody>
      </p:sp>
      <p:sp>
        <p:nvSpPr>
          <p:cNvPr id="634" name="Shape 634"/>
          <p:cNvSpPr/>
          <p:nvPr/>
        </p:nvSpPr>
        <p:spPr>
          <a:xfrm>
            <a:off x="8001000" y="4238625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type</a:t>
            </a:r>
            <a:endParaRPr/>
          </a:p>
        </p:txBody>
      </p:sp>
      <p:sp>
        <p:nvSpPr>
          <p:cNvPr id="635" name="Shape 635"/>
          <p:cNvSpPr/>
          <p:nvPr/>
        </p:nvSpPr>
        <p:spPr>
          <a:xfrm>
            <a:off x="8001000" y="5229225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access</a:t>
            </a:r>
            <a:endParaRPr/>
          </a:p>
        </p:txBody>
      </p:sp>
      <p:sp>
        <p:nvSpPr>
          <p:cNvPr id="636" name="Shape 636"/>
          <p:cNvSpPr/>
          <p:nvPr/>
        </p:nvSpPr>
        <p:spPr>
          <a:xfrm rot="5400000">
            <a:off x="8382000" y="5762625"/>
            <a:ext cx="304800" cy="1066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/>
          </a:p>
        </p:txBody>
      </p:sp>
      <p:sp>
        <p:nvSpPr>
          <p:cNvPr id="637" name="Shape 637"/>
          <p:cNvSpPr/>
          <p:nvPr/>
        </p:nvSpPr>
        <p:spPr>
          <a:xfrm>
            <a:off x="8001000" y="5534025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size</a:t>
            </a:r>
            <a:endParaRPr/>
          </a:p>
        </p:txBody>
      </p:sp>
      <p:sp>
        <p:nvSpPr>
          <p:cNvPr id="638" name="Shape 638"/>
          <p:cNvSpPr/>
          <p:nvPr/>
        </p:nvSpPr>
        <p:spPr>
          <a:xfrm>
            <a:off x="8001000" y="5838825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type</a:t>
            </a:r>
            <a:endParaRPr/>
          </a:p>
        </p:txBody>
      </p:sp>
      <p:sp>
        <p:nvSpPr>
          <p:cNvPr id="639" name="Shape 639"/>
          <p:cNvSpPr txBox="1"/>
          <p:nvPr/>
        </p:nvSpPr>
        <p:spPr>
          <a:xfrm>
            <a:off x="5282515" y="3352800"/>
            <a:ext cx="1549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A (terminal)</a:t>
            </a:r>
            <a:endParaRPr/>
          </a:p>
        </p:txBody>
      </p:sp>
      <p:sp>
        <p:nvSpPr>
          <p:cNvPr id="640" name="Shape 640"/>
          <p:cNvSpPr txBox="1"/>
          <p:nvPr/>
        </p:nvSpPr>
        <p:spPr>
          <a:xfrm>
            <a:off x="5290753" y="5029200"/>
            <a:ext cx="115768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B (disk)</a:t>
            </a:r>
            <a:endParaRPr/>
          </a:p>
        </p:txBody>
      </p:sp>
      <p:cxnSp>
        <p:nvCxnSpPr>
          <p:cNvPr id="641" name="Shape 641"/>
          <p:cNvCxnSpPr/>
          <p:nvPr/>
        </p:nvCxnSpPr>
        <p:spPr>
          <a:xfrm rot="10800000" flipH="1">
            <a:off x="6230938" y="5229225"/>
            <a:ext cx="1770062" cy="257175"/>
          </a:xfrm>
          <a:prstGeom prst="straightConnector1">
            <a:avLst/>
          </a:prstGeom>
          <a:noFill/>
          <a:ln w="25400" cap="flat" cmpd="sng">
            <a:solidFill>
              <a:srgbClr val="606060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Shape 646"/>
          <p:cNvSpPr txBox="1">
            <a:spLocks noGrp="1"/>
          </p:cNvSpPr>
          <p:nvPr>
            <p:ph type="title"/>
          </p:nvPr>
        </p:nvSpPr>
        <p:spPr>
          <a:xfrm>
            <a:off x="1796984" y="381000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Processes Share Files: </a:t>
            </a:r>
            <a:r>
              <a:rPr lang="en-US" sz="3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fork</a:t>
            </a:r>
            <a:endParaRPr sz="34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47" name="Shape 647"/>
          <p:cNvSpPr txBox="1">
            <a:spLocks noGrp="1"/>
          </p:cNvSpPr>
          <p:nvPr>
            <p:ph type="body" idx="1"/>
          </p:nvPr>
        </p:nvSpPr>
        <p:spPr>
          <a:xfrm>
            <a:off x="1814514" y="1066800"/>
            <a:ext cx="8307387" cy="1295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child process inherits its parent’s open files</a:t>
            </a:r>
            <a:endParaRPr/>
          </a:p>
          <a:p>
            <a:pPr marL="342900" indent="-342900"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i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After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fork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Child’s table same as parent’s, and +1 to each refcnt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Shape 648"/>
          <p:cNvSpPr/>
          <p:nvPr/>
        </p:nvSpPr>
        <p:spPr>
          <a:xfrm>
            <a:off x="3030538" y="36703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Shape 649"/>
          <p:cNvSpPr/>
          <p:nvPr/>
        </p:nvSpPr>
        <p:spPr>
          <a:xfrm>
            <a:off x="3030538" y="38989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Shape 650"/>
          <p:cNvSpPr/>
          <p:nvPr/>
        </p:nvSpPr>
        <p:spPr>
          <a:xfrm>
            <a:off x="3030538" y="41275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Shape 651"/>
          <p:cNvSpPr/>
          <p:nvPr/>
        </p:nvSpPr>
        <p:spPr>
          <a:xfrm>
            <a:off x="3030538" y="43561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Shape 652"/>
          <p:cNvSpPr/>
          <p:nvPr/>
        </p:nvSpPr>
        <p:spPr>
          <a:xfrm>
            <a:off x="3030538" y="45847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Shape 653"/>
          <p:cNvSpPr/>
          <p:nvPr/>
        </p:nvSpPr>
        <p:spPr>
          <a:xfrm>
            <a:off x="2420938" y="36703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0</a:t>
            </a:r>
            <a:endParaRPr/>
          </a:p>
        </p:txBody>
      </p:sp>
      <p:sp>
        <p:nvSpPr>
          <p:cNvPr id="654" name="Shape 654"/>
          <p:cNvSpPr/>
          <p:nvPr/>
        </p:nvSpPr>
        <p:spPr>
          <a:xfrm>
            <a:off x="2420938" y="38989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1</a:t>
            </a:r>
            <a:endParaRPr/>
          </a:p>
        </p:txBody>
      </p:sp>
      <p:sp>
        <p:nvSpPr>
          <p:cNvPr id="655" name="Shape 655"/>
          <p:cNvSpPr/>
          <p:nvPr/>
        </p:nvSpPr>
        <p:spPr>
          <a:xfrm>
            <a:off x="2420938" y="41275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2</a:t>
            </a:r>
            <a:endParaRPr/>
          </a:p>
        </p:txBody>
      </p:sp>
      <p:sp>
        <p:nvSpPr>
          <p:cNvPr id="656" name="Shape 656"/>
          <p:cNvSpPr/>
          <p:nvPr/>
        </p:nvSpPr>
        <p:spPr>
          <a:xfrm>
            <a:off x="2420938" y="43561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3</a:t>
            </a:r>
            <a:endParaRPr/>
          </a:p>
        </p:txBody>
      </p:sp>
      <p:sp>
        <p:nvSpPr>
          <p:cNvPr id="657" name="Shape 657"/>
          <p:cNvSpPr/>
          <p:nvPr/>
        </p:nvSpPr>
        <p:spPr>
          <a:xfrm>
            <a:off x="2420938" y="45847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4</a:t>
            </a:r>
            <a:endParaRPr/>
          </a:p>
        </p:txBody>
      </p:sp>
      <p:sp>
        <p:nvSpPr>
          <p:cNvPr id="658" name="Shape 658"/>
          <p:cNvSpPr txBox="1"/>
          <p:nvPr/>
        </p:nvSpPr>
        <p:spPr>
          <a:xfrm>
            <a:off x="2134551" y="2636223"/>
            <a:ext cx="239008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Descriptor table</a:t>
            </a:r>
            <a:endParaRPr/>
          </a:p>
          <a:p>
            <a:pPr algn="ctr"/>
            <a:r>
              <a:rPr lang="en-US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[one table per process]</a:t>
            </a:r>
            <a:endParaRPr/>
          </a:p>
        </p:txBody>
      </p:sp>
      <p:sp>
        <p:nvSpPr>
          <p:cNvPr id="659" name="Shape 659"/>
          <p:cNvSpPr txBox="1"/>
          <p:nvPr/>
        </p:nvSpPr>
        <p:spPr>
          <a:xfrm>
            <a:off x="4683491" y="2636223"/>
            <a:ext cx="253232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Open file table </a:t>
            </a:r>
            <a:endParaRPr/>
          </a:p>
          <a:p>
            <a:pPr algn="ctr"/>
            <a:r>
              <a:rPr lang="en-US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[shared by all processes]</a:t>
            </a:r>
            <a:endParaRPr/>
          </a:p>
        </p:txBody>
      </p:sp>
      <p:sp>
        <p:nvSpPr>
          <p:cNvPr id="660" name="Shape 660"/>
          <p:cNvSpPr txBox="1"/>
          <p:nvPr/>
        </p:nvSpPr>
        <p:spPr>
          <a:xfrm>
            <a:off x="7274291" y="2636223"/>
            <a:ext cx="253232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v-node table</a:t>
            </a:r>
            <a:endParaRPr/>
          </a:p>
          <a:p>
            <a:pPr algn="ctr"/>
            <a:r>
              <a:rPr lang="en-US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[shared by all processes]</a:t>
            </a:r>
            <a:endParaRPr/>
          </a:p>
        </p:txBody>
      </p:sp>
      <p:sp>
        <p:nvSpPr>
          <p:cNvPr id="661" name="Shape 661"/>
          <p:cNvSpPr/>
          <p:nvPr/>
        </p:nvSpPr>
        <p:spPr>
          <a:xfrm>
            <a:off x="5392738" y="39624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pos</a:t>
            </a:r>
            <a:endParaRPr/>
          </a:p>
        </p:txBody>
      </p:sp>
      <p:sp>
        <p:nvSpPr>
          <p:cNvPr id="662" name="Shape 662"/>
          <p:cNvSpPr/>
          <p:nvPr/>
        </p:nvSpPr>
        <p:spPr>
          <a:xfrm>
            <a:off x="5392738" y="42672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4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refcnt=2</a:t>
            </a:r>
            <a:endParaRPr sz="1400" b="1">
              <a:solidFill>
                <a:srgbClr val="0070C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3" name="Shape 663"/>
          <p:cNvSpPr/>
          <p:nvPr/>
        </p:nvSpPr>
        <p:spPr>
          <a:xfrm rot="5400000">
            <a:off x="5773738" y="4191000"/>
            <a:ext cx="304800" cy="1066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/>
          </a:p>
        </p:txBody>
      </p:sp>
      <p:cxnSp>
        <p:nvCxnSpPr>
          <p:cNvPr id="664" name="Shape 664"/>
          <p:cNvCxnSpPr/>
          <p:nvPr/>
        </p:nvCxnSpPr>
        <p:spPr>
          <a:xfrm rot="10800000" flipH="1">
            <a:off x="3352800" y="3657600"/>
            <a:ext cx="2039938" cy="352425"/>
          </a:xfrm>
          <a:prstGeom prst="straightConnector1">
            <a:avLst/>
          </a:prstGeom>
          <a:noFill/>
          <a:ln w="25400" cap="flat" cmpd="sng">
            <a:solidFill>
              <a:srgbClr val="60606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665" name="Shape 665"/>
          <p:cNvSpPr/>
          <p:nvPr/>
        </p:nvSpPr>
        <p:spPr>
          <a:xfrm>
            <a:off x="5392738" y="36576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Shape 666"/>
          <p:cNvSpPr/>
          <p:nvPr/>
        </p:nvSpPr>
        <p:spPr>
          <a:xfrm>
            <a:off x="5392738" y="56388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pos</a:t>
            </a:r>
            <a:endParaRPr/>
          </a:p>
        </p:txBody>
      </p:sp>
      <p:sp>
        <p:nvSpPr>
          <p:cNvPr id="667" name="Shape 667"/>
          <p:cNvSpPr/>
          <p:nvPr/>
        </p:nvSpPr>
        <p:spPr>
          <a:xfrm>
            <a:off x="5392738" y="59436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4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refcnt=2</a:t>
            </a:r>
            <a:endParaRPr sz="1400" b="1">
              <a:solidFill>
                <a:srgbClr val="0070C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8" name="Shape 668"/>
          <p:cNvSpPr/>
          <p:nvPr/>
        </p:nvSpPr>
        <p:spPr>
          <a:xfrm rot="5400000">
            <a:off x="5773738" y="5867400"/>
            <a:ext cx="304800" cy="1066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/>
          </a:p>
        </p:txBody>
      </p:sp>
      <p:sp>
        <p:nvSpPr>
          <p:cNvPr id="669" name="Shape 669"/>
          <p:cNvSpPr/>
          <p:nvPr/>
        </p:nvSpPr>
        <p:spPr>
          <a:xfrm>
            <a:off x="5392738" y="53340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0" name="Shape 670"/>
          <p:cNvCxnSpPr/>
          <p:nvPr/>
        </p:nvCxnSpPr>
        <p:spPr>
          <a:xfrm>
            <a:off x="3352800" y="4683126"/>
            <a:ext cx="2057400" cy="650875"/>
          </a:xfrm>
          <a:prstGeom prst="straightConnector1">
            <a:avLst/>
          </a:prstGeom>
          <a:noFill/>
          <a:ln w="25400" cap="flat" cmpd="sng">
            <a:solidFill>
              <a:srgbClr val="0070C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671" name="Shape 671"/>
          <p:cNvCxnSpPr/>
          <p:nvPr/>
        </p:nvCxnSpPr>
        <p:spPr>
          <a:xfrm rot="10800000" flipH="1">
            <a:off x="6310314" y="3641725"/>
            <a:ext cx="1690687" cy="153988"/>
          </a:xfrm>
          <a:prstGeom prst="straightConnector1">
            <a:avLst/>
          </a:prstGeom>
          <a:noFill/>
          <a:ln w="25400" cap="flat" cmpd="sng">
            <a:solidFill>
              <a:srgbClr val="60606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672" name="Shape 672"/>
          <p:cNvSpPr/>
          <p:nvPr/>
        </p:nvSpPr>
        <p:spPr>
          <a:xfrm>
            <a:off x="8001000" y="3629025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access</a:t>
            </a:r>
            <a:endParaRPr/>
          </a:p>
        </p:txBody>
      </p:sp>
      <p:sp>
        <p:nvSpPr>
          <p:cNvPr id="673" name="Shape 673"/>
          <p:cNvSpPr/>
          <p:nvPr/>
        </p:nvSpPr>
        <p:spPr>
          <a:xfrm rot="5400000">
            <a:off x="8382000" y="4162425"/>
            <a:ext cx="304800" cy="1066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/>
          </a:p>
        </p:txBody>
      </p:sp>
      <p:sp>
        <p:nvSpPr>
          <p:cNvPr id="674" name="Shape 674"/>
          <p:cNvSpPr/>
          <p:nvPr/>
        </p:nvSpPr>
        <p:spPr>
          <a:xfrm>
            <a:off x="8001000" y="3933825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size</a:t>
            </a:r>
            <a:endParaRPr/>
          </a:p>
        </p:txBody>
      </p:sp>
      <p:sp>
        <p:nvSpPr>
          <p:cNvPr id="675" name="Shape 675"/>
          <p:cNvSpPr/>
          <p:nvPr/>
        </p:nvSpPr>
        <p:spPr>
          <a:xfrm>
            <a:off x="8001000" y="4238625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type</a:t>
            </a:r>
            <a:endParaRPr/>
          </a:p>
        </p:txBody>
      </p:sp>
      <p:sp>
        <p:nvSpPr>
          <p:cNvPr id="676" name="Shape 676"/>
          <p:cNvSpPr/>
          <p:nvPr/>
        </p:nvSpPr>
        <p:spPr>
          <a:xfrm>
            <a:off x="8001000" y="5229225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access</a:t>
            </a:r>
            <a:endParaRPr/>
          </a:p>
        </p:txBody>
      </p:sp>
      <p:sp>
        <p:nvSpPr>
          <p:cNvPr id="677" name="Shape 677"/>
          <p:cNvSpPr/>
          <p:nvPr/>
        </p:nvSpPr>
        <p:spPr>
          <a:xfrm rot="5400000">
            <a:off x="8382000" y="5762625"/>
            <a:ext cx="304800" cy="1066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/>
          </a:p>
        </p:txBody>
      </p:sp>
      <p:sp>
        <p:nvSpPr>
          <p:cNvPr id="678" name="Shape 678"/>
          <p:cNvSpPr/>
          <p:nvPr/>
        </p:nvSpPr>
        <p:spPr>
          <a:xfrm>
            <a:off x="8001000" y="5534025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size</a:t>
            </a:r>
            <a:endParaRPr/>
          </a:p>
        </p:txBody>
      </p:sp>
      <p:sp>
        <p:nvSpPr>
          <p:cNvPr id="679" name="Shape 679"/>
          <p:cNvSpPr/>
          <p:nvPr/>
        </p:nvSpPr>
        <p:spPr>
          <a:xfrm>
            <a:off x="8001000" y="5838825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type</a:t>
            </a:r>
            <a:endParaRPr/>
          </a:p>
        </p:txBody>
      </p:sp>
      <p:sp>
        <p:nvSpPr>
          <p:cNvPr id="680" name="Shape 680"/>
          <p:cNvSpPr txBox="1"/>
          <p:nvPr/>
        </p:nvSpPr>
        <p:spPr>
          <a:xfrm>
            <a:off x="5282515" y="3352800"/>
            <a:ext cx="1549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A (terminal)</a:t>
            </a:r>
            <a:endParaRPr/>
          </a:p>
        </p:txBody>
      </p:sp>
      <p:sp>
        <p:nvSpPr>
          <p:cNvPr id="681" name="Shape 681"/>
          <p:cNvSpPr txBox="1"/>
          <p:nvPr/>
        </p:nvSpPr>
        <p:spPr>
          <a:xfrm>
            <a:off x="5290753" y="5029200"/>
            <a:ext cx="115768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B (disk)</a:t>
            </a:r>
            <a:endParaRPr/>
          </a:p>
        </p:txBody>
      </p:sp>
      <p:cxnSp>
        <p:nvCxnSpPr>
          <p:cNvPr id="682" name="Shape 682"/>
          <p:cNvCxnSpPr/>
          <p:nvPr/>
        </p:nvCxnSpPr>
        <p:spPr>
          <a:xfrm rot="10800000" flipH="1">
            <a:off x="6230938" y="5229225"/>
            <a:ext cx="1770062" cy="257175"/>
          </a:xfrm>
          <a:prstGeom prst="straightConnector1">
            <a:avLst/>
          </a:prstGeom>
          <a:noFill/>
          <a:ln w="25400" cap="flat" cmpd="sng">
            <a:solidFill>
              <a:srgbClr val="60606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683" name="Shape 683"/>
          <p:cNvSpPr/>
          <p:nvPr/>
        </p:nvSpPr>
        <p:spPr>
          <a:xfrm>
            <a:off x="3031524" y="54102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Shape 684"/>
          <p:cNvSpPr/>
          <p:nvPr/>
        </p:nvSpPr>
        <p:spPr>
          <a:xfrm>
            <a:off x="3031524" y="56388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Shape 685"/>
          <p:cNvSpPr/>
          <p:nvPr/>
        </p:nvSpPr>
        <p:spPr>
          <a:xfrm>
            <a:off x="3031524" y="58674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Shape 686"/>
          <p:cNvSpPr/>
          <p:nvPr/>
        </p:nvSpPr>
        <p:spPr>
          <a:xfrm>
            <a:off x="3031524" y="60960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Shape 687"/>
          <p:cNvSpPr/>
          <p:nvPr/>
        </p:nvSpPr>
        <p:spPr>
          <a:xfrm>
            <a:off x="3031524" y="63246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Shape 688"/>
          <p:cNvSpPr/>
          <p:nvPr/>
        </p:nvSpPr>
        <p:spPr>
          <a:xfrm>
            <a:off x="2421924" y="54102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0</a:t>
            </a:r>
            <a:endParaRPr/>
          </a:p>
        </p:txBody>
      </p:sp>
      <p:sp>
        <p:nvSpPr>
          <p:cNvPr id="689" name="Shape 689"/>
          <p:cNvSpPr/>
          <p:nvPr/>
        </p:nvSpPr>
        <p:spPr>
          <a:xfrm>
            <a:off x="2421924" y="56388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1</a:t>
            </a:r>
            <a:endParaRPr/>
          </a:p>
        </p:txBody>
      </p:sp>
      <p:sp>
        <p:nvSpPr>
          <p:cNvPr id="690" name="Shape 690"/>
          <p:cNvSpPr/>
          <p:nvPr/>
        </p:nvSpPr>
        <p:spPr>
          <a:xfrm>
            <a:off x="2421924" y="58674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2</a:t>
            </a:r>
            <a:endParaRPr/>
          </a:p>
        </p:txBody>
      </p:sp>
      <p:sp>
        <p:nvSpPr>
          <p:cNvPr id="691" name="Shape 691"/>
          <p:cNvSpPr/>
          <p:nvPr/>
        </p:nvSpPr>
        <p:spPr>
          <a:xfrm>
            <a:off x="2421924" y="60960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3</a:t>
            </a:r>
            <a:endParaRPr/>
          </a:p>
        </p:txBody>
      </p:sp>
      <p:sp>
        <p:nvSpPr>
          <p:cNvPr id="692" name="Shape 692"/>
          <p:cNvSpPr/>
          <p:nvPr/>
        </p:nvSpPr>
        <p:spPr>
          <a:xfrm>
            <a:off x="2421924" y="63246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4</a:t>
            </a:r>
            <a:endParaRPr/>
          </a:p>
        </p:txBody>
      </p:sp>
      <p:sp>
        <p:nvSpPr>
          <p:cNvPr id="693" name="Shape 693"/>
          <p:cNvSpPr txBox="1"/>
          <p:nvPr/>
        </p:nvSpPr>
        <p:spPr>
          <a:xfrm>
            <a:off x="2921559" y="3352800"/>
            <a:ext cx="81949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Shape 694"/>
          <p:cNvSpPr txBox="1"/>
          <p:nvPr/>
        </p:nvSpPr>
        <p:spPr>
          <a:xfrm>
            <a:off x="2913743" y="5105400"/>
            <a:ext cx="61427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Child</a:t>
            </a:r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5" name="Shape 695"/>
          <p:cNvCxnSpPr/>
          <p:nvPr/>
        </p:nvCxnSpPr>
        <p:spPr>
          <a:xfrm rot="-5400000">
            <a:off x="3332070" y="3695608"/>
            <a:ext cx="2064922" cy="2056414"/>
          </a:xfrm>
          <a:prstGeom prst="straightConnector1">
            <a:avLst/>
          </a:prstGeom>
          <a:noFill/>
          <a:ln w="25400" cap="flat" cmpd="sng">
            <a:solidFill>
              <a:srgbClr val="60606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696" name="Shape 696"/>
          <p:cNvCxnSpPr/>
          <p:nvPr/>
        </p:nvCxnSpPr>
        <p:spPr>
          <a:xfrm rot="10800000" flipH="1">
            <a:off x="3336324" y="5334000"/>
            <a:ext cx="2073876" cy="1107990"/>
          </a:xfrm>
          <a:prstGeom prst="straightConnector1">
            <a:avLst/>
          </a:prstGeom>
          <a:noFill/>
          <a:ln w="25400" cap="flat" cmpd="sng">
            <a:solidFill>
              <a:srgbClr val="0070C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697" name="Shape 697"/>
          <p:cNvSpPr txBox="1"/>
          <p:nvPr/>
        </p:nvSpPr>
        <p:spPr>
          <a:xfrm>
            <a:off x="6742758" y="6452779"/>
            <a:ext cx="32832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b="1" i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File is shared between processes</a:t>
            </a:r>
            <a:endParaRPr b="1" i="1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Shape 702"/>
          <p:cNvSpPr txBox="1">
            <a:spLocks noGrp="1"/>
          </p:cNvSpPr>
          <p:nvPr>
            <p:ph type="title"/>
          </p:nvPr>
        </p:nvSpPr>
        <p:spPr>
          <a:xfrm>
            <a:off x="1888525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I/O Redirection</a:t>
            </a:r>
            <a:endParaRPr/>
          </a:p>
        </p:txBody>
      </p:sp>
      <p:sp>
        <p:nvSpPr>
          <p:cNvPr id="703" name="Shape 703"/>
          <p:cNvSpPr txBox="1">
            <a:spLocks noGrp="1"/>
          </p:cNvSpPr>
          <p:nvPr>
            <p:ph type="body" idx="1"/>
          </p:nvPr>
        </p:nvSpPr>
        <p:spPr>
          <a:xfrm>
            <a:off x="1905000" y="1219200"/>
            <a:ext cx="83058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Question: How does a shell implement I/O redirection?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None/>
            </a:pPr>
            <a:r>
              <a:rPr lang="en-US" sz="20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linux</a:t>
            </a:r>
            <a:r>
              <a:rPr lang="en-US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 ls &gt; </a:t>
            </a:r>
            <a:r>
              <a:rPr lang="en-US" sz="20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foo.txt</a:t>
            </a:r>
            <a:endParaRPr dirty="0"/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Answer: By calling the </a:t>
            </a:r>
            <a:r>
              <a:rPr lang="en-US" sz="24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dup2(</a:t>
            </a:r>
            <a:r>
              <a:rPr lang="en-US" sz="24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oldfd</a:t>
            </a:r>
            <a:r>
              <a:rPr lang="en-US" sz="24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24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newfd</a:t>
            </a:r>
            <a:r>
              <a:rPr lang="en-US" sz="24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Copies (per-process) descriptor table entry </a:t>
            </a:r>
            <a:r>
              <a:rPr lang="en-US" sz="20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oldfd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to entry </a:t>
            </a:r>
            <a:r>
              <a:rPr lang="en-US" sz="20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newfd</a:t>
            </a:r>
            <a:endParaRPr sz="20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704" name="Shape 704"/>
          <p:cNvGrpSpPr/>
          <p:nvPr/>
        </p:nvGrpSpPr>
        <p:grpSpPr>
          <a:xfrm>
            <a:off x="2397211" y="4602162"/>
            <a:ext cx="1838325" cy="1722438"/>
            <a:chOff x="906162" y="4221162"/>
            <a:chExt cx="1838325" cy="1722438"/>
          </a:xfrm>
        </p:grpSpPr>
        <p:sp>
          <p:nvSpPr>
            <p:cNvPr id="705" name="Shape 705"/>
            <p:cNvSpPr/>
            <p:nvPr/>
          </p:nvSpPr>
          <p:spPr>
            <a:xfrm>
              <a:off x="1825324" y="4221162"/>
              <a:ext cx="919163" cy="344488"/>
            </a:xfrm>
            <a:prstGeom prst="rect">
              <a:avLst/>
            </a:prstGeom>
            <a:solidFill>
              <a:srgbClr val="D5D5F4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" name="Shape 706"/>
            <p:cNvSpPr/>
            <p:nvPr/>
          </p:nvSpPr>
          <p:spPr>
            <a:xfrm>
              <a:off x="1825324" y="4565650"/>
              <a:ext cx="919163" cy="344487"/>
            </a:xfrm>
            <a:prstGeom prst="rect">
              <a:avLst/>
            </a:prstGeom>
            <a:solidFill>
              <a:srgbClr val="D5D5F4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US" sz="24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</a:t>
              </a:r>
              <a:endParaRPr/>
            </a:p>
          </p:txBody>
        </p:sp>
        <p:sp>
          <p:nvSpPr>
            <p:cNvPr id="707" name="Shape 707"/>
            <p:cNvSpPr/>
            <p:nvPr/>
          </p:nvSpPr>
          <p:spPr>
            <a:xfrm>
              <a:off x="1825324" y="4910137"/>
              <a:ext cx="919163" cy="344488"/>
            </a:xfrm>
            <a:prstGeom prst="rect">
              <a:avLst/>
            </a:prstGeom>
            <a:solidFill>
              <a:srgbClr val="D5D5F4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" name="Shape 708"/>
            <p:cNvSpPr/>
            <p:nvPr/>
          </p:nvSpPr>
          <p:spPr>
            <a:xfrm>
              <a:off x="1825324" y="5254625"/>
              <a:ext cx="919163" cy="344487"/>
            </a:xfrm>
            <a:prstGeom prst="rect">
              <a:avLst/>
            </a:prstGeom>
            <a:solidFill>
              <a:srgbClr val="D5D5F4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709" name="Shape 709"/>
            <p:cNvSpPr/>
            <p:nvPr/>
          </p:nvSpPr>
          <p:spPr>
            <a:xfrm>
              <a:off x="1825324" y="5599112"/>
              <a:ext cx="919163" cy="344488"/>
            </a:xfrm>
            <a:prstGeom prst="rect">
              <a:avLst/>
            </a:prstGeom>
            <a:solidFill>
              <a:srgbClr val="D5D5F4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US" sz="24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</a:t>
              </a:r>
              <a:endParaRPr/>
            </a:p>
          </p:txBody>
        </p:sp>
        <p:sp>
          <p:nvSpPr>
            <p:cNvPr id="710" name="Shape 710"/>
            <p:cNvSpPr/>
            <p:nvPr/>
          </p:nvSpPr>
          <p:spPr>
            <a:xfrm>
              <a:off x="906162" y="4221162"/>
              <a:ext cx="919162" cy="3444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r"/>
              <a:r>
                <a:rPr lang="en-US" sz="20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fd 0</a:t>
              </a:r>
              <a:endParaRPr/>
            </a:p>
          </p:txBody>
        </p:sp>
        <p:sp>
          <p:nvSpPr>
            <p:cNvPr id="711" name="Shape 711"/>
            <p:cNvSpPr/>
            <p:nvPr/>
          </p:nvSpPr>
          <p:spPr>
            <a:xfrm>
              <a:off x="906162" y="4565650"/>
              <a:ext cx="919162" cy="3444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r"/>
              <a:r>
                <a:rPr lang="en-US" sz="20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fd 1</a:t>
              </a:r>
              <a:endParaRPr/>
            </a:p>
          </p:txBody>
        </p:sp>
        <p:sp>
          <p:nvSpPr>
            <p:cNvPr id="712" name="Shape 712"/>
            <p:cNvSpPr/>
            <p:nvPr/>
          </p:nvSpPr>
          <p:spPr>
            <a:xfrm>
              <a:off x="906162" y="4910137"/>
              <a:ext cx="919162" cy="3444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r"/>
              <a:r>
                <a:rPr lang="en-US" sz="20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fd 2</a:t>
              </a:r>
              <a:endParaRPr/>
            </a:p>
          </p:txBody>
        </p:sp>
        <p:sp>
          <p:nvSpPr>
            <p:cNvPr id="713" name="Shape 713"/>
            <p:cNvSpPr/>
            <p:nvPr/>
          </p:nvSpPr>
          <p:spPr>
            <a:xfrm>
              <a:off x="906162" y="5254625"/>
              <a:ext cx="919162" cy="3444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r"/>
              <a:r>
                <a:rPr lang="en-US" sz="20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fd 3</a:t>
              </a:r>
              <a:endParaRPr/>
            </a:p>
          </p:txBody>
        </p:sp>
        <p:sp>
          <p:nvSpPr>
            <p:cNvPr id="714" name="Shape 714"/>
            <p:cNvSpPr/>
            <p:nvPr/>
          </p:nvSpPr>
          <p:spPr>
            <a:xfrm>
              <a:off x="906162" y="5599112"/>
              <a:ext cx="919162" cy="3444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r"/>
              <a:r>
                <a:rPr lang="en-US" sz="20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fd 4</a:t>
              </a:r>
              <a:endParaRPr/>
            </a:p>
          </p:txBody>
        </p:sp>
      </p:grpSp>
      <p:sp>
        <p:nvSpPr>
          <p:cNvPr id="715" name="Shape 715"/>
          <p:cNvSpPr txBox="1"/>
          <p:nvPr/>
        </p:nvSpPr>
        <p:spPr>
          <a:xfrm>
            <a:off x="2665799" y="3611563"/>
            <a:ext cx="275030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Descriptor table</a:t>
            </a:r>
            <a:endParaRPr dirty="0"/>
          </a:p>
          <a:p>
            <a:r>
              <a:rPr lang="en-US" sz="2400" b="1" i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dup2(4,1)</a:t>
            </a:r>
            <a:endParaRPr dirty="0"/>
          </a:p>
        </p:txBody>
      </p:sp>
      <p:grpSp>
        <p:nvGrpSpPr>
          <p:cNvPr id="716" name="Shape 716"/>
          <p:cNvGrpSpPr/>
          <p:nvPr/>
        </p:nvGrpSpPr>
        <p:grpSpPr>
          <a:xfrm>
            <a:off x="5148648" y="3611562"/>
            <a:ext cx="4367544" cy="2713038"/>
            <a:chOff x="3624648" y="3611562"/>
            <a:chExt cx="4367544" cy="2713038"/>
          </a:xfrm>
        </p:grpSpPr>
        <p:grpSp>
          <p:nvGrpSpPr>
            <p:cNvPr id="717" name="Shape 717"/>
            <p:cNvGrpSpPr/>
            <p:nvPr/>
          </p:nvGrpSpPr>
          <p:grpSpPr>
            <a:xfrm>
              <a:off x="5208673" y="4602162"/>
              <a:ext cx="1836737" cy="1722438"/>
              <a:chOff x="5241625" y="4267200"/>
              <a:chExt cx="1836737" cy="1722438"/>
            </a:xfrm>
          </p:grpSpPr>
          <p:sp>
            <p:nvSpPr>
              <p:cNvPr id="718" name="Shape 718"/>
              <p:cNvSpPr/>
              <p:nvPr/>
            </p:nvSpPr>
            <p:spPr>
              <a:xfrm>
                <a:off x="6159200" y="4267200"/>
                <a:ext cx="919162" cy="344488"/>
              </a:xfrm>
              <a:prstGeom prst="rect">
                <a:avLst/>
              </a:prstGeom>
              <a:solidFill>
                <a:srgbClr val="D5D5F4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endParaRPr sz="24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Shape 719"/>
              <p:cNvSpPr/>
              <p:nvPr/>
            </p:nvSpPr>
            <p:spPr>
              <a:xfrm>
                <a:off x="6159200" y="4611688"/>
                <a:ext cx="919162" cy="344487"/>
              </a:xfrm>
              <a:prstGeom prst="rect">
                <a:avLst/>
              </a:prstGeom>
              <a:solidFill>
                <a:srgbClr val="D5D5F4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r>
                  <a:rPr lang="en-US" sz="2400" b="1">
                    <a:solidFill>
                      <a:srgbClr val="C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b</a:t>
                </a:r>
                <a:endParaRPr/>
              </a:p>
            </p:txBody>
          </p:sp>
          <p:sp>
            <p:nvSpPr>
              <p:cNvPr id="720" name="Shape 720"/>
              <p:cNvSpPr/>
              <p:nvPr/>
            </p:nvSpPr>
            <p:spPr>
              <a:xfrm>
                <a:off x="6159200" y="4956175"/>
                <a:ext cx="919162" cy="344488"/>
              </a:xfrm>
              <a:prstGeom prst="rect">
                <a:avLst/>
              </a:prstGeom>
              <a:solidFill>
                <a:srgbClr val="D5D5F4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endParaRPr sz="24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Shape 721"/>
              <p:cNvSpPr/>
              <p:nvPr/>
            </p:nvSpPr>
            <p:spPr>
              <a:xfrm>
                <a:off x="6159200" y="5300663"/>
                <a:ext cx="919162" cy="344487"/>
              </a:xfrm>
              <a:prstGeom prst="rect">
                <a:avLst/>
              </a:prstGeom>
              <a:solidFill>
                <a:srgbClr val="D5D5F4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endParaRPr sz="24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722" name="Shape 722"/>
              <p:cNvSpPr/>
              <p:nvPr/>
            </p:nvSpPr>
            <p:spPr>
              <a:xfrm>
                <a:off x="6159200" y="5645150"/>
                <a:ext cx="919162" cy="344488"/>
              </a:xfrm>
              <a:prstGeom prst="rect">
                <a:avLst/>
              </a:prstGeom>
              <a:solidFill>
                <a:srgbClr val="D5D5F4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r>
                  <a:rPr lang="en-US" sz="24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b</a:t>
                </a:r>
                <a:endParaRPr/>
              </a:p>
            </p:txBody>
          </p:sp>
          <p:sp>
            <p:nvSpPr>
              <p:cNvPr id="723" name="Shape 723"/>
              <p:cNvSpPr/>
              <p:nvPr/>
            </p:nvSpPr>
            <p:spPr>
              <a:xfrm>
                <a:off x="5241625" y="4267200"/>
                <a:ext cx="917575" cy="3444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r"/>
                <a:r>
                  <a:rPr lang="en-US" sz="20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fd 0</a:t>
                </a:r>
                <a:endParaRPr/>
              </a:p>
            </p:txBody>
          </p:sp>
          <p:sp>
            <p:nvSpPr>
              <p:cNvPr id="724" name="Shape 724"/>
              <p:cNvSpPr/>
              <p:nvPr/>
            </p:nvSpPr>
            <p:spPr>
              <a:xfrm>
                <a:off x="5241625" y="4611688"/>
                <a:ext cx="917575" cy="3444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r"/>
                <a:r>
                  <a:rPr lang="en-US" sz="20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fd 1</a:t>
                </a:r>
                <a:endParaRPr/>
              </a:p>
            </p:txBody>
          </p:sp>
          <p:sp>
            <p:nvSpPr>
              <p:cNvPr id="725" name="Shape 725"/>
              <p:cNvSpPr/>
              <p:nvPr/>
            </p:nvSpPr>
            <p:spPr>
              <a:xfrm>
                <a:off x="5241625" y="4956175"/>
                <a:ext cx="917575" cy="3444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r"/>
                <a:r>
                  <a:rPr lang="en-US" sz="20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fd 2</a:t>
                </a:r>
                <a:endParaRPr/>
              </a:p>
            </p:txBody>
          </p:sp>
          <p:sp>
            <p:nvSpPr>
              <p:cNvPr id="726" name="Shape 726"/>
              <p:cNvSpPr/>
              <p:nvPr/>
            </p:nvSpPr>
            <p:spPr>
              <a:xfrm>
                <a:off x="5241625" y="5300663"/>
                <a:ext cx="917575" cy="3444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r"/>
                <a:r>
                  <a:rPr lang="en-US" sz="20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fd 3</a:t>
                </a:r>
                <a:endParaRPr/>
              </a:p>
            </p:txBody>
          </p:sp>
          <p:sp>
            <p:nvSpPr>
              <p:cNvPr id="727" name="Shape 727"/>
              <p:cNvSpPr/>
              <p:nvPr/>
            </p:nvSpPr>
            <p:spPr>
              <a:xfrm>
                <a:off x="5241625" y="5645150"/>
                <a:ext cx="917575" cy="3444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r"/>
                <a:r>
                  <a:rPr lang="en-US" sz="20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fd 4</a:t>
                </a:r>
                <a:endParaRPr/>
              </a:p>
            </p:txBody>
          </p:sp>
        </p:grpSp>
        <p:sp>
          <p:nvSpPr>
            <p:cNvPr id="728" name="Shape 728"/>
            <p:cNvSpPr txBox="1"/>
            <p:nvPr/>
          </p:nvSpPr>
          <p:spPr>
            <a:xfrm>
              <a:off x="5462973" y="3611562"/>
              <a:ext cx="2529219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US" sz="24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Descriptor table</a:t>
              </a:r>
              <a:endParaRPr/>
            </a:p>
            <a:p>
              <a:r>
                <a:rPr lang="en-US" sz="2400" b="1" i="1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after</a:t>
              </a:r>
              <a:r>
                <a:rPr lang="en-US" sz="24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4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dup2(4,1)</a:t>
              </a:r>
              <a:endParaRPr/>
            </a:p>
          </p:txBody>
        </p:sp>
        <p:sp>
          <p:nvSpPr>
            <p:cNvPr id="729" name="Shape 729"/>
            <p:cNvSpPr/>
            <p:nvPr/>
          </p:nvSpPr>
          <p:spPr>
            <a:xfrm>
              <a:off x="3624648" y="5059362"/>
              <a:ext cx="1295400" cy="592138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3" grpId="0" build="p"/>
      <p:bldP spid="71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Shape 734"/>
          <p:cNvSpPr txBox="1">
            <a:spLocks noGrp="1"/>
          </p:cNvSpPr>
          <p:nvPr>
            <p:ph type="title"/>
          </p:nvPr>
        </p:nvSpPr>
        <p:spPr>
          <a:xfrm>
            <a:off x="1881019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I/O Redirection Example</a:t>
            </a:r>
            <a:endParaRPr sz="3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Shape 735"/>
          <p:cNvSpPr txBox="1">
            <a:spLocks noGrp="1"/>
          </p:cNvSpPr>
          <p:nvPr>
            <p:ph type="body" idx="1"/>
          </p:nvPr>
        </p:nvSpPr>
        <p:spPr>
          <a:xfrm>
            <a:off x="1874238" y="1296988"/>
            <a:ext cx="8548687" cy="9890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Step #1: open file to which stdout should be redirected</a:t>
            </a:r>
            <a:endParaRPr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Happens in child executing shell code, before </a:t>
            </a: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exec</a:t>
            </a:r>
            <a:endParaRPr sz="20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36" name="Shape 736"/>
          <p:cNvSpPr/>
          <p:nvPr/>
        </p:nvSpPr>
        <p:spPr>
          <a:xfrm>
            <a:off x="3030538" y="36703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Shape 737"/>
          <p:cNvSpPr/>
          <p:nvPr/>
        </p:nvSpPr>
        <p:spPr>
          <a:xfrm>
            <a:off x="3030538" y="38989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Shape 738"/>
          <p:cNvSpPr/>
          <p:nvPr/>
        </p:nvSpPr>
        <p:spPr>
          <a:xfrm>
            <a:off x="3030538" y="41275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Shape 739"/>
          <p:cNvSpPr/>
          <p:nvPr/>
        </p:nvSpPr>
        <p:spPr>
          <a:xfrm>
            <a:off x="3030538" y="43561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Shape 740"/>
          <p:cNvSpPr/>
          <p:nvPr/>
        </p:nvSpPr>
        <p:spPr>
          <a:xfrm>
            <a:off x="3030538" y="45847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Shape 741"/>
          <p:cNvSpPr/>
          <p:nvPr/>
        </p:nvSpPr>
        <p:spPr>
          <a:xfrm>
            <a:off x="2420938" y="36703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0</a:t>
            </a:r>
            <a:endParaRPr/>
          </a:p>
        </p:txBody>
      </p:sp>
      <p:sp>
        <p:nvSpPr>
          <p:cNvPr id="742" name="Shape 742"/>
          <p:cNvSpPr/>
          <p:nvPr/>
        </p:nvSpPr>
        <p:spPr>
          <a:xfrm>
            <a:off x="2420938" y="38989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1</a:t>
            </a:r>
            <a:endParaRPr/>
          </a:p>
        </p:txBody>
      </p:sp>
      <p:sp>
        <p:nvSpPr>
          <p:cNvPr id="743" name="Shape 743"/>
          <p:cNvSpPr/>
          <p:nvPr/>
        </p:nvSpPr>
        <p:spPr>
          <a:xfrm>
            <a:off x="2420938" y="41275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2</a:t>
            </a:r>
            <a:endParaRPr/>
          </a:p>
        </p:txBody>
      </p:sp>
      <p:sp>
        <p:nvSpPr>
          <p:cNvPr id="744" name="Shape 744"/>
          <p:cNvSpPr/>
          <p:nvPr/>
        </p:nvSpPr>
        <p:spPr>
          <a:xfrm>
            <a:off x="2420938" y="43561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3</a:t>
            </a:r>
            <a:endParaRPr/>
          </a:p>
        </p:txBody>
      </p:sp>
      <p:sp>
        <p:nvSpPr>
          <p:cNvPr id="745" name="Shape 745"/>
          <p:cNvSpPr/>
          <p:nvPr/>
        </p:nvSpPr>
        <p:spPr>
          <a:xfrm>
            <a:off x="2420938" y="45847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4</a:t>
            </a:r>
            <a:endParaRPr/>
          </a:p>
        </p:txBody>
      </p:sp>
      <p:sp>
        <p:nvSpPr>
          <p:cNvPr id="746" name="Shape 746"/>
          <p:cNvSpPr txBox="1"/>
          <p:nvPr/>
        </p:nvSpPr>
        <p:spPr>
          <a:xfrm>
            <a:off x="2134551" y="2636223"/>
            <a:ext cx="239008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Descriptor table</a:t>
            </a:r>
            <a:endParaRPr/>
          </a:p>
          <a:p>
            <a:pPr algn="ctr"/>
            <a:r>
              <a:rPr lang="en-US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[one table per process]</a:t>
            </a:r>
            <a:endParaRPr/>
          </a:p>
        </p:txBody>
      </p:sp>
      <p:sp>
        <p:nvSpPr>
          <p:cNvPr id="747" name="Shape 747"/>
          <p:cNvSpPr txBox="1"/>
          <p:nvPr/>
        </p:nvSpPr>
        <p:spPr>
          <a:xfrm>
            <a:off x="4683491" y="2636223"/>
            <a:ext cx="253232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Open file table </a:t>
            </a:r>
            <a:endParaRPr/>
          </a:p>
          <a:p>
            <a:pPr algn="ctr"/>
            <a:r>
              <a:rPr lang="en-US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[shared by all processes]</a:t>
            </a:r>
            <a:endParaRPr/>
          </a:p>
        </p:txBody>
      </p:sp>
      <p:sp>
        <p:nvSpPr>
          <p:cNvPr id="748" name="Shape 748"/>
          <p:cNvSpPr txBox="1"/>
          <p:nvPr/>
        </p:nvSpPr>
        <p:spPr>
          <a:xfrm>
            <a:off x="7274291" y="2636223"/>
            <a:ext cx="253232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v-node table</a:t>
            </a:r>
            <a:endParaRPr/>
          </a:p>
          <a:p>
            <a:pPr algn="ctr"/>
            <a:r>
              <a:rPr lang="en-US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[shared by all processes]</a:t>
            </a:r>
            <a:endParaRPr/>
          </a:p>
        </p:txBody>
      </p:sp>
      <p:sp>
        <p:nvSpPr>
          <p:cNvPr id="749" name="Shape 749"/>
          <p:cNvSpPr/>
          <p:nvPr/>
        </p:nvSpPr>
        <p:spPr>
          <a:xfrm>
            <a:off x="5392738" y="39624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pos</a:t>
            </a:r>
            <a:endParaRPr/>
          </a:p>
        </p:txBody>
      </p:sp>
      <p:sp>
        <p:nvSpPr>
          <p:cNvPr id="750" name="Shape 750"/>
          <p:cNvSpPr/>
          <p:nvPr/>
        </p:nvSpPr>
        <p:spPr>
          <a:xfrm>
            <a:off x="5392738" y="42672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refcnt=1</a:t>
            </a:r>
            <a:endParaRPr/>
          </a:p>
        </p:txBody>
      </p:sp>
      <p:sp>
        <p:nvSpPr>
          <p:cNvPr id="751" name="Shape 751"/>
          <p:cNvSpPr/>
          <p:nvPr/>
        </p:nvSpPr>
        <p:spPr>
          <a:xfrm rot="5400000">
            <a:off x="5773738" y="4191000"/>
            <a:ext cx="304800" cy="1066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/>
          </a:p>
        </p:txBody>
      </p:sp>
      <p:cxnSp>
        <p:nvCxnSpPr>
          <p:cNvPr id="752" name="Shape 752"/>
          <p:cNvCxnSpPr/>
          <p:nvPr/>
        </p:nvCxnSpPr>
        <p:spPr>
          <a:xfrm rot="10800000" flipH="1">
            <a:off x="3352800" y="3657600"/>
            <a:ext cx="2039938" cy="352425"/>
          </a:xfrm>
          <a:prstGeom prst="straightConnector1">
            <a:avLst/>
          </a:prstGeom>
          <a:noFill/>
          <a:ln w="25400" cap="flat" cmpd="sng">
            <a:solidFill>
              <a:srgbClr val="60606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753" name="Shape 753"/>
          <p:cNvSpPr/>
          <p:nvPr/>
        </p:nvSpPr>
        <p:spPr>
          <a:xfrm>
            <a:off x="5392738" y="36576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Shape 754"/>
          <p:cNvSpPr txBox="1"/>
          <p:nvPr/>
        </p:nvSpPr>
        <p:spPr>
          <a:xfrm>
            <a:off x="1752601" y="4086225"/>
            <a:ext cx="822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stderr</a:t>
            </a:r>
            <a:endParaRPr/>
          </a:p>
        </p:txBody>
      </p:sp>
      <p:sp>
        <p:nvSpPr>
          <p:cNvPr id="755" name="Shape 755"/>
          <p:cNvSpPr txBox="1"/>
          <p:nvPr/>
        </p:nvSpPr>
        <p:spPr>
          <a:xfrm>
            <a:off x="1752601" y="3857625"/>
            <a:ext cx="822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stdout</a:t>
            </a:r>
            <a:endParaRPr/>
          </a:p>
        </p:txBody>
      </p:sp>
      <p:sp>
        <p:nvSpPr>
          <p:cNvPr id="756" name="Shape 756"/>
          <p:cNvSpPr txBox="1"/>
          <p:nvPr/>
        </p:nvSpPr>
        <p:spPr>
          <a:xfrm>
            <a:off x="1858963" y="3629025"/>
            <a:ext cx="71596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stdin</a:t>
            </a:r>
            <a:endParaRPr/>
          </a:p>
        </p:txBody>
      </p:sp>
      <p:cxnSp>
        <p:nvCxnSpPr>
          <p:cNvPr id="757" name="Shape 757"/>
          <p:cNvCxnSpPr/>
          <p:nvPr/>
        </p:nvCxnSpPr>
        <p:spPr>
          <a:xfrm rot="10800000" flipH="1">
            <a:off x="6310314" y="3641725"/>
            <a:ext cx="1690687" cy="153988"/>
          </a:xfrm>
          <a:prstGeom prst="straightConnector1">
            <a:avLst/>
          </a:prstGeom>
          <a:noFill/>
          <a:ln w="25400" cap="flat" cmpd="sng">
            <a:solidFill>
              <a:srgbClr val="60606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758" name="Shape 758"/>
          <p:cNvSpPr/>
          <p:nvPr/>
        </p:nvSpPr>
        <p:spPr>
          <a:xfrm>
            <a:off x="8001000" y="3629025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access</a:t>
            </a:r>
            <a:endParaRPr/>
          </a:p>
        </p:txBody>
      </p:sp>
      <p:sp>
        <p:nvSpPr>
          <p:cNvPr id="759" name="Shape 759"/>
          <p:cNvSpPr/>
          <p:nvPr/>
        </p:nvSpPr>
        <p:spPr>
          <a:xfrm rot="5400000">
            <a:off x="8382000" y="4162425"/>
            <a:ext cx="304800" cy="1066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/>
          </a:p>
        </p:txBody>
      </p:sp>
      <p:sp>
        <p:nvSpPr>
          <p:cNvPr id="760" name="Shape 760"/>
          <p:cNvSpPr/>
          <p:nvPr/>
        </p:nvSpPr>
        <p:spPr>
          <a:xfrm>
            <a:off x="8001000" y="3933825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size</a:t>
            </a:r>
            <a:endParaRPr/>
          </a:p>
        </p:txBody>
      </p:sp>
      <p:sp>
        <p:nvSpPr>
          <p:cNvPr id="761" name="Shape 761"/>
          <p:cNvSpPr/>
          <p:nvPr/>
        </p:nvSpPr>
        <p:spPr>
          <a:xfrm>
            <a:off x="8001000" y="4238625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type</a:t>
            </a:r>
            <a:endParaRPr/>
          </a:p>
        </p:txBody>
      </p:sp>
      <p:sp>
        <p:nvSpPr>
          <p:cNvPr id="762" name="Shape 762"/>
          <p:cNvSpPr txBox="1"/>
          <p:nvPr/>
        </p:nvSpPr>
        <p:spPr>
          <a:xfrm>
            <a:off x="5282515" y="3352800"/>
            <a:ext cx="65274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A</a:t>
            </a:r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63" name="Shape 763"/>
          <p:cNvGrpSpPr/>
          <p:nvPr/>
        </p:nvGrpSpPr>
        <p:grpSpPr>
          <a:xfrm>
            <a:off x="3352800" y="4683126"/>
            <a:ext cx="5715000" cy="1870075"/>
            <a:chOff x="1828800" y="4683125"/>
            <a:chExt cx="5715000" cy="1870075"/>
          </a:xfrm>
        </p:grpSpPr>
        <p:sp>
          <p:nvSpPr>
            <p:cNvPr id="764" name="Shape 764"/>
            <p:cNvSpPr/>
            <p:nvPr/>
          </p:nvSpPr>
          <p:spPr>
            <a:xfrm>
              <a:off x="3868738" y="5638800"/>
              <a:ext cx="1066800" cy="304800"/>
            </a:xfrm>
            <a:prstGeom prst="rect">
              <a:avLst/>
            </a:prstGeom>
            <a:solidFill>
              <a:srgbClr val="D5D5F4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US" sz="1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File pos</a:t>
              </a:r>
              <a:endParaRPr/>
            </a:p>
          </p:txBody>
        </p:sp>
        <p:sp>
          <p:nvSpPr>
            <p:cNvPr id="765" name="Shape 765"/>
            <p:cNvSpPr/>
            <p:nvPr/>
          </p:nvSpPr>
          <p:spPr>
            <a:xfrm>
              <a:off x="3868738" y="5943600"/>
              <a:ext cx="1066800" cy="304800"/>
            </a:xfrm>
            <a:prstGeom prst="rect">
              <a:avLst/>
            </a:prstGeom>
            <a:solidFill>
              <a:srgbClr val="D5D5F4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US" sz="14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refcnt=1</a:t>
              </a:r>
              <a:endParaRPr/>
            </a:p>
          </p:txBody>
        </p:sp>
        <p:sp>
          <p:nvSpPr>
            <p:cNvPr id="766" name="Shape 766"/>
            <p:cNvSpPr/>
            <p:nvPr/>
          </p:nvSpPr>
          <p:spPr>
            <a:xfrm rot="5400000">
              <a:off x="4249738" y="5867400"/>
              <a:ext cx="304800" cy="1066800"/>
            </a:xfrm>
            <a:prstGeom prst="rect">
              <a:avLst/>
            </a:prstGeom>
            <a:solidFill>
              <a:srgbClr val="D5D5F4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US" sz="1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...</a:t>
              </a:r>
              <a:endParaRPr/>
            </a:p>
          </p:txBody>
        </p:sp>
        <p:sp>
          <p:nvSpPr>
            <p:cNvPr id="767" name="Shape 767"/>
            <p:cNvSpPr/>
            <p:nvPr/>
          </p:nvSpPr>
          <p:spPr>
            <a:xfrm>
              <a:off x="3868738" y="5334000"/>
              <a:ext cx="1066800" cy="304800"/>
            </a:xfrm>
            <a:prstGeom prst="rect">
              <a:avLst/>
            </a:prstGeom>
            <a:solidFill>
              <a:srgbClr val="D5D5F4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68" name="Shape 768"/>
            <p:cNvCxnSpPr/>
            <p:nvPr/>
          </p:nvCxnSpPr>
          <p:spPr>
            <a:xfrm>
              <a:off x="1828800" y="4683125"/>
              <a:ext cx="2057400" cy="698500"/>
            </a:xfrm>
            <a:prstGeom prst="straightConnector1">
              <a:avLst/>
            </a:prstGeom>
            <a:noFill/>
            <a:ln w="25400" cap="flat" cmpd="sng">
              <a:solidFill>
                <a:srgbClr val="606060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sp>
          <p:nvSpPr>
            <p:cNvPr id="769" name="Shape 769"/>
            <p:cNvSpPr/>
            <p:nvPr/>
          </p:nvSpPr>
          <p:spPr>
            <a:xfrm>
              <a:off x="6477000" y="5229225"/>
              <a:ext cx="1066800" cy="304800"/>
            </a:xfrm>
            <a:prstGeom prst="rect">
              <a:avLst/>
            </a:prstGeom>
            <a:solidFill>
              <a:srgbClr val="D5D5F4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US" sz="1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File access</a:t>
              </a:r>
              <a:endParaRPr/>
            </a:p>
          </p:txBody>
        </p:sp>
        <p:sp>
          <p:nvSpPr>
            <p:cNvPr id="770" name="Shape 770"/>
            <p:cNvSpPr/>
            <p:nvPr/>
          </p:nvSpPr>
          <p:spPr>
            <a:xfrm rot="5400000">
              <a:off x="6858000" y="5762625"/>
              <a:ext cx="304800" cy="1066800"/>
            </a:xfrm>
            <a:prstGeom prst="rect">
              <a:avLst/>
            </a:prstGeom>
            <a:solidFill>
              <a:srgbClr val="D5D5F4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US" sz="1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...</a:t>
              </a:r>
              <a:endParaRPr/>
            </a:p>
          </p:txBody>
        </p:sp>
        <p:sp>
          <p:nvSpPr>
            <p:cNvPr id="771" name="Shape 771"/>
            <p:cNvSpPr/>
            <p:nvPr/>
          </p:nvSpPr>
          <p:spPr>
            <a:xfrm>
              <a:off x="6477000" y="5534025"/>
              <a:ext cx="1066800" cy="304800"/>
            </a:xfrm>
            <a:prstGeom prst="rect">
              <a:avLst/>
            </a:prstGeom>
            <a:solidFill>
              <a:srgbClr val="D5D5F4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US" sz="1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File size</a:t>
              </a:r>
              <a:endParaRPr/>
            </a:p>
          </p:txBody>
        </p:sp>
        <p:sp>
          <p:nvSpPr>
            <p:cNvPr id="772" name="Shape 772"/>
            <p:cNvSpPr/>
            <p:nvPr/>
          </p:nvSpPr>
          <p:spPr>
            <a:xfrm>
              <a:off x="6477000" y="5838825"/>
              <a:ext cx="1066800" cy="304800"/>
            </a:xfrm>
            <a:prstGeom prst="rect">
              <a:avLst/>
            </a:prstGeom>
            <a:solidFill>
              <a:srgbClr val="D5D5F4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US" sz="1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File type</a:t>
              </a:r>
              <a:endParaRPr/>
            </a:p>
          </p:txBody>
        </p:sp>
        <p:sp>
          <p:nvSpPr>
            <p:cNvPr id="773" name="Shape 773"/>
            <p:cNvSpPr txBox="1"/>
            <p:nvPr/>
          </p:nvSpPr>
          <p:spPr>
            <a:xfrm>
              <a:off x="3766752" y="5029200"/>
              <a:ext cx="643125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US" sz="1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File B</a:t>
              </a:r>
              <a:endParaRPr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74" name="Shape 774"/>
            <p:cNvCxnSpPr/>
            <p:nvPr/>
          </p:nvCxnSpPr>
          <p:spPr>
            <a:xfrm rot="10800000" flipH="1">
              <a:off x="4706938" y="5229224"/>
              <a:ext cx="1770062" cy="257175"/>
            </a:xfrm>
            <a:prstGeom prst="straightConnector1">
              <a:avLst/>
            </a:prstGeom>
            <a:noFill/>
            <a:ln w="25400" cap="flat" cmpd="sng">
              <a:solidFill>
                <a:srgbClr val="606060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Shape 779"/>
          <p:cNvSpPr txBox="1">
            <a:spLocks noGrp="1"/>
          </p:cNvSpPr>
          <p:nvPr>
            <p:ph type="title"/>
          </p:nvPr>
        </p:nvSpPr>
        <p:spPr>
          <a:xfrm>
            <a:off x="1881019" y="457200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I/O Redirection Example (cont.)</a:t>
            </a:r>
            <a:endParaRPr sz="3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Shape 780"/>
          <p:cNvSpPr txBox="1">
            <a:spLocks noGrp="1"/>
          </p:cNvSpPr>
          <p:nvPr>
            <p:ph type="body" idx="1"/>
          </p:nvPr>
        </p:nvSpPr>
        <p:spPr>
          <a:xfrm>
            <a:off x="1890714" y="1296988"/>
            <a:ext cx="8624887" cy="9890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#2: call </a:t>
            </a:r>
            <a: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dup2(4,1)</a:t>
            </a:r>
            <a:endParaRPr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cause fd=1 (stdout) to refer to disk file pointed at by fd=4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81" name="Shape 781"/>
          <p:cNvSpPr/>
          <p:nvPr/>
        </p:nvSpPr>
        <p:spPr>
          <a:xfrm>
            <a:off x="3030538" y="36703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Shape 782"/>
          <p:cNvSpPr/>
          <p:nvPr/>
        </p:nvSpPr>
        <p:spPr>
          <a:xfrm>
            <a:off x="3030538" y="38989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Shape 783"/>
          <p:cNvSpPr/>
          <p:nvPr/>
        </p:nvSpPr>
        <p:spPr>
          <a:xfrm>
            <a:off x="3030538" y="41275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Shape 784"/>
          <p:cNvSpPr/>
          <p:nvPr/>
        </p:nvSpPr>
        <p:spPr>
          <a:xfrm>
            <a:off x="3030538" y="43561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Shape 785"/>
          <p:cNvSpPr/>
          <p:nvPr/>
        </p:nvSpPr>
        <p:spPr>
          <a:xfrm>
            <a:off x="3030538" y="45847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Shape 786"/>
          <p:cNvSpPr/>
          <p:nvPr/>
        </p:nvSpPr>
        <p:spPr>
          <a:xfrm>
            <a:off x="2420938" y="36703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0</a:t>
            </a:r>
            <a:endParaRPr/>
          </a:p>
        </p:txBody>
      </p:sp>
      <p:sp>
        <p:nvSpPr>
          <p:cNvPr id="787" name="Shape 787"/>
          <p:cNvSpPr/>
          <p:nvPr/>
        </p:nvSpPr>
        <p:spPr>
          <a:xfrm>
            <a:off x="2420938" y="38989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1</a:t>
            </a:r>
            <a:endParaRPr/>
          </a:p>
        </p:txBody>
      </p:sp>
      <p:sp>
        <p:nvSpPr>
          <p:cNvPr id="788" name="Shape 788"/>
          <p:cNvSpPr/>
          <p:nvPr/>
        </p:nvSpPr>
        <p:spPr>
          <a:xfrm>
            <a:off x="2420938" y="41275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2</a:t>
            </a:r>
            <a:endParaRPr/>
          </a:p>
        </p:txBody>
      </p:sp>
      <p:sp>
        <p:nvSpPr>
          <p:cNvPr id="789" name="Shape 789"/>
          <p:cNvSpPr/>
          <p:nvPr/>
        </p:nvSpPr>
        <p:spPr>
          <a:xfrm>
            <a:off x="2420938" y="43561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3</a:t>
            </a:r>
            <a:endParaRPr/>
          </a:p>
        </p:txBody>
      </p:sp>
      <p:sp>
        <p:nvSpPr>
          <p:cNvPr id="790" name="Shape 790"/>
          <p:cNvSpPr/>
          <p:nvPr/>
        </p:nvSpPr>
        <p:spPr>
          <a:xfrm>
            <a:off x="2420938" y="45847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4</a:t>
            </a:r>
            <a:endParaRPr/>
          </a:p>
        </p:txBody>
      </p:sp>
      <p:sp>
        <p:nvSpPr>
          <p:cNvPr id="791" name="Shape 791"/>
          <p:cNvSpPr txBox="1"/>
          <p:nvPr/>
        </p:nvSpPr>
        <p:spPr>
          <a:xfrm>
            <a:off x="2134551" y="2636223"/>
            <a:ext cx="239008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Descriptor table</a:t>
            </a:r>
            <a:endParaRPr/>
          </a:p>
          <a:p>
            <a:pPr algn="ctr"/>
            <a:r>
              <a:rPr lang="en-US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[one table per process]</a:t>
            </a:r>
            <a:endParaRPr/>
          </a:p>
        </p:txBody>
      </p:sp>
      <p:sp>
        <p:nvSpPr>
          <p:cNvPr id="792" name="Shape 792"/>
          <p:cNvSpPr txBox="1"/>
          <p:nvPr/>
        </p:nvSpPr>
        <p:spPr>
          <a:xfrm>
            <a:off x="4683491" y="2636223"/>
            <a:ext cx="253232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Open file table </a:t>
            </a:r>
            <a:endParaRPr/>
          </a:p>
          <a:p>
            <a:pPr algn="ctr"/>
            <a:r>
              <a:rPr lang="en-US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[shared by all processes]</a:t>
            </a:r>
            <a:endParaRPr/>
          </a:p>
        </p:txBody>
      </p:sp>
      <p:sp>
        <p:nvSpPr>
          <p:cNvPr id="793" name="Shape 793"/>
          <p:cNvSpPr txBox="1"/>
          <p:nvPr/>
        </p:nvSpPr>
        <p:spPr>
          <a:xfrm>
            <a:off x="7274291" y="2636223"/>
            <a:ext cx="253232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v-node table</a:t>
            </a:r>
            <a:endParaRPr/>
          </a:p>
          <a:p>
            <a:pPr algn="ctr"/>
            <a:r>
              <a:rPr lang="en-US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[shared by all processes]</a:t>
            </a:r>
            <a:endParaRPr/>
          </a:p>
        </p:txBody>
      </p:sp>
      <p:sp>
        <p:nvSpPr>
          <p:cNvPr id="794" name="Shape 794"/>
          <p:cNvSpPr/>
          <p:nvPr/>
        </p:nvSpPr>
        <p:spPr>
          <a:xfrm>
            <a:off x="5392738" y="3962400"/>
            <a:ext cx="1066800" cy="3048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pos</a:t>
            </a:r>
            <a:endParaRPr/>
          </a:p>
        </p:txBody>
      </p:sp>
      <p:sp>
        <p:nvSpPr>
          <p:cNvPr id="795" name="Shape 795"/>
          <p:cNvSpPr/>
          <p:nvPr/>
        </p:nvSpPr>
        <p:spPr>
          <a:xfrm>
            <a:off x="5392738" y="4267200"/>
            <a:ext cx="1066800" cy="3048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4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refcnt=0</a:t>
            </a:r>
            <a:endParaRPr sz="1400" b="1">
              <a:solidFill>
                <a:srgbClr val="0070C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96" name="Shape 796"/>
          <p:cNvSpPr/>
          <p:nvPr/>
        </p:nvSpPr>
        <p:spPr>
          <a:xfrm rot="5400000">
            <a:off x="5773738" y="4191000"/>
            <a:ext cx="304800" cy="10668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/>
          </a:p>
        </p:txBody>
      </p:sp>
      <p:cxnSp>
        <p:nvCxnSpPr>
          <p:cNvPr id="797" name="Shape 797"/>
          <p:cNvCxnSpPr/>
          <p:nvPr/>
        </p:nvCxnSpPr>
        <p:spPr>
          <a:xfrm>
            <a:off x="3352800" y="4010023"/>
            <a:ext cx="2057400" cy="1357730"/>
          </a:xfrm>
          <a:prstGeom prst="straightConnector1">
            <a:avLst/>
          </a:prstGeom>
          <a:noFill/>
          <a:ln w="25400" cap="flat" cmpd="sng">
            <a:solidFill>
              <a:srgbClr val="0070C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798" name="Shape 798"/>
          <p:cNvSpPr/>
          <p:nvPr/>
        </p:nvSpPr>
        <p:spPr>
          <a:xfrm>
            <a:off x="5392738" y="3657600"/>
            <a:ext cx="1066800" cy="3048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Shape 799"/>
          <p:cNvSpPr/>
          <p:nvPr/>
        </p:nvSpPr>
        <p:spPr>
          <a:xfrm>
            <a:off x="5392738" y="56388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pos</a:t>
            </a:r>
            <a:endParaRPr/>
          </a:p>
        </p:txBody>
      </p:sp>
      <p:sp>
        <p:nvSpPr>
          <p:cNvPr id="800" name="Shape 800"/>
          <p:cNvSpPr/>
          <p:nvPr/>
        </p:nvSpPr>
        <p:spPr>
          <a:xfrm>
            <a:off x="5392738" y="59436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4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refcnt=2</a:t>
            </a:r>
            <a:endParaRPr sz="1400" b="1">
              <a:solidFill>
                <a:srgbClr val="0070C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01" name="Shape 801"/>
          <p:cNvSpPr/>
          <p:nvPr/>
        </p:nvSpPr>
        <p:spPr>
          <a:xfrm rot="5400000">
            <a:off x="5773738" y="5867400"/>
            <a:ext cx="304800" cy="1066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/>
          </a:p>
        </p:txBody>
      </p:sp>
      <p:sp>
        <p:nvSpPr>
          <p:cNvPr id="802" name="Shape 802"/>
          <p:cNvSpPr/>
          <p:nvPr/>
        </p:nvSpPr>
        <p:spPr>
          <a:xfrm>
            <a:off x="5392738" y="53340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3" name="Shape 803"/>
          <p:cNvCxnSpPr/>
          <p:nvPr/>
        </p:nvCxnSpPr>
        <p:spPr>
          <a:xfrm>
            <a:off x="3352800" y="4683125"/>
            <a:ext cx="2057400" cy="698500"/>
          </a:xfrm>
          <a:prstGeom prst="straightConnector1">
            <a:avLst/>
          </a:prstGeom>
          <a:noFill/>
          <a:ln w="25400" cap="flat" cmpd="sng">
            <a:solidFill>
              <a:srgbClr val="0070C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804" name="Shape 804"/>
          <p:cNvSpPr txBox="1"/>
          <p:nvPr/>
        </p:nvSpPr>
        <p:spPr>
          <a:xfrm>
            <a:off x="1752601" y="4086225"/>
            <a:ext cx="822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stderr</a:t>
            </a:r>
            <a:endParaRPr/>
          </a:p>
        </p:txBody>
      </p:sp>
      <p:sp>
        <p:nvSpPr>
          <p:cNvPr id="805" name="Shape 805"/>
          <p:cNvSpPr txBox="1"/>
          <p:nvPr/>
        </p:nvSpPr>
        <p:spPr>
          <a:xfrm>
            <a:off x="1752601" y="3857625"/>
            <a:ext cx="822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stdout</a:t>
            </a:r>
            <a:endParaRPr/>
          </a:p>
        </p:txBody>
      </p:sp>
      <p:sp>
        <p:nvSpPr>
          <p:cNvPr id="806" name="Shape 806"/>
          <p:cNvSpPr txBox="1"/>
          <p:nvPr/>
        </p:nvSpPr>
        <p:spPr>
          <a:xfrm>
            <a:off x="1858963" y="3629025"/>
            <a:ext cx="71596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stdin</a:t>
            </a:r>
            <a:endParaRPr/>
          </a:p>
        </p:txBody>
      </p:sp>
      <p:cxnSp>
        <p:nvCxnSpPr>
          <p:cNvPr id="807" name="Shape 807"/>
          <p:cNvCxnSpPr/>
          <p:nvPr/>
        </p:nvCxnSpPr>
        <p:spPr>
          <a:xfrm rot="10800000" flipH="1">
            <a:off x="6310314" y="3641725"/>
            <a:ext cx="1690687" cy="153988"/>
          </a:xfrm>
          <a:prstGeom prst="straightConnector1">
            <a:avLst/>
          </a:prstGeom>
          <a:noFill/>
          <a:ln w="25400" cap="flat" cmpd="sng">
            <a:solidFill>
              <a:srgbClr val="60606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808" name="Shape 808"/>
          <p:cNvSpPr/>
          <p:nvPr/>
        </p:nvSpPr>
        <p:spPr>
          <a:xfrm>
            <a:off x="8001000" y="3629025"/>
            <a:ext cx="1066800" cy="3048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access</a:t>
            </a:r>
            <a:endParaRPr/>
          </a:p>
        </p:txBody>
      </p:sp>
      <p:sp>
        <p:nvSpPr>
          <p:cNvPr id="809" name="Shape 809"/>
          <p:cNvSpPr/>
          <p:nvPr/>
        </p:nvSpPr>
        <p:spPr>
          <a:xfrm rot="5400000">
            <a:off x="8382000" y="4162425"/>
            <a:ext cx="304800" cy="10668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/>
          </a:p>
        </p:txBody>
      </p:sp>
      <p:sp>
        <p:nvSpPr>
          <p:cNvPr id="810" name="Shape 810"/>
          <p:cNvSpPr/>
          <p:nvPr/>
        </p:nvSpPr>
        <p:spPr>
          <a:xfrm>
            <a:off x="8001000" y="3933825"/>
            <a:ext cx="1066800" cy="3048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size</a:t>
            </a:r>
            <a:endParaRPr/>
          </a:p>
        </p:txBody>
      </p:sp>
      <p:sp>
        <p:nvSpPr>
          <p:cNvPr id="811" name="Shape 811"/>
          <p:cNvSpPr/>
          <p:nvPr/>
        </p:nvSpPr>
        <p:spPr>
          <a:xfrm>
            <a:off x="8001000" y="4238625"/>
            <a:ext cx="1066800" cy="3048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type</a:t>
            </a:r>
            <a:endParaRPr/>
          </a:p>
        </p:txBody>
      </p:sp>
      <p:sp>
        <p:nvSpPr>
          <p:cNvPr id="812" name="Shape 812"/>
          <p:cNvSpPr/>
          <p:nvPr/>
        </p:nvSpPr>
        <p:spPr>
          <a:xfrm>
            <a:off x="8001000" y="5229225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access</a:t>
            </a:r>
            <a:endParaRPr/>
          </a:p>
        </p:txBody>
      </p:sp>
      <p:sp>
        <p:nvSpPr>
          <p:cNvPr id="813" name="Shape 813"/>
          <p:cNvSpPr/>
          <p:nvPr/>
        </p:nvSpPr>
        <p:spPr>
          <a:xfrm rot="5400000">
            <a:off x="8382000" y="5762625"/>
            <a:ext cx="304800" cy="1066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/>
          </a:p>
        </p:txBody>
      </p:sp>
      <p:sp>
        <p:nvSpPr>
          <p:cNvPr id="814" name="Shape 814"/>
          <p:cNvSpPr/>
          <p:nvPr/>
        </p:nvSpPr>
        <p:spPr>
          <a:xfrm>
            <a:off x="8001000" y="5534025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size</a:t>
            </a:r>
            <a:endParaRPr/>
          </a:p>
        </p:txBody>
      </p:sp>
      <p:sp>
        <p:nvSpPr>
          <p:cNvPr id="815" name="Shape 815"/>
          <p:cNvSpPr/>
          <p:nvPr/>
        </p:nvSpPr>
        <p:spPr>
          <a:xfrm>
            <a:off x="8001000" y="5838825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type</a:t>
            </a:r>
            <a:endParaRPr/>
          </a:p>
        </p:txBody>
      </p:sp>
      <p:sp>
        <p:nvSpPr>
          <p:cNvPr id="816" name="Shape 816"/>
          <p:cNvSpPr txBox="1"/>
          <p:nvPr/>
        </p:nvSpPr>
        <p:spPr>
          <a:xfrm>
            <a:off x="5282515" y="3352800"/>
            <a:ext cx="65274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A</a:t>
            </a:r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Shape 817"/>
          <p:cNvSpPr txBox="1"/>
          <p:nvPr/>
        </p:nvSpPr>
        <p:spPr>
          <a:xfrm>
            <a:off x="5290753" y="5029200"/>
            <a:ext cx="64312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B</a:t>
            </a:r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8" name="Shape 818"/>
          <p:cNvCxnSpPr/>
          <p:nvPr/>
        </p:nvCxnSpPr>
        <p:spPr>
          <a:xfrm rot="10800000" flipH="1">
            <a:off x="6230938" y="5229225"/>
            <a:ext cx="1770062" cy="257175"/>
          </a:xfrm>
          <a:prstGeom prst="straightConnector1">
            <a:avLst/>
          </a:prstGeom>
          <a:noFill/>
          <a:ln w="25400" cap="flat" cmpd="sng">
            <a:solidFill>
              <a:srgbClr val="60606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819" name="Shape 819"/>
          <p:cNvSpPr txBox="1"/>
          <p:nvPr/>
        </p:nvSpPr>
        <p:spPr>
          <a:xfrm>
            <a:off x="1539715" y="6183868"/>
            <a:ext cx="378353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b="1" i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Two descriptors point to the same file</a:t>
            </a:r>
            <a:endParaRPr b="1" i="1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553ED-19E7-6DA2-154F-63BABE935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>
            <a:extLst>
              <a:ext uri="{FF2B5EF4-FFF2-40B4-BE49-F238E27FC236}">
                <a16:creationId xmlns:a16="http://schemas.microsoft.com/office/drawing/2014/main" id="{551C5911-D05F-54D1-E2C1-9E186327B5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2908" y="457200"/>
            <a:ext cx="8277893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Warm-Up: I/O and Redirection Example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221D836-0E45-A185-B271-1B9CE046736D}"/>
              </a:ext>
            </a:extLst>
          </p:cNvPr>
          <p:cNvGrpSpPr/>
          <p:nvPr/>
        </p:nvGrpSpPr>
        <p:grpSpPr>
          <a:xfrm>
            <a:off x="461245" y="1289541"/>
            <a:ext cx="6984354" cy="5084844"/>
            <a:chOff x="688656" y="1240315"/>
            <a:chExt cx="6984354" cy="508484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87CE168C-2272-D647-7D71-EB10803E7186}"/>
                </a:ext>
              </a:extLst>
            </p:cNvPr>
            <p:cNvGrpSpPr/>
            <p:nvPr/>
          </p:nvGrpSpPr>
          <p:grpSpPr>
            <a:xfrm>
              <a:off x="786851" y="1553513"/>
              <a:ext cx="6886159" cy="4771646"/>
              <a:chOff x="770574" y="4161173"/>
              <a:chExt cx="7649090" cy="477164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52E9A90-21B4-B214-5B94-42976C1E65AD}"/>
                  </a:ext>
                </a:extLst>
              </p:cNvPr>
              <p:cNvSpPr txBox="1"/>
              <p:nvPr/>
            </p:nvSpPr>
            <p:spPr>
              <a:xfrm>
                <a:off x="770574" y="4162282"/>
                <a:ext cx="454482" cy="47705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9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19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F940CC-0E0C-70C5-41F6-DA1251596CE2}"/>
                  </a:ext>
                </a:extLst>
              </p:cNvPr>
              <p:cNvSpPr txBox="1"/>
              <p:nvPr/>
            </p:nvSpPr>
            <p:spPr>
              <a:xfrm>
                <a:off x="1225056" y="4161173"/>
                <a:ext cx="7194608" cy="477053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#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include</a:t>
                </a:r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 err="1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csapp.h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endParaRPr lang="en-US" sz="1600" dirty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main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argc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[]) {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fd1, fd2, fd3;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c1, c2, c3;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[1]; </a:t>
                </a:r>
              </a:p>
              <a:p>
                <a:pPr eaLnBrk="0" hangingPunct="0"/>
                <a:endParaRPr lang="en-US" sz="1600" b="0" i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fd1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fd2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fd3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dup2(fd2, fd3);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&amp;c1, 1);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read(fd2,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read(fd3, &amp;c3, 1); </a:t>
                </a:r>
              </a:p>
              <a:p>
                <a:pPr eaLnBrk="0" hangingPunct="0"/>
                <a:endParaRPr lang="en-US" sz="1600" dirty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 err="1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"c1 = %c, c2 = %c, c3 = %c\n"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c1, c2, c3);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return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0;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  <a:endParaRPr lang="fi-FI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3FC84B2-015B-C799-0D16-9D2E17FCE3FC}"/>
                </a:ext>
              </a:extLst>
            </p:cNvPr>
            <p:cNvSpPr txBox="1"/>
            <p:nvPr/>
          </p:nvSpPr>
          <p:spPr>
            <a:xfrm>
              <a:off x="688656" y="124031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ffiles1.c</a:t>
              </a:r>
            </a:p>
          </p:txBody>
        </p:sp>
      </p:grpSp>
      <p:sp>
        <p:nvSpPr>
          <p:cNvPr id="18" name="Rectangle 3">
            <a:extLst>
              <a:ext uri="{FF2B5EF4-FFF2-40B4-BE49-F238E27FC236}">
                <a16:creationId xmlns:a16="http://schemas.microsoft.com/office/drawing/2014/main" id="{2379686D-33C5-F781-C34B-179F18E64881}"/>
              </a:ext>
            </a:extLst>
          </p:cNvPr>
          <p:cNvSpPr txBox="1">
            <a:spLocks noChangeArrowheads="1"/>
          </p:cNvSpPr>
          <p:nvPr/>
        </p:nvSpPr>
        <p:spPr>
          <a:xfrm>
            <a:off x="7634224" y="2372391"/>
            <a:ext cx="4168992" cy="7628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2400" dirty="0"/>
              <a:t>What would this program print for file containing “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abcde</a:t>
            </a:r>
            <a:r>
              <a:rPr lang="en-US" sz="2400" dirty="0"/>
              <a:t>”?</a:t>
            </a:r>
          </a:p>
          <a:p>
            <a:pPr>
              <a:lnSpc>
                <a:spcPct val="120000"/>
              </a:lnSpc>
            </a:pPr>
            <a:endParaRPr lang="en-US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858744-2CFF-DD9A-B3DF-E590E78DBFDD}"/>
              </a:ext>
            </a:extLst>
          </p:cNvPr>
          <p:cNvSpPr txBox="1"/>
          <p:nvPr/>
        </p:nvSpPr>
        <p:spPr>
          <a:xfrm>
            <a:off x="7634224" y="3491073"/>
            <a:ext cx="4168993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milkshark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 ./ffiles1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abcde.txt</a:t>
            </a:r>
            <a:endParaRPr lang="en-US" sz="16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???</a:t>
            </a:r>
          </a:p>
          <a:p>
            <a:endParaRPr lang="en-US" sz="16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9A7E476-716E-CAEA-5ED9-641895864CB8}"/>
              </a:ext>
            </a:extLst>
          </p:cNvPr>
          <p:cNvGrpSpPr/>
          <p:nvPr/>
        </p:nvGrpSpPr>
        <p:grpSpPr>
          <a:xfrm>
            <a:off x="7634224" y="1478125"/>
            <a:ext cx="1784079" cy="678771"/>
            <a:chOff x="813349" y="1214405"/>
            <a:chExt cx="1784079" cy="678771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D4DE158-4698-B2C1-B476-95528F6019BB}"/>
                </a:ext>
              </a:extLst>
            </p:cNvPr>
            <p:cNvGrpSpPr/>
            <p:nvPr/>
          </p:nvGrpSpPr>
          <p:grpSpPr>
            <a:xfrm>
              <a:off x="899126" y="1553513"/>
              <a:ext cx="1698302" cy="339663"/>
              <a:chOff x="895288" y="4161173"/>
              <a:chExt cx="1886460" cy="339663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928643D-ABA6-DF2C-5281-7C57929C4006}"/>
                  </a:ext>
                </a:extLst>
              </p:cNvPr>
              <p:cNvSpPr txBox="1"/>
              <p:nvPr/>
            </p:nvSpPr>
            <p:spPr>
              <a:xfrm>
                <a:off x="895288" y="4162282"/>
                <a:ext cx="329767" cy="3385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C8AF1D3-8D5A-71E0-E015-4717FD950A23}"/>
                  </a:ext>
                </a:extLst>
              </p:cNvPr>
              <p:cNvSpPr txBox="1"/>
              <p:nvPr/>
            </p:nvSpPr>
            <p:spPr>
              <a:xfrm>
                <a:off x="1225057" y="4161173"/>
                <a:ext cx="1556691" cy="3385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abcde</a:t>
                </a:r>
                <a:endParaRPr lang="en-US" sz="1600" b="0" i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B9520F2-A450-82D2-A7FB-019BE94B1B08}"/>
                </a:ext>
              </a:extLst>
            </p:cNvPr>
            <p:cNvSpPr txBox="1"/>
            <p:nvPr/>
          </p:nvSpPr>
          <p:spPr>
            <a:xfrm>
              <a:off x="813349" y="121440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 err="1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abcde.txt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99925516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AA487-BE7D-5B85-8BB7-E906E65DA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>
            <a:extLst>
              <a:ext uri="{FF2B5EF4-FFF2-40B4-BE49-F238E27FC236}">
                <a16:creationId xmlns:a16="http://schemas.microsoft.com/office/drawing/2014/main" id="{45688174-9E04-6658-22FB-32E66C9E10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2908" y="457200"/>
            <a:ext cx="8277893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Warm-Up: I/O and Redirection Example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55F0687-3140-B23A-7861-A7D61476F3FE}"/>
              </a:ext>
            </a:extLst>
          </p:cNvPr>
          <p:cNvGrpSpPr/>
          <p:nvPr/>
        </p:nvGrpSpPr>
        <p:grpSpPr>
          <a:xfrm>
            <a:off x="461245" y="1289541"/>
            <a:ext cx="6984354" cy="5084844"/>
            <a:chOff x="688656" y="1240315"/>
            <a:chExt cx="6984354" cy="508484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7327B75-0C3C-634C-F971-E5BB08A84B25}"/>
                </a:ext>
              </a:extLst>
            </p:cNvPr>
            <p:cNvGrpSpPr/>
            <p:nvPr/>
          </p:nvGrpSpPr>
          <p:grpSpPr>
            <a:xfrm>
              <a:off x="786851" y="1553513"/>
              <a:ext cx="6886159" cy="4771646"/>
              <a:chOff x="770574" y="4161173"/>
              <a:chExt cx="7649090" cy="477164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28865A8-6F6E-000E-4412-223CA335AB0F}"/>
                  </a:ext>
                </a:extLst>
              </p:cNvPr>
              <p:cNvSpPr txBox="1"/>
              <p:nvPr/>
            </p:nvSpPr>
            <p:spPr>
              <a:xfrm>
                <a:off x="770574" y="4162282"/>
                <a:ext cx="454482" cy="47705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9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19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463978C-CB76-549A-5103-91C9E447BED5}"/>
                  </a:ext>
                </a:extLst>
              </p:cNvPr>
              <p:cNvSpPr txBox="1"/>
              <p:nvPr/>
            </p:nvSpPr>
            <p:spPr>
              <a:xfrm>
                <a:off x="1225056" y="4161173"/>
                <a:ext cx="7194608" cy="477053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#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include</a:t>
                </a:r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 err="1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csapp.h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endParaRPr lang="en-US" sz="1600" dirty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main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argc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[]) {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fd1, fd2, fd3;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c1, c2, c3;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[1]; </a:t>
                </a:r>
              </a:p>
              <a:p>
                <a:pPr eaLnBrk="0" hangingPunct="0"/>
                <a:endParaRPr lang="en-US" sz="1600" b="0" i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fd1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fd2 = open(</a:t>
                </a:r>
                <a:r>
                  <a:rPr lang="en-US" sz="1600" b="0" i="0" dirty="0" err="1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fd3 = open(</a:t>
                </a:r>
                <a:r>
                  <a:rPr lang="en-US" sz="1600" b="0" i="0" dirty="0" err="1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dup2(fd2, fd3);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&amp;c1,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read(fd2,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read(fd3, &amp;c3, 1); </a:t>
                </a:r>
              </a:p>
              <a:p>
                <a:pPr eaLnBrk="0" hangingPunct="0"/>
                <a:endParaRPr lang="en-US" sz="1600" dirty="0">
                  <a:solidFill>
                    <a:schemeClr val="bg1">
                      <a:lumMod val="8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 err="1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("c1 = %c, c2 = %c, c3 = %c\n", c1, c2, c3);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return 0;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  <a:endParaRPr lang="fi-FI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C59A4F4-1003-A8FA-8DED-E2CF14A4FE8B}"/>
                </a:ext>
              </a:extLst>
            </p:cNvPr>
            <p:cNvSpPr txBox="1"/>
            <p:nvPr/>
          </p:nvSpPr>
          <p:spPr>
            <a:xfrm>
              <a:off x="688656" y="124031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ffiles1.c</a:t>
              </a:r>
            </a:p>
          </p:txBody>
        </p:sp>
      </p:grpSp>
      <p:graphicFrame>
        <p:nvGraphicFramePr>
          <p:cNvPr id="735240" name="Table 735239">
            <a:extLst>
              <a:ext uri="{FF2B5EF4-FFF2-40B4-BE49-F238E27FC236}">
                <a16:creationId xmlns:a16="http://schemas.microsoft.com/office/drawing/2014/main" id="{E14CBB0B-DC6F-919E-CEF2-2B5541282D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8773010"/>
              </p:ext>
            </p:extLst>
          </p:nvPr>
        </p:nvGraphicFramePr>
        <p:xfrm>
          <a:off x="7800434" y="2031875"/>
          <a:ext cx="7847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726">
                  <a:extLst>
                    <a:ext uri="{9D8B030D-6E8A-4147-A177-3AD203B41FA5}">
                      <a16:colId xmlns:a16="http://schemas.microsoft.com/office/drawing/2014/main" val="759203340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5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30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1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1264"/>
                  </a:ext>
                </a:extLst>
              </a:tr>
            </a:tbl>
          </a:graphicData>
        </a:graphic>
      </p:graphicFrame>
      <p:graphicFrame>
        <p:nvGraphicFramePr>
          <p:cNvPr id="735241" name="Table 735240">
            <a:extLst>
              <a:ext uri="{FF2B5EF4-FFF2-40B4-BE49-F238E27FC236}">
                <a16:creationId xmlns:a16="http://schemas.microsoft.com/office/drawing/2014/main" id="{6BFFCFDC-171E-C3FE-15D1-C8F734EC3B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2245788"/>
              </p:ext>
            </p:extLst>
          </p:nvPr>
        </p:nvGraphicFramePr>
        <p:xfrm>
          <a:off x="9175241" y="2007360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pos =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735242" name="TextBox 735241">
            <a:extLst>
              <a:ext uri="{FF2B5EF4-FFF2-40B4-BE49-F238E27FC236}">
                <a16:creationId xmlns:a16="http://schemas.microsoft.com/office/drawing/2014/main" id="{495EBC18-83F2-FAE2-C3AB-26BDB57D164A}"/>
              </a:ext>
            </a:extLst>
          </p:cNvPr>
          <p:cNvSpPr txBox="1"/>
          <p:nvPr/>
        </p:nvSpPr>
        <p:spPr>
          <a:xfrm>
            <a:off x="7531807" y="1304929"/>
            <a:ext cx="102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Process</a:t>
            </a:r>
            <a:br>
              <a:rPr lang="en-US" dirty="0"/>
            </a:br>
            <a:r>
              <a:rPr lang="en-US" dirty="0"/>
              <a:t>FD table</a:t>
            </a:r>
          </a:p>
        </p:txBody>
      </p:sp>
      <p:sp>
        <p:nvSpPr>
          <p:cNvPr id="735243" name="TextBox 735242">
            <a:extLst>
              <a:ext uri="{FF2B5EF4-FFF2-40B4-BE49-F238E27FC236}">
                <a16:creationId xmlns:a16="http://schemas.microsoft.com/office/drawing/2014/main" id="{F2C0DC7D-5B93-54E0-E7E2-2392B10B41CB}"/>
              </a:ext>
            </a:extLst>
          </p:cNvPr>
          <p:cNvSpPr txBox="1"/>
          <p:nvPr/>
        </p:nvSpPr>
        <p:spPr>
          <a:xfrm>
            <a:off x="8768067" y="1294655"/>
            <a:ext cx="1994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Open file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735244" name="Straight Arrow Connector 735243">
            <a:extLst>
              <a:ext uri="{FF2B5EF4-FFF2-40B4-BE49-F238E27FC236}">
                <a16:creationId xmlns:a16="http://schemas.microsoft.com/office/drawing/2014/main" id="{DAF178B8-4CE0-A070-7FA2-ABE77788B5B6}"/>
              </a:ext>
            </a:extLst>
          </p:cNvPr>
          <p:cNvCxnSpPr>
            <a:cxnSpLocks/>
          </p:cNvCxnSpPr>
          <p:nvPr/>
        </p:nvCxnSpPr>
        <p:spPr>
          <a:xfrm flipV="1">
            <a:off x="8382000" y="2220773"/>
            <a:ext cx="793241" cy="1181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35249" name="Table 735248">
            <a:extLst>
              <a:ext uri="{FF2B5EF4-FFF2-40B4-BE49-F238E27FC236}">
                <a16:creationId xmlns:a16="http://schemas.microsoft.com/office/drawing/2014/main" id="{61C373A8-5230-3874-62F9-786F3EC5E5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033917"/>
              </p:ext>
            </p:extLst>
          </p:nvPr>
        </p:nvGraphicFramePr>
        <p:xfrm>
          <a:off x="10646916" y="3405673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access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735250" name="TextBox 735249">
            <a:extLst>
              <a:ext uri="{FF2B5EF4-FFF2-40B4-BE49-F238E27FC236}">
                <a16:creationId xmlns:a16="http://schemas.microsoft.com/office/drawing/2014/main" id="{D8D03C2E-7875-FD23-D0D2-F73191B96057}"/>
              </a:ext>
            </a:extLst>
          </p:cNvPr>
          <p:cNvSpPr txBox="1"/>
          <p:nvPr/>
        </p:nvSpPr>
        <p:spPr>
          <a:xfrm>
            <a:off x="10496595" y="2654725"/>
            <a:ext cx="1603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v-node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735251" name="Straight Arrow Connector 735250">
            <a:extLst>
              <a:ext uri="{FF2B5EF4-FFF2-40B4-BE49-F238E27FC236}">
                <a16:creationId xmlns:a16="http://schemas.microsoft.com/office/drawing/2014/main" id="{6C9B05FF-35CA-AD95-61DD-9F9CC1E5D58F}"/>
              </a:ext>
            </a:extLst>
          </p:cNvPr>
          <p:cNvCxnSpPr>
            <a:cxnSpLocks/>
          </p:cNvCxnSpPr>
          <p:nvPr/>
        </p:nvCxnSpPr>
        <p:spPr>
          <a:xfrm>
            <a:off x="9986118" y="2977890"/>
            <a:ext cx="660798" cy="570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1356507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FE631-C0C2-6299-F183-CD8EB07C6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>
            <a:extLst>
              <a:ext uri="{FF2B5EF4-FFF2-40B4-BE49-F238E27FC236}">
                <a16:creationId xmlns:a16="http://schemas.microsoft.com/office/drawing/2014/main" id="{3633DF13-BFD9-C454-8F8C-3AF3267FA0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2908" y="457200"/>
            <a:ext cx="8277893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Warm-Up: I/O and Redirection Example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1D9ABBE-F137-908C-FC59-6D14A1828402}"/>
              </a:ext>
            </a:extLst>
          </p:cNvPr>
          <p:cNvGrpSpPr/>
          <p:nvPr/>
        </p:nvGrpSpPr>
        <p:grpSpPr>
          <a:xfrm>
            <a:off x="461245" y="1289541"/>
            <a:ext cx="6984354" cy="5084844"/>
            <a:chOff x="688656" y="1240315"/>
            <a:chExt cx="6984354" cy="508484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98CF0F4B-8CE2-7DCE-4149-2686CC52E8E1}"/>
                </a:ext>
              </a:extLst>
            </p:cNvPr>
            <p:cNvGrpSpPr/>
            <p:nvPr/>
          </p:nvGrpSpPr>
          <p:grpSpPr>
            <a:xfrm>
              <a:off x="786851" y="1553513"/>
              <a:ext cx="6886159" cy="4771646"/>
              <a:chOff x="770574" y="4161173"/>
              <a:chExt cx="7649090" cy="477164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56792BA-1CEF-D2F4-792B-509E587097C4}"/>
                  </a:ext>
                </a:extLst>
              </p:cNvPr>
              <p:cNvSpPr txBox="1"/>
              <p:nvPr/>
            </p:nvSpPr>
            <p:spPr>
              <a:xfrm>
                <a:off x="770574" y="4162282"/>
                <a:ext cx="454482" cy="47705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9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19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1F618A3-D332-1168-4432-163F49806AEE}"/>
                  </a:ext>
                </a:extLst>
              </p:cNvPr>
              <p:cNvSpPr txBox="1"/>
              <p:nvPr/>
            </p:nvSpPr>
            <p:spPr>
              <a:xfrm>
                <a:off x="1225056" y="4161173"/>
                <a:ext cx="7194608" cy="477053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#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include</a:t>
                </a:r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 err="1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csapp.h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endParaRPr lang="en-US" sz="1600" dirty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main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argc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[]) {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fd1, fd2, fd3;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c1, c2, c3;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[1]; </a:t>
                </a:r>
              </a:p>
              <a:p>
                <a:pPr eaLnBrk="0" hangingPunct="0"/>
                <a:endParaRPr lang="en-US" sz="1600" b="0" i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fd1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fd2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fd3 = open(</a:t>
                </a:r>
                <a:r>
                  <a:rPr lang="en-US" sz="1600" b="0" i="0" dirty="0" err="1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dup2(fd2, fd3);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&amp;c1,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read(fd2,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read(fd3, &amp;c3, 1); </a:t>
                </a:r>
              </a:p>
              <a:p>
                <a:pPr eaLnBrk="0" hangingPunct="0"/>
                <a:endParaRPr lang="en-US" sz="1600" dirty="0">
                  <a:solidFill>
                    <a:schemeClr val="bg1">
                      <a:lumMod val="8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 err="1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("c1 = %c, c2 = %c, c3 = %c\n", c1, c2, c3);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return 0;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  <a:endParaRPr lang="fi-FI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6961DB2-5397-EE97-1758-0EB3E8FC7EE8}"/>
                </a:ext>
              </a:extLst>
            </p:cNvPr>
            <p:cNvSpPr txBox="1"/>
            <p:nvPr/>
          </p:nvSpPr>
          <p:spPr>
            <a:xfrm>
              <a:off x="688656" y="124031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ffiles1.c</a:t>
              </a:r>
            </a:p>
          </p:txBody>
        </p:sp>
      </p:grpSp>
      <p:graphicFrame>
        <p:nvGraphicFramePr>
          <p:cNvPr id="735240" name="Table 735239">
            <a:extLst>
              <a:ext uri="{FF2B5EF4-FFF2-40B4-BE49-F238E27FC236}">
                <a16:creationId xmlns:a16="http://schemas.microsoft.com/office/drawing/2014/main" id="{4DE777E5-FE64-D5DE-A2A9-2981E82324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0424244"/>
              </p:ext>
            </p:extLst>
          </p:nvPr>
        </p:nvGraphicFramePr>
        <p:xfrm>
          <a:off x="7800434" y="2031875"/>
          <a:ext cx="78476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726">
                  <a:extLst>
                    <a:ext uri="{9D8B030D-6E8A-4147-A177-3AD203B41FA5}">
                      <a16:colId xmlns:a16="http://schemas.microsoft.com/office/drawing/2014/main" val="759203340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5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30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1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1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8171943"/>
                  </a:ext>
                </a:extLst>
              </a:tr>
            </a:tbl>
          </a:graphicData>
        </a:graphic>
      </p:graphicFrame>
      <p:graphicFrame>
        <p:nvGraphicFramePr>
          <p:cNvPr id="735241" name="Table 735240">
            <a:extLst>
              <a:ext uri="{FF2B5EF4-FFF2-40B4-BE49-F238E27FC236}">
                <a16:creationId xmlns:a16="http://schemas.microsoft.com/office/drawing/2014/main" id="{C0D5B7B6-0C1C-ADBA-46E4-D993E5BEEE2E}"/>
              </a:ext>
            </a:extLst>
          </p:cNvPr>
          <p:cNvGraphicFramePr>
            <a:graphicFrameLocks noGrp="1"/>
          </p:cNvGraphicFramePr>
          <p:nvPr/>
        </p:nvGraphicFramePr>
        <p:xfrm>
          <a:off x="9175241" y="2007360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pos =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735242" name="TextBox 735241">
            <a:extLst>
              <a:ext uri="{FF2B5EF4-FFF2-40B4-BE49-F238E27FC236}">
                <a16:creationId xmlns:a16="http://schemas.microsoft.com/office/drawing/2014/main" id="{69D41AE0-C658-A9AA-4213-5284449CFF20}"/>
              </a:ext>
            </a:extLst>
          </p:cNvPr>
          <p:cNvSpPr txBox="1"/>
          <p:nvPr/>
        </p:nvSpPr>
        <p:spPr>
          <a:xfrm>
            <a:off x="7531807" y="1304929"/>
            <a:ext cx="102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Process</a:t>
            </a:r>
            <a:br>
              <a:rPr lang="en-US" dirty="0"/>
            </a:br>
            <a:r>
              <a:rPr lang="en-US" dirty="0"/>
              <a:t>FD table</a:t>
            </a:r>
          </a:p>
        </p:txBody>
      </p:sp>
      <p:sp>
        <p:nvSpPr>
          <p:cNvPr id="735243" name="TextBox 735242">
            <a:extLst>
              <a:ext uri="{FF2B5EF4-FFF2-40B4-BE49-F238E27FC236}">
                <a16:creationId xmlns:a16="http://schemas.microsoft.com/office/drawing/2014/main" id="{7BAB3050-81E1-A275-0EC8-6274F0016BBD}"/>
              </a:ext>
            </a:extLst>
          </p:cNvPr>
          <p:cNvSpPr txBox="1"/>
          <p:nvPr/>
        </p:nvSpPr>
        <p:spPr>
          <a:xfrm>
            <a:off x="8768067" y="1294655"/>
            <a:ext cx="1994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Open file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735244" name="Straight Arrow Connector 735243">
            <a:extLst>
              <a:ext uri="{FF2B5EF4-FFF2-40B4-BE49-F238E27FC236}">
                <a16:creationId xmlns:a16="http://schemas.microsoft.com/office/drawing/2014/main" id="{2391330E-DAE8-5581-F0E0-9DF0DDE11683}"/>
              </a:ext>
            </a:extLst>
          </p:cNvPr>
          <p:cNvCxnSpPr>
            <a:cxnSpLocks/>
          </p:cNvCxnSpPr>
          <p:nvPr/>
        </p:nvCxnSpPr>
        <p:spPr>
          <a:xfrm flipV="1">
            <a:off x="8382000" y="2220773"/>
            <a:ext cx="793241" cy="1181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5245" name="Straight Arrow Connector 735244">
            <a:extLst>
              <a:ext uri="{FF2B5EF4-FFF2-40B4-BE49-F238E27FC236}">
                <a16:creationId xmlns:a16="http://schemas.microsoft.com/office/drawing/2014/main" id="{2B7EA18F-E840-DEC1-2C9B-3FDEF85F9E31}"/>
              </a:ext>
            </a:extLst>
          </p:cNvPr>
          <p:cNvCxnSpPr>
            <a:cxnSpLocks/>
          </p:cNvCxnSpPr>
          <p:nvPr/>
        </p:nvCxnSpPr>
        <p:spPr>
          <a:xfrm flipV="1">
            <a:off x="8382000" y="3575200"/>
            <a:ext cx="793241" cy="1543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35247" name="Table 735246">
            <a:extLst>
              <a:ext uri="{FF2B5EF4-FFF2-40B4-BE49-F238E27FC236}">
                <a16:creationId xmlns:a16="http://schemas.microsoft.com/office/drawing/2014/main" id="{3D0E5AC4-44EF-EC18-AE04-0E580235B9FB}"/>
              </a:ext>
            </a:extLst>
          </p:cNvPr>
          <p:cNvGraphicFramePr>
            <a:graphicFrameLocks noGrp="1"/>
          </p:cNvGraphicFramePr>
          <p:nvPr/>
        </p:nvGraphicFramePr>
        <p:xfrm>
          <a:off x="9175241" y="3402538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pos =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graphicFrame>
        <p:nvGraphicFramePr>
          <p:cNvPr id="735249" name="Table 735248">
            <a:extLst>
              <a:ext uri="{FF2B5EF4-FFF2-40B4-BE49-F238E27FC236}">
                <a16:creationId xmlns:a16="http://schemas.microsoft.com/office/drawing/2014/main" id="{C4410D62-0759-E856-DF8D-02EDEA7CFE54}"/>
              </a:ext>
            </a:extLst>
          </p:cNvPr>
          <p:cNvGraphicFramePr>
            <a:graphicFrameLocks noGrp="1"/>
          </p:cNvGraphicFramePr>
          <p:nvPr/>
        </p:nvGraphicFramePr>
        <p:xfrm>
          <a:off x="10646916" y="3405673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access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735250" name="TextBox 735249">
            <a:extLst>
              <a:ext uri="{FF2B5EF4-FFF2-40B4-BE49-F238E27FC236}">
                <a16:creationId xmlns:a16="http://schemas.microsoft.com/office/drawing/2014/main" id="{72441201-7A60-1E86-AA05-9AC61E73DEF7}"/>
              </a:ext>
            </a:extLst>
          </p:cNvPr>
          <p:cNvSpPr txBox="1"/>
          <p:nvPr/>
        </p:nvSpPr>
        <p:spPr>
          <a:xfrm>
            <a:off x="10496595" y="2654725"/>
            <a:ext cx="1603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v-node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735251" name="Straight Arrow Connector 735250">
            <a:extLst>
              <a:ext uri="{FF2B5EF4-FFF2-40B4-BE49-F238E27FC236}">
                <a16:creationId xmlns:a16="http://schemas.microsoft.com/office/drawing/2014/main" id="{69CA3EFB-8BFD-8029-86FF-738165B06073}"/>
              </a:ext>
            </a:extLst>
          </p:cNvPr>
          <p:cNvCxnSpPr>
            <a:cxnSpLocks/>
          </p:cNvCxnSpPr>
          <p:nvPr/>
        </p:nvCxnSpPr>
        <p:spPr>
          <a:xfrm>
            <a:off x="9986118" y="2977890"/>
            <a:ext cx="660798" cy="570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5260" name="Straight Arrow Connector 735259">
            <a:extLst>
              <a:ext uri="{FF2B5EF4-FFF2-40B4-BE49-F238E27FC236}">
                <a16:creationId xmlns:a16="http://schemas.microsoft.com/office/drawing/2014/main" id="{9C9EC6F3-A417-22CA-84B4-348D061A83ED}"/>
              </a:ext>
            </a:extLst>
          </p:cNvPr>
          <p:cNvCxnSpPr>
            <a:cxnSpLocks/>
          </p:cNvCxnSpPr>
          <p:nvPr/>
        </p:nvCxnSpPr>
        <p:spPr>
          <a:xfrm flipV="1">
            <a:off x="10119361" y="3591436"/>
            <a:ext cx="527555" cy="7527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5368057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5B171-92F2-BAB2-B7E5-5BDAB86D3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>
            <a:extLst>
              <a:ext uri="{FF2B5EF4-FFF2-40B4-BE49-F238E27FC236}">
                <a16:creationId xmlns:a16="http://schemas.microsoft.com/office/drawing/2014/main" id="{7B06E66E-5245-6CE2-C42F-1F49674C94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2908" y="457200"/>
            <a:ext cx="8277893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Warm-Up: I/O and Redirection Example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2E8E76C-A58B-EF4C-20D1-9589797E4982}"/>
              </a:ext>
            </a:extLst>
          </p:cNvPr>
          <p:cNvGrpSpPr/>
          <p:nvPr/>
        </p:nvGrpSpPr>
        <p:grpSpPr>
          <a:xfrm>
            <a:off x="461245" y="1289541"/>
            <a:ext cx="6984354" cy="5084844"/>
            <a:chOff x="688656" y="1240315"/>
            <a:chExt cx="6984354" cy="508484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C5E4FC4-F85A-E713-5455-9A50D6A044FA}"/>
                </a:ext>
              </a:extLst>
            </p:cNvPr>
            <p:cNvGrpSpPr/>
            <p:nvPr/>
          </p:nvGrpSpPr>
          <p:grpSpPr>
            <a:xfrm>
              <a:off x="786851" y="1553513"/>
              <a:ext cx="6886159" cy="4771646"/>
              <a:chOff x="770574" y="4161173"/>
              <a:chExt cx="7649090" cy="477164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24A38C1-C8F0-10F3-51A2-D4D8B3DAAFBE}"/>
                  </a:ext>
                </a:extLst>
              </p:cNvPr>
              <p:cNvSpPr txBox="1"/>
              <p:nvPr/>
            </p:nvSpPr>
            <p:spPr>
              <a:xfrm>
                <a:off x="770574" y="4162282"/>
                <a:ext cx="454482" cy="47705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9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19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0F58064-CE46-C795-BE63-5716D827C8C9}"/>
                  </a:ext>
                </a:extLst>
              </p:cNvPr>
              <p:cNvSpPr txBox="1"/>
              <p:nvPr/>
            </p:nvSpPr>
            <p:spPr>
              <a:xfrm>
                <a:off x="1225056" y="4161173"/>
                <a:ext cx="7194608" cy="477053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#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include</a:t>
                </a:r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 err="1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csapp.h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endParaRPr lang="en-US" sz="1600" dirty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main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argc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[]) {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fd1, fd2, fd3;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c1, c2, c3;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[1]; </a:t>
                </a:r>
              </a:p>
              <a:p>
                <a:pPr eaLnBrk="0" hangingPunct="0"/>
                <a:endParaRPr lang="en-US" sz="1600" b="0" i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fd1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fd2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fd3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dup2(fd2, fd3);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&amp;c1,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read(fd2,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read(fd3, &amp;c3, 1); </a:t>
                </a:r>
              </a:p>
              <a:p>
                <a:pPr eaLnBrk="0" hangingPunct="0"/>
                <a:endParaRPr lang="en-US" sz="1600" dirty="0">
                  <a:solidFill>
                    <a:schemeClr val="bg1">
                      <a:lumMod val="8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 err="1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("c1 = %c, c2 = %c, c3 = %c\n", c1, c2, c3);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return 0;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  <a:endParaRPr lang="fi-FI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7DA59F3-005B-B56C-1E36-0350A12A441D}"/>
                </a:ext>
              </a:extLst>
            </p:cNvPr>
            <p:cNvSpPr txBox="1"/>
            <p:nvPr/>
          </p:nvSpPr>
          <p:spPr>
            <a:xfrm>
              <a:off x="688656" y="124031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ffiles1.c</a:t>
              </a:r>
            </a:p>
          </p:txBody>
        </p:sp>
      </p:grpSp>
      <p:graphicFrame>
        <p:nvGraphicFramePr>
          <p:cNvPr id="735240" name="Table 735239">
            <a:extLst>
              <a:ext uri="{FF2B5EF4-FFF2-40B4-BE49-F238E27FC236}">
                <a16:creationId xmlns:a16="http://schemas.microsoft.com/office/drawing/2014/main" id="{B865CED9-6422-9C7D-B942-10744773309F}"/>
              </a:ext>
            </a:extLst>
          </p:cNvPr>
          <p:cNvGraphicFramePr>
            <a:graphicFrameLocks noGrp="1"/>
          </p:cNvGraphicFramePr>
          <p:nvPr/>
        </p:nvGraphicFramePr>
        <p:xfrm>
          <a:off x="7800434" y="2031875"/>
          <a:ext cx="78476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726">
                  <a:extLst>
                    <a:ext uri="{9D8B030D-6E8A-4147-A177-3AD203B41FA5}">
                      <a16:colId xmlns:a16="http://schemas.microsoft.com/office/drawing/2014/main" val="759203340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5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30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1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1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8171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816716"/>
                  </a:ext>
                </a:extLst>
              </a:tr>
            </a:tbl>
          </a:graphicData>
        </a:graphic>
      </p:graphicFrame>
      <p:graphicFrame>
        <p:nvGraphicFramePr>
          <p:cNvPr id="735241" name="Table 735240">
            <a:extLst>
              <a:ext uri="{FF2B5EF4-FFF2-40B4-BE49-F238E27FC236}">
                <a16:creationId xmlns:a16="http://schemas.microsoft.com/office/drawing/2014/main" id="{874DF1B0-DC26-E3A9-2064-848042EE08F3}"/>
              </a:ext>
            </a:extLst>
          </p:cNvPr>
          <p:cNvGraphicFramePr>
            <a:graphicFrameLocks noGrp="1"/>
          </p:cNvGraphicFramePr>
          <p:nvPr/>
        </p:nvGraphicFramePr>
        <p:xfrm>
          <a:off x="9175241" y="2007360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pos =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735242" name="TextBox 735241">
            <a:extLst>
              <a:ext uri="{FF2B5EF4-FFF2-40B4-BE49-F238E27FC236}">
                <a16:creationId xmlns:a16="http://schemas.microsoft.com/office/drawing/2014/main" id="{A849E775-1DB3-7227-8BC8-B92212148EAF}"/>
              </a:ext>
            </a:extLst>
          </p:cNvPr>
          <p:cNvSpPr txBox="1"/>
          <p:nvPr/>
        </p:nvSpPr>
        <p:spPr>
          <a:xfrm>
            <a:off x="7531807" y="1304929"/>
            <a:ext cx="102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Process</a:t>
            </a:r>
            <a:br>
              <a:rPr lang="en-US" dirty="0"/>
            </a:br>
            <a:r>
              <a:rPr lang="en-US" dirty="0"/>
              <a:t>FD table</a:t>
            </a:r>
          </a:p>
        </p:txBody>
      </p:sp>
      <p:sp>
        <p:nvSpPr>
          <p:cNvPr id="735243" name="TextBox 735242">
            <a:extLst>
              <a:ext uri="{FF2B5EF4-FFF2-40B4-BE49-F238E27FC236}">
                <a16:creationId xmlns:a16="http://schemas.microsoft.com/office/drawing/2014/main" id="{88FE6EE4-3CAA-A299-1ACD-0938A256B994}"/>
              </a:ext>
            </a:extLst>
          </p:cNvPr>
          <p:cNvSpPr txBox="1"/>
          <p:nvPr/>
        </p:nvSpPr>
        <p:spPr>
          <a:xfrm>
            <a:off x="8768067" y="1294655"/>
            <a:ext cx="1994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Open file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735244" name="Straight Arrow Connector 735243">
            <a:extLst>
              <a:ext uri="{FF2B5EF4-FFF2-40B4-BE49-F238E27FC236}">
                <a16:creationId xmlns:a16="http://schemas.microsoft.com/office/drawing/2014/main" id="{77B09F73-5DA6-0C5A-0A5F-413566A86794}"/>
              </a:ext>
            </a:extLst>
          </p:cNvPr>
          <p:cNvCxnSpPr>
            <a:cxnSpLocks/>
          </p:cNvCxnSpPr>
          <p:nvPr/>
        </p:nvCxnSpPr>
        <p:spPr>
          <a:xfrm flipV="1">
            <a:off x="8382000" y="2220773"/>
            <a:ext cx="793241" cy="1181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5245" name="Straight Arrow Connector 735244">
            <a:extLst>
              <a:ext uri="{FF2B5EF4-FFF2-40B4-BE49-F238E27FC236}">
                <a16:creationId xmlns:a16="http://schemas.microsoft.com/office/drawing/2014/main" id="{7001BC76-CB56-2426-39B5-2015235D3B6E}"/>
              </a:ext>
            </a:extLst>
          </p:cNvPr>
          <p:cNvCxnSpPr>
            <a:cxnSpLocks/>
          </p:cNvCxnSpPr>
          <p:nvPr/>
        </p:nvCxnSpPr>
        <p:spPr>
          <a:xfrm flipV="1">
            <a:off x="8382000" y="3575200"/>
            <a:ext cx="793241" cy="1543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5246" name="Straight Arrow Connector 735245">
            <a:extLst>
              <a:ext uri="{FF2B5EF4-FFF2-40B4-BE49-F238E27FC236}">
                <a16:creationId xmlns:a16="http://schemas.microsoft.com/office/drawing/2014/main" id="{4DCBFC40-2638-7402-E905-6C27963BF72B}"/>
              </a:ext>
            </a:extLst>
          </p:cNvPr>
          <p:cNvCxnSpPr>
            <a:cxnSpLocks/>
          </p:cNvCxnSpPr>
          <p:nvPr/>
        </p:nvCxnSpPr>
        <p:spPr>
          <a:xfrm>
            <a:off x="8382000" y="4049573"/>
            <a:ext cx="793241" cy="9745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35247" name="Table 735246">
            <a:extLst>
              <a:ext uri="{FF2B5EF4-FFF2-40B4-BE49-F238E27FC236}">
                <a16:creationId xmlns:a16="http://schemas.microsoft.com/office/drawing/2014/main" id="{FDA10D66-753E-CCB4-95C6-01BFD672448D}"/>
              </a:ext>
            </a:extLst>
          </p:cNvPr>
          <p:cNvGraphicFramePr>
            <a:graphicFrameLocks noGrp="1"/>
          </p:cNvGraphicFramePr>
          <p:nvPr/>
        </p:nvGraphicFramePr>
        <p:xfrm>
          <a:off x="9175241" y="3402538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pos =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graphicFrame>
        <p:nvGraphicFramePr>
          <p:cNvPr id="735248" name="Table 735247">
            <a:extLst>
              <a:ext uri="{FF2B5EF4-FFF2-40B4-BE49-F238E27FC236}">
                <a16:creationId xmlns:a16="http://schemas.microsoft.com/office/drawing/2014/main" id="{16AF3250-C9F1-9C6B-787E-68AE1D4F5393}"/>
              </a:ext>
            </a:extLst>
          </p:cNvPr>
          <p:cNvGraphicFramePr>
            <a:graphicFrameLocks noGrp="1"/>
          </p:cNvGraphicFramePr>
          <p:nvPr/>
        </p:nvGraphicFramePr>
        <p:xfrm>
          <a:off x="9175241" y="4817719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pos =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graphicFrame>
        <p:nvGraphicFramePr>
          <p:cNvPr id="735249" name="Table 735248">
            <a:extLst>
              <a:ext uri="{FF2B5EF4-FFF2-40B4-BE49-F238E27FC236}">
                <a16:creationId xmlns:a16="http://schemas.microsoft.com/office/drawing/2014/main" id="{DA8CF32D-1FA1-055C-4E15-155F77D85353}"/>
              </a:ext>
            </a:extLst>
          </p:cNvPr>
          <p:cNvGraphicFramePr>
            <a:graphicFrameLocks noGrp="1"/>
          </p:cNvGraphicFramePr>
          <p:nvPr/>
        </p:nvGraphicFramePr>
        <p:xfrm>
          <a:off x="10646916" y="3405673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access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735250" name="TextBox 735249">
            <a:extLst>
              <a:ext uri="{FF2B5EF4-FFF2-40B4-BE49-F238E27FC236}">
                <a16:creationId xmlns:a16="http://schemas.microsoft.com/office/drawing/2014/main" id="{93AEE679-76B6-EB00-D4C0-AA5953D86BBD}"/>
              </a:ext>
            </a:extLst>
          </p:cNvPr>
          <p:cNvSpPr txBox="1"/>
          <p:nvPr/>
        </p:nvSpPr>
        <p:spPr>
          <a:xfrm>
            <a:off x="10496595" y="2654725"/>
            <a:ext cx="1603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v-node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735251" name="Straight Arrow Connector 735250">
            <a:extLst>
              <a:ext uri="{FF2B5EF4-FFF2-40B4-BE49-F238E27FC236}">
                <a16:creationId xmlns:a16="http://schemas.microsoft.com/office/drawing/2014/main" id="{9BA22784-075E-9588-312A-ECB4F2A7AC79}"/>
              </a:ext>
            </a:extLst>
          </p:cNvPr>
          <p:cNvCxnSpPr>
            <a:cxnSpLocks/>
          </p:cNvCxnSpPr>
          <p:nvPr/>
        </p:nvCxnSpPr>
        <p:spPr>
          <a:xfrm>
            <a:off x="9986118" y="2977890"/>
            <a:ext cx="660798" cy="570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5259" name="Straight Arrow Connector 735258">
            <a:extLst>
              <a:ext uri="{FF2B5EF4-FFF2-40B4-BE49-F238E27FC236}">
                <a16:creationId xmlns:a16="http://schemas.microsoft.com/office/drawing/2014/main" id="{F8B9052B-4090-13FD-EE55-C90C0C83E4C8}"/>
              </a:ext>
            </a:extLst>
          </p:cNvPr>
          <p:cNvCxnSpPr>
            <a:cxnSpLocks/>
          </p:cNvCxnSpPr>
          <p:nvPr/>
        </p:nvCxnSpPr>
        <p:spPr>
          <a:xfrm flipV="1">
            <a:off x="10200640" y="3591436"/>
            <a:ext cx="446276" cy="22361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5260" name="Straight Arrow Connector 735259">
            <a:extLst>
              <a:ext uri="{FF2B5EF4-FFF2-40B4-BE49-F238E27FC236}">
                <a16:creationId xmlns:a16="http://schemas.microsoft.com/office/drawing/2014/main" id="{C2F3D071-116F-599A-4690-605137AAE150}"/>
              </a:ext>
            </a:extLst>
          </p:cNvPr>
          <p:cNvCxnSpPr>
            <a:cxnSpLocks/>
          </p:cNvCxnSpPr>
          <p:nvPr/>
        </p:nvCxnSpPr>
        <p:spPr>
          <a:xfrm flipV="1">
            <a:off x="10119361" y="3591436"/>
            <a:ext cx="527555" cy="7527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9602902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5474B-B691-97EA-9301-14F0D08EF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>
            <a:extLst>
              <a:ext uri="{FF2B5EF4-FFF2-40B4-BE49-F238E27FC236}">
                <a16:creationId xmlns:a16="http://schemas.microsoft.com/office/drawing/2014/main" id="{82AE95BE-9D9D-F1EE-3906-D1AAE9CB38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2908" y="457200"/>
            <a:ext cx="8277893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Warm-Up: I/O and Redirection Example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C1D04F9-976C-773A-D8B8-2A38DBB0A9E0}"/>
              </a:ext>
            </a:extLst>
          </p:cNvPr>
          <p:cNvGrpSpPr/>
          <p:nvPr/>
        </p:nvGrpSpPr>
        <p:grpSpPr>
          <a:xfrm>
            <a:off x="461245" y="1289541"/>
            <a:ext cx="6984354" cy="5084844"/>
            <a:chOff x="688656" y="1240315"/>
            <a:chExt cx="6984354" cy="508484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F0DD3A89-BCFA-E119-F249-40DBA782D8DE}"/>
                </a:ext>
              </a:extLst>
            </p:cNvPr>
            <p:cNvGrpSpPr/>
            <p:nvPr/>
          </p:nvGrpSpPr>
          <p:grpSpPr>
            <a:xfrm>
              <a:off x="786851" y="1553513"/>
              <a:ext cx="6886159" cy="4771646"/>
              <a:chOff x="770574" y="4161173"/>
              <a:chExt cx="7649090" cy="477164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008CA7C-5730-89BC-1836-87AAA8BE0331}"/>
                  </a:ext>
                </a:extLst>
              </p:cNvPr>
              <p:cNvSpPr txBox="1"/>
              <p:nvPr/>
            </p:nvSpPr>
            <p:spPr>
              <a:xfrm>
                <a:off x="770574" y="4162282"/>
                <a:ext cx="454482" cy="47705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9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19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0C4291B-D059-41B9-4DD7-8D57AF544BEE}"/>
                  </a:ext>
                </a:extLst>
              </p:cNvPr>
              <p:cNvSpPr txBox="1"/>
              <p:nvPr/>
            </p:nvSpPr>
            <p:spPr>
              <a:xfrm>
                <a:off x="1225056" y="4161173"/>
                <a:ext cx="7194608" cy="477053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#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include</a:t>
                </a:r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 err="1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csapp.h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endParaRPr lang="en-US" sz="1600" dirty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main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argc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[]) {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fd1, fd2, fd3;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c1, c2, c3;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[1]; </a:t>
                </a:r>
              </a:p>
              <a:p>
                <a:pPr eaLnBrk="0" hangingPunct="0"/>
                <a:endParaRPr lang="en-US" sz="1600" b="0" i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fd1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fd2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fd3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1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dup2(fd2, fd3);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&amp;c1,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read(fd2,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read(fd3, &amp;c3, 1); </a:t>
                </a:r>
              </a:p>
              <a:p>
                <a:pPr eaLnBrk="0" hangingPunct="0"/>
                <a:endParaRPr lang="en-US" sz="1600" dirty="0">
                  <a:solidFill>
                    <a:schemeClr val="bg1">
                      <a:lumMod val="8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 err="1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("c1 = %c, c2 = %c, c3 = %c\n", c1, c2, c3);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return 0;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  <a:endParaRPr lang="fi-FI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A149C01-478C-0B30-FE55-047295FCD94D}"/>
                </a:ext>
              </a:extLst>
            </p:cNvPr>
            <p:cNvSpPr txBox="1"/>
            <p:nvPr/>
          </p:nvSpPr>
          <p:spPr>
            <a:xfrm>
              <a:off x="688656" y="124031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ffiles1.c</a:t>
              </a:r>
            </a:p>
          </p:txBody>
        </p:sp>
      </p:grp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9A94190-ECC4-1E72-AD06-BA53868D12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81358"/>
              </p:ext>
            </p:extLst>
          </p:nvPr>
        </p:nvGraphicFramePr>
        <p:xfrm>
          <a:off x="7800434" y="2031875"/>
          <a:ext cx="78476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726">
                  <a:extLst>
                    <a:ext uri="{9D8B030D-6E8A-4147-A177-3AD203B41FA5}">
                      <a16:colId xmlns:a16="http://schemas.microsoft.com/office/drawing/2014/main" val="759203340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5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30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1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1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8171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816716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B4AD26F-4F66-1A46-60CE-DDB2C7CBBC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2159030"/>
              </p:ext>
            </p:extLst>
          </p:nvPr>
        </p:nvGraphicFramePr>
        <p:xfrm>
          <a:off x="9175241" y="2007360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pos =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6CF4DEEE-CA75-98C6-C06E-D2861EDEC640}"/>
              </a:ext>
            </a:extLst>
          </p:cNvPr>
          <p:cNvSpPr txBox="1"/>
          <p:nvPr/>
        </p:nvSpPr>
        <p:spPr>
          <a:xfrm>
            <a:off x="7531807" y="1304929"/>
            <a:ext cx="102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Process</a:t>
            </a:r>
            <a:br>
              <a:rPr lang="en-US" dirty="0"/>
            </a:br>
            <a:r>
              <a:rPr lang="en-US" dirty="0"/>
              <a:t>FD table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2D8B6A-2A83-66EE-C85D-F2748F132AE5}"/>
              </a:ext>
            </a:extLst>
          </p:cNvPr>
          <p:cNvSpPr txBox="1"/>
          <p:nvPr/>
        </p:nvSpPr>
        <p:spPr>
          <a:xfrm>
            <a:off x="8768067" y="1294655"/>
            <a:ext cx="1994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Open file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67272C4-4CE8-B374-5573-E74CF181E75E}"/>
              </a:ext>
            </a:extLst>
          </p:cNvPr>
          <p:cNvCxnSpPr>
            <a:cxnSpLocks/>
          </p:cNvCxnSpPr>
          <p:nvPr/>
        </p:nvCxnSpPr>
        <p:spPr>
          <a:xfrm flipV="1">
            <a:off x="8382000" y="2220773"/>
            <a:ext cx="793241" cy="1181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5B25FB9-E137-2C26-2ED4-3E0427C7C0FC}"/>
              </a:ext>
            </a:extLst>
          </p:cNvPr>
          <p:cNvCxnSpPr>
            <a:cxnSpLocks/>
          </p:cNvCxnSpPr>
          <p:nvPr/>
        </p:nvCxnSpPr>
        <p:spPr>
          <a:xfrm flipV="1">
            <a:off x="8382000" y="3575200"/>
            <a:ext cx="793241" cy="1543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B89E898-B19A-4A86-C1C6-1892369F748F}"/>
              </a:ext>
            </a:extLst>
          </p:cNvPr>
          <p:cNvCxnSpPr>
            <a:cxnSpLocks/>
          </p:cNvCxnSpPr>
          <p:nvPr/>
        </p:nvCxnSpPr>
        <p:spPr>
          <a:xfrm>
            <a:off x="8382000" y="4049573"/>
            <a:ext cx="793241" cy="9745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AFE04D3C-B95E-3037-4596-5E429E788D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3843234"/>
              </p:ext>
            </p:extLst>
          </p:nvPr>
        </p:nvGraphicFramePr>
        <p:xfrm>
          <a:off x="9175241" y="3402538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pos =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78F66BB9-D998-6031-CF59-1902862208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988216"/>
              </p:ext>
            </p:extLst>
          </p:nvPr>
        </p:nvGraphicFramePr>
        <p:xfrm>
          <a:off x="9175241" y="4817719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pos =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E1876433-41F8-7A78-6A50-251D945B27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0137841"/>
              </p:ext>
            </p:extLst>
          </p:nvPr>
        </p:nvGraphicFramePr>
        <p:xfrm>
          <a:off x="10646916" y="3405673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access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D287F463-BAEB-BEED-882D-4F4147E09D4D}"/>
              </a:ext>
            </a:extLst>
          </p:cNvPr>
          <p:cNvSpPr txBox="1"/>
          <p:nvPr/>
        </p:nvSpPr>
        <p:spPr>
          <a:xfrm>
            <a:off x="10496595" y="2654725"/>
            <a:ext cx="1603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v-node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6BF00BC-F6A0-98AC-B762-B9FB2F28DCB5}"/>
              </a:ext>
            </a:extLst>
          </p:cNvPr>
          <p:cNvCxnSpPr>
            <a:cxnSpLocks/>
          </p:cNvCxnSpPr>
          <p:nvPr/>
        </p:nvCxnSpPr>
        <p:spPr>
          <a:xfrm flipV="1">
            <a:off x="10200640" y="3591436"/>
            <a:ext cx="446276" cy="22361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62931EF-75F0-2BF8-09C3-F8FBC4DD4286}"/>
              </a:ext>
            </a:extLst>
          </p:cNvPr>
          <p:cNvSpPr txBox="1"/>
          <p:nvPr/>
        </p:nvSpPr>
        <p:spPr>
          <a:xfrm>
            <a:off x="7854750" y="5258488"/>
            <a:ext cx="1176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Close fd3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1BD2A99-EDB0-A770-C82E-9748FB199D42}"/>
              </a:ext>
            </a:extLst>
          </p:cNvPr>
          <p:cNvCxnSpPr>
            <a:cxnSpLocks/>
          </p:cNvCxnSpPr>
          <p:nvPr/>
        </p:nvCxnSpPr>
        <p:spPr>
          <a:xfrm>
            <a:off x="9986118" y="2977890"/>
            <a:ext cx="660798" cy="570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BBFE994-67A3-987C-E8EF-45F52B31F76C}"/>
              </a:ext>
            </a:extLst>
          </p:cNvPr>
          <p:cNvCxnSpPr>
            <a:cxnSpLocks/>
          </p:cNvCxnSpPr>
          <p:nvPr/>
        </p:nvCxnSpPr>
        <p:spPr>
          <a:xfrm flipV="1">
            <a:off x="10119361" y="3591436"/>
            <a:ext cx="527555" cy="7527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4898710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5B2EF-4631-DF9A-5BAA-3E2D8965D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>
            <a:extLst>
              <a:ext uri="{FF2B5EF4-FFF2-40B4-BE49-F238E27FC236}">
                <a16:creationId xmlns:a16="http://schemas.microsoft.com/office/drawing/2014/main" id="{8963A514-344C-57F2-F5DB-FC791AE4E6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2908" y="457200"/>
            <a:ext cx="8277893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Warm-Up: I/O and Redirection Example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AECD2BC-16C6-D071-C7F4-48B431B9D0E3}"/>
              </a:ext>
            </a:extLst>
          </p:cNvPr>
          <p:cNvGrpSpPr/>
          <p:nvPr/>
        </p:nvGrpSpPr>
        <p:grpSpPr>
          <a:xfrm>
            <a:off x="461245" y="1289541"/>
            <a:ext cx="6984354" cy="5084844"/>
            <a:chOff x="688656" y="1240315"/>
            <a:chExt cx="6984354" cy="508484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45F012F-49CA-DF36-AB88-5B7BB42AD69A}"/>
                </a:ext>
              </a:extLst>
            </p:cNvPr>
            <p:cNvGrpSpPr/>
            <p:nvPr/>
          </p:nvGrpSpPr>
          <p:grpSpPr>
            <a:xfrm>
              <a:off x="786851" y="1553513"/>
              <a:ext cx="6886159" cy="4771646"/>
              <a:chOff x="770574" y="4161173"/>
              <a:chExt cx="7649090" cy="477164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359AFCE-284F-C7EB-132F-053D6CDA622C}"/>
                  </a:ext>
                </a:extLst>
              </p:cNvPr>
              <p:cNvSpPr txBox="1"/>
              <p:nvPr/>
            </p:nvSpPr>
            <p:spPr>
              <a:xfrm>
                <a:off x="770574" y="4162282"/>
                <a:ext cx="454482" cy="47705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9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19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3A529A8-0413-8AE0-5B6E-01E99F4C976B}"/>
                  </a:ext>
                </a:extLst>
              </p:cNvPr>
              <p:cNvSpPr txBox="1"/>
              <p:nvPr/>
            </p:nvSpPr>
            <p:spPr>
              <a:xfrm>
                <a:off x="1225056" y="4161173"/>
                <a:ext cx="7194608" cy="477053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#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include</a:t>
                </a:r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 err="1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csapp.h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endParaRPr lang="en-US" sz="1600" dirty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main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argc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[]) {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fd1, fd2, fd3;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c1, c2, c3;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[1]; </a:t>
                </a:r>
              </a:p>
              <a:p>
                <a:pPr eaLnBrk="0" hangingPunct="0"/>
                <a:endParaRPr lang="en-US" sz="1600" b="0" i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fd1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fd2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fd3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1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dup2(fd2, fd3);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&amp;c1,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read(fd2,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read(fd3, &amp;c3, 1); </a:t>
                </a:r>
              </a:p>
              <a:p>
                <a:pPr eaLnBrk="0" hangingPunct="0"/>
                <a:endParaRPr lang="en-US" sz="1600" dirty="0">
                  <a:solidFill>
                    <a:schemeClr val="bg1">
                      <a:lumMod val="8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 err="1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("c1 = %c, c2 = %c, c3 = %c\n", c1, c2, c3);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return 0;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  <a:endParaRPr lang="fi-FI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5ACA1E0-89F8-ACCC-8ACC-2FDB7D28A060}"/>
                </a:ext>
              </a:extLst>
            </p:cNvPr>
            <p:cNvSpPr txBox="1"/>
            <p:nvPr/>
          </p:nvSpPr>
          <p:spPr>
            <a:xfrm>
              <a:off x="688656" y="124031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ffiles1.c</a:t>
              </a:r>
            </a:p>
          </p:txBody>
        </p:sp>
      </p:grp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A42A95D-4CDC-1F78-5684-0EA6FBE274BE}"/>
              </a:ext>
            </a:extLst>
          </p:cNvPr>
          <p:cNvGraphicFramePr>
            <a:graphicFrameLocks noGrp="1"/>
          </p:cNvGraphicFramePr>
          <p:nvPr/>
        </p:nvGraphicFramePr>
        <p:xfrm>
          <a:off x="7800434" y="2031875"/>
          <a:ext cx="78476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726">
                  <a:extLst>
                    <a:ext uri="{9D8B030D-6E8A-4147-A177-3AD203B41FA5}">
                      <a16:colId xmlns:a16="http://schemas.microsoft.com/office/drawing/2014/main" val="759203340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5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30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1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1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8171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816716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9CDCF1C-8618-12BA-D944-E0BCDD331024}"/>
              </a:ext>
            </a:extLst>
          </p:cNvPr>
          <p:cNvGraphicFramePr>
            <a:graphicFrameLocks noGrp="1"/>
          </p:cNvGraphicFramePr>
          <p:nvPr/>
        </p:nvGraphicFramePr>
        <p:xfrm>
          <a:off x="9175241" y="2007360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pos =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05B8396A-179C-5BE0-4011-B31A0253D6A7}"/>
              </a:ext>
            </a:extLst>
          </p:cNvPr>
          <p:cNvSpPr txBox="1"/>
          <p:nvPr/>
        </p:nvSpPr>
        <p:spPr>
          <a:xfrm>
            <a:off x="7531807" y="1304929"/>
            <a:ext cx="102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Process</a:t>
            </a:r>
            <a:br>
              <a:rPr lang="en-US" dirty="0"/>
            </a:br>
            <a:r>
              <a:rPr lang="en-US" dirty="0"/>
              <a:t>FD table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8094D5-B202-E111-0A4F-F71D152BF0BC}"/>
              </a:ext>
            </a:extLst>
          </p:cNvPr>
          <p:cNvSpPr txBox="1"/>
          <p:nvPr/>
        </p:nvSpPr>
        <p:spPr>
          <a:xfrm>
            <a:off x="8768067" y="1294655"/>
            <a:ext cx="1994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Open file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0621CB8-9BB4-70AF-6298-662FDE155AA2}"/>
              </a:ext>
            </a:extLst>
          </p:cNvPr>
          <p:cNvCxnSpPr>
            <a:cxnSpLocks/>
          </p:cNvCxnSpPr>
          <p:nvPr/>
        </p:nvCxnSpPr>
        <p:spPr>
          <a:xfrm flipV="1">
            <a:off x="8382000" y="2220773"/>
            <a:ext cx="793241" cy="1181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3AC4EE7-0BE0-F145-C1D8-68DD7A6E2A54}"/>
              </a:ext>
            </a:extLst>
          </p:cNvPr>
          <p:cNvCxnSpPr>
            <a:cxnSpLocks/>
          </p:cNvCxnSpPr>
          <p:nvPr/>
        </p:nvCxnSpPr>
        <p:spPr>
          <a:xfrm flipV="1">
            <a:off x="8382000" y="3575200"/>
            <a:ext cx="793241" cy="1543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CDA17C5-3A5C-AED2-E08F-32D8C169D290}"/>
              </a:ext>
            </a:extLst>
          </p:cNvPr>
          <p:cNvCxnSpPr>
            <a:cxnSpLocks/>
          </p:cNvCxnSpPr>
          <p:nvPr/>
        </p:nvCxnSpPr>
        <p:spPr>
          <a:xfrm flipV="1">
            <a:off x="8382000" y="3591436"/>
            <a:ext cx="828041" cy="4581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53D64301-0FD6-D38E-DA35-FB16501CB75D}"/>
              </a:ext>
            </a:extLst>
          </p:cNvPr>
          <p:cNvGraphicFramePr>
            <a:graphicFrameLocks noGrp="1"/>
          </p:cNvGraphicFramePr>
          <p:nvPr/>
        </p:nvGraphicFramePr>
        <p:xfrm>
          <a:off x="9175241" y="3402538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pos =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F3A26D5F-64B7-EC41-5C2E-17F681A03E2A}"/>
              </a:ext>
            </a:extLst>
          </p:cNvPr>
          <p:cNvGraphicFramePr>
            <a:graphicFrameLocks noGrp="1"/>
          </p:cNvGraphicFramePr>
          <p:nvPr/>
        </p:nvGraphicFramePr>
        <p:xfrm>
          <a:off x="10646916" y="3405673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access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B4E7213A-6B17-DCF3-F1A2-9D64D9F2D7C9}"/>
              </a:ext>
            </a:extLst>
          </p:cNvPr>
          <p:cNvSpPr txBox="1"/>
          <p:nvPr/>
        </p:nvSpPr>
        <p:spPr>
          <a:xfrm>
            <a:off x="10496595" y="2654725"/>
            <a:ext cx="1603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v-node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53063E-75E4-0802-B22E-3172B90407F2}"/>
              </a:ext>
            </a:extLst>
          </p:cNvPr>
          <p:cNvSpPr txBox="1"/>
          <p:nvPr/>
        </p:nvSpPr>
        <p:spPr>
          <a:xfrm>
            <a:off x="7700531" y="4596272"/>
            <a:ext cx="2285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fd3 = duplicated fd2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D3DF8F0-E4B7-1FCC-3EA0-033314C613B6}"/>
              </a:ext>
            </a:extLst>
          </p:cNvPr>
          <p:cNvCxnSpPr>
            <a:cxnSpLocks/>
          </p:cNvCxnSpPr>
          <p:nvPr/>
        </p:nvCxnSpPr>
        <p:spPr>
          <a:xfrm>
            <a:off x="9986118" y="2977890"/>
            <a:ext cx="660798" cy="570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C99FA6B-66F5-598C-EC9B-B0CABB77F910}"/>
              </a:ext>
            </a:extLst>
          </p:cNvPr>
          <p:cNvCxnSpPr>
            <a:cxnSpLocks/>
          </p:cNvCxnSpPr>
          <p:nvPr/>
        </p:nvCxnSpPr>
        <p:spPr>
          <a:xfrm flipV="1">
            <a:off x="10119361" y="3591436"/>
            <a:ext cx="527555" cy="7527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2694568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D1377-0811-49FA-4C37-16D49D62E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>
            <a:extLst>
              <a:ext uri="{FF2B5EF4-FFF2-40B4-BE49-F238E27FC236}">
                <a16:creationId xmlns:a16="http://schemas.microsoft.com/office/drawing/2014/main" id="{67BFDDDC-3BE1-BDDA-FD5A-172F289FD4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2908" y="457200"/>
            <a:ext cx="8277893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Warm-Up: I/O and Redirection Example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AB90EEA-1B1F-EEDF-AB6A-3DED8B2B3845}"/>
              </a:ext>
            </a:extLst>
          </p:cNvPr>
          <p:cNvGrpSpPr/>
          <p:nvPr/>
        </p:nvGrpSpPr>
        <p:grpSpPr>
          <a:xfrm>
            <a:off x="461245" y="1289541"/>
            <a:ext cx="6984354" cy="5084844"/>
            <a:chOff x="688656" y="1240315"/>
            <a:chExt cx="6984354" cy="508484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220E9D60-BE52-1084-B5C8-497F0E55A308}"/>
                </a:ext>
              </a:extLst>
            </p:cNvPr>
            <p:cNvGrpSpPr/>
            <p:nvPr/>
          </p:nvGrpSpPr>
          <p:grpSpPr>
            <a:xfrm>
              <a:off x="786851" y="1553513"/>
              <a:ext cx="6886159" cy="4771646"/>
              <a:chOff x="770574" y="4161173"/>
              <a:chExt cx="7649090" cy="477164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43A1C45-7B30-33EF-4588-B4F04AC7A9CC}"/>
                  </a:ext>
                </a:extLst>
              </p:cNvPr>
              <p:cNvSpPr txBox="1"/>
              <p:nvPr/>
            </p:nvSpPr>
            <p:spPr>
              <a:xfrm>
                <a:off x="770574" y="4162282"/>
                <a:ext cx="454482" cy="47705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9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19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0FA8966-3F21-9149-5C86-0AF2898E79CD}"/>
                  </a:ext>
                </a:extLst>
              </p:cNvPr>
              <p:cNvSpPr txBox="1"/>
              <p:nvPr/>
            </p:nvSpPr>
            <p:spPr>
              <a:xfrm>
                <a:off x="1225056" y="4161173"/>
                <a:ext cx="7194608" cy="477053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#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include</a:t>
                </a:r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 err="1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csapp.h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endParaRPr lang="en-US" sz="1600" dirty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main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argc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[]) {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fd1, fd2, fd3;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c1, c2, c3;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[1]; </a:t>
                </a:r>
              </a:p>
              <a:p>
                <a:pPr eaLnBrk="0" hangingPunct="0"/>
                <a:endParaRPr lang="en-US" sz="1600" b="0" i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fd1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fd2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fd3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dup2(fd2, fd3); </a:t>
                </a:r>
              </a:p>
              <a:p>
                <a:pPr eaLnBrk="0" hangingPunct="0"/>
                <a:r>
                  <a:rPr lang="en-US" sz="1600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1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&amp;c1, 1);</a:t>
                </a:r>
                <a:r>
                  <a:rPr lang="en-US" sz="1600" b="0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read(fd2,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read(fd3, &amp;c3, 1); </a:t>
                </a:r>
              </a:p>
              <a:p>
                <a:pPr eaLnBrk="0" hangingPunct="0"/>
                <a:endParaRPr lang="en-US" sz="1600" dirty="0">
                  <a:solidFill>
                    <a:schemeClr val="bg1">
                      <a:lumMod val="8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 err="1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("c1 = %c, c2 = %c, c3 = %c\n", c1, c2, c3);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return 0;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  <a:endParaRPr lang="fi-FI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7C2274D-7894-9114-5F8A-C4829DC122BE}"/>
                </a:ext>
              </a:extLst>
            </p:cNvPr>
            <p:cNvSpPr txBox="1"/>
            <p:nvPr/>
          </p:nvSpPr>
          <p:spPr>
            <a:xfrm>
              <a:off x="688656" y="124031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ffiles1.c</a:t>
              </a:r>
            </a:p>
          </p:txBody>
        </p:sp>
      </p:grp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5F4A80C-1442-9414-CAEA-08A895ACE342}"/>
              </a:ext>
            </a:extLst>
          </p:cNvPr>
          <p:cNvGraphicFramePr>
            <a:graphicFrameLocks noGrp="1"/>
          </p:cNvGraphicFramePr>
          <p:nvPr/>
        </p:nvGraphicFramePr>
        <p:xfrm>
          <a:off x="7800434" y="2031875"/>
          <a:ext cx="78476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726">
                  <a:extLst>
                    <a:ext uri="{9D8B030D-6E8A-4147-A177-3AD203B41FA5}">
                      <a16:colId xmlns:a16="http://schemas.microsoft.com/office/drawing/2014/main" val="759203340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5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30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1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1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8171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816716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C471187-95AC-55A8-7D74-8D8BDDA4E9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0281045"/>
              </p:ext>
            </p:extLst>
          </p:nvPr>
        </p:nvGraphicFramePr>
        <p:xfrm>
          <a:off x="9175241" y="2007360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file pos =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2F00C81E-E9D9-58D9-91D3-F9761C71C530}"/>
              </a:ext>
            </a:extLst>
          </p:cNvPr>
          <p:cNvSpPr txBox="1"/>
          <p:nvPr/>
        </p:nvSpPr>
        <p:spPr>
          <a:xfrm>
            <a:off x="7531807" y="1304929"/>
            <a:ext cx="102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Process</a:t>
            </a:r>
            <a:br>
              <a:rPr lang="en-US" dirty="0"/>
            </a:br>
            <a:r>
              <a:rPr lang="en-US" dirty="0"/>
              <a:t>FD table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255D92-0E06-ADF0-B364-A90A7A3B6F23}"/>
              </a:ext>
            </a:extLst>
          </p:cNvPr>
          <p:cNvSpPr txBox="1"/>
          <p:nvPr/>
        </p:nvSpPr>
        <p:spPr>
          <a:xfrm>
            <a:off x="8768067" y="1294655"/>
            <a:ext cx="1994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Open file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1A39884-0499-FE7F-55F3-FEBCE8AE6437}"/>
              </a:ext>
            </a:extLst>
          </p:cNvPr>
          <p:cNvCxnSpPr>
            <a:cxnSpLocks/>
          </p:cNvCxnSpPr>
          <p:nvPr/>
        </p:nvCxnSpPr>
        <p:spPr>
          <a:xfrm flipV="1">
            <a:off x="8382000" y="2220773"/>
            <a:ext cx="793241" cy="1181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96B63FF-555B-A213-9168-D5EB79279CF2}"/>
              </a:ext>
            </a:extLst>
          </p:cNvPr>
          <p:cNvCxnSpPr>
            <a:cxnSpLocks/>
          </p:cNvCxnSpPr>
          <p:nvPr/>
        </p:nvCxnSpPr>
        <p:spPr>
          <a:xfrm flipV="1">
            <a:off x="8382000" y="3575200"/>
            <a:ext cx="793241" cy="1543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AFCCE3F-837D-AD68-2544-4A96287DBC44}"/>
              </a:ext>
            </a:extLst>
          </p:cNvPr>
          <p:cNvCxnSpPr>
            <a:cxnSpLocks/>
          </p:cNvCxnSpPr>
          <p:nvPr/>
        </p:nvCxnSpPr>
        <p:spPr>
          <a:xfrm flipV="1">
            <a:off x="8382000" y="3591436"/>
            <a:ext cx="828041" cy="4581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C79F545B-7B5D-6F1C-E68D-5CBC0E0217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6830229"/>
              </p:ext>
            </p:extLst>
          </p:nvPr>
        </p:nvGraphicFramePr>
        <p:xfrm>
          <a:off x="9175241" y="3402538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pos =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D8B60C57-75E5-7089-775C-33B3B6F4D488}"/>
              </a:ext>
            </a:extLst>
          </p:cNvPr>
          <p:cNvGraphicFramePr>
            <a:graphicFrameLocks noGrp="1"/>
          </p:cNvGraphicFramePr>
          <p:nvPr/>
        </p:nvGraphicFramePr>
        <p:xfrm>
          <a:off x="10646916" y="3405673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access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49F87CDC-D36A-72FF-24EA-812EB80C22D8}"/>
              </a:ext>
            </a:extLst>
          </p:cNvPr>
          <p:cNvSpPr txBox="1"/>
          <p:nvPr/>
        </p:nvSpPr>
        <p:spPr>
          <a:xfrm>
            <a:off x="10496595" y="2654725"/>
            <a:ext cx="1603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v-node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74ACBA-0E9A-F2C1-5CBD-ED9621B951E1}"/>
              </a:ext>
            </a:extLst>
          </p:cNvPr>
          <p:cNvSpPr txBox="1"/>
          <p:nvPr/>
        </p:nvSpPr>
        <p:spPr>
          <a:xfrm>
            <a:off x="9582895" y="4628168"/>
            <a:ext cx="2360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read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5B78DC7-1423-C934-A524-F6D9B3D79E50}"/>
              </a:ext>
            </a:extLst>
          </p:cNvPr>
          <p:cNvGrpSpPr/>
          <p:nvPr/>
        </p:nvGrpSpPr>
        <p:grpSpPr>
          <a:xfrm>
            <a:off x="7726018" y="4772056"/>
            <a:ext cx="1652649" cy="677108"/>
            <a:chOff x="813349" y="1214405"/>
            <a:chExt cx="1652649" cy="67710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1A01441-0DBF-22E3-25D3-14D166656448}"/>
                </a:ext>
              </a:extLst>
            </p:cNvPr>
            <p:cNvSpPr txBox="1"/>
            <p:nvPr/>
          </p:nvSpPr>
          <p:spPr>
            <a:xfrm>
              <a:off x="813349" y="1552959"/>
              <a:ext cx="1652649" cy="33855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lIns="182880" rIns="182880" rtlCol="0">
              <a:spAutoFit/>
            </a:bodyPr>
            <a:lstStyle/>
            <a:p>
              <a:pPr eaLnBrk="0" hangingPunct="0"/>
              <a:r>
                <a:rPr lang="en-US" sz="1600" b="1" i="0" dirty="0" err="1">
                  <a:solidFill>
                    <a:schemeClr val="tx2">
                      <a:lumMod val="75000"/>
                      <a:lumOff val="25000"/>
                    </a:schemeClr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r>
                <a:rPr lang="en-US" sz="1600" b="0" i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bcde</a:t>
              </a:r>
              <a:endPara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FCD07E2-5960-99BA-D4A0-14F2FF1F81BD}"/>
                </a:ext>
              </a:extLst>
            </p:cNvPr>
            <p:cNvSpPr txBox="1"/>
            <p:nvPr/>
          </p:nvSpPr>
          <p:spPr>
            <a:xfrm>
              <a:off x="813349" y="121440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 err="1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abcde.txt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693F5C6-2D1F-37EA-B7D8-A06C57C1F494}"/>
              </a:ext>
            </a:extLst>
          </p:cNvPr>
          <p:cNvSpPr txBox="1"/>
          <p:nvPr/>
        </p:nvSpPr>
        <p:spPr>
          <a:xfrm>
            <a:off x="7777782" y="5648427"/>
            <a:ext cx="2285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c1 = ‘a’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4A3BB41-5C17-F99E-EF97-3A5B2DD3B8BF}"/>
              </a:ext>
            </a:extLst>
          </p:cNvPr>
          <p:cNvCxnSpPr>
            <a:cxnSpLocks/>
          </p:cNvCxnSpPr>
          <p:nvPr/>
        </p:nvCxnSpPr>
        <p:spPr>
          <a:xfrm>
            <a:off x="9986118" y="2977890"/>
            <a:ext cx="660798" cy="570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F4AE290-BF5E-84A1-F5DA-07F64E5AEB29}"/>
              </a:ext>
            </a:extLst>
          </p:cNvPr>
          <p:cNvCxnSpPr>
            <a:cxnSpLocks/>
          </p:cNvCxnSpPr>
          <p:nvPr/>
        </p:nvCxnSpPr>
        <p:spPr>
          <a:xfrm flipV="1">
            <a:off x="10119361" y="3591436"/>
            <a:ext cx="527555" cy="7527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1006739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12C40-8CBC-008E-9FF5-08B43E051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>
            <a:extLst>
              <a:ext uri="{FF2B5EF4-FFF2-40B4-BE49-F238E27FC236}">
                <a16:creationId xmlns:a16="http://schemas.microsoft.com/office/drawing/2014/main" id="{9EA76A65-1067-F28C-321C-AE2E3CFBA5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2908" y="457200"/>
            <a:ext cx="8277893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Warm-Up: I/O and Redirection Example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64405EB-FAEA-30AB-12BC-35F178350452}"/>
              </a:ext>
            </a:extLst>
          </p:cNvPr>
          <p:cNvGrpSpPr/>
          <p:nvPr/>
        </p:nvGrpSpPr>
        <p:grpSpPr>
          <a:xfrm>
            <a:off x="461245" y="1289541"/>
            <a:ext cx="6984354" cy="5084844"/>
            <a:chOff x="688656" y="1240315"/>
            <a:chExt cx="6984354" cy="508484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BB6E6B7-1385-2ABB-8C72-799EBF709162}"/>
                </a:ext>
              </a:extLst>
            </p:cNvPr>
            <p:cNvGrpSpPr/>
            <p:nvPr/>
          </p:nvGrpSpPr>
          <p:grpSpPr>
            <a:xfrm>
              <a:off x="786851" y="1553513"/>
              <a:ext cx="6886159" cy="4771646"/>
              <a:chOff x="770574" y="4161173"/>
              <a:chExt cx="7649090" cy="477164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64F2564-60FB-0F1C-ED25-1B647215B41A}"/>
                  </a:ext>
                </a:extLst>
              </p:cNvPr>
              <p:cNvSpPr txBox="1"/>
              <p:nvPr/>
            </p:nvSpPr>
            <p:spPr>
              <a:xfrm>
                <a:off x="770574" y="4162282"/>
                <a:ext cx="454482" cy="47705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9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19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1133E5-E0AC-009B-FE93-93E98B1CE5E0}"/>
                  </a:ext>
                </a:extLst>
              </p:cNvPr>
              <p:cNvSpPr txBox="1"/>
              <p:nvPr/>
            </p:nvSpPr>
            <p:spPr>
              <a:xfrm>
                <a:off x="1225056" y="4161173"/>
                <a:ext cx="7194608" cy="477053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#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include</a:t>
                </a:r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 err="1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csapp.h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endParaRPr lang="en-US" sz="1600" dirty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main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argc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[]) {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fd1, fd2, fd3;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c1, c2, c3;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[1]; </a:t>
                </a:r>
              </a:p>
              <a:p>
                <a:pPr eaLnBrk="0" hangingPunct="0"/>
                <a:endParaRPr lang="en-US" sz="1600" b="0" i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fd1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fd2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fd3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dup2(fd2, fd3); </a:t>
                </a:r>
              </a:p>
              <a:p>
                <a:pPr eaLnBrk="0" hangingPunct="0"/>
                <a:r>
                  <a:rPr lang="en-US" sz="1600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1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&amp;c1, 1);</a:t>
                </a:r>
                <a:r>
                  <a:rPr lang="en-US" sz="1600" b="0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read(fd2,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read(fd3, &amp;c3, 1); </a:t>
                </a:r>
              </a:p>
              <a:p>
                <a:pPr eaLnBrk="0" hangingPunct="0"/>
                <a:endParaRPr lang="en-US" sz="1600" dirty="0">
                  <a:solidFill>
                    <a:schemeClr val="bg1">
                      <a:lumMod val="8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 err="1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("c1 = %c, c2 = %c, c3 = %c\n", c1, c2, c3);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return 0;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  <a:endParaRPr lang="fi-FI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E0E23C5-2415-F759-6070-F207A2A4C5C9}"/>
                </a:ext>
              </a:extLst>
            </p:cNvPr>
            <p:cNvSpPr txBox="1"/>
            <p:nvPr/>
          </p:nvSpPr>
          <p:spPr>
            <a:xfrm>
              <a:off x="688656" y="124031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ffiles1.c</a:t>
              </a:r>
            </a:p>
          </p:txBody>
        </p:sp>
      </p:grp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0566A79-7B40-CC47-ACBC-D3B2702ADC7A}"/>
              </a:ext>
            </a:extLst>
          </p:cNvPr>
          <p:cNvGraphicFramePr>
            <a:graphicFrameLocks noGrp="1"/>
          </p:cNvGraphicFramePr>
          <p:nvPr/>
        </p:nvGraphicFramePr>
        <p:xfrm>
          <a:off x="7800434" y="2031875"/>
          <a:ext cx="78476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726">
                  <a:extLst>
                    <a:ext uri="{9D8B030D-6E8A-4147-A177-3AD203B41FA5}">
                      <a16:colId xmlns:a16="http://schemas.microsoft.com/office/drawing/2014/main" val="759203340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5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30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1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1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8171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816716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85648CE-FB6F-4B6C-20C3-E9113583A3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337476"/>
              </p:ext>
            </p:extLst>
          </p:nvPr>
        </p:nvGraphicFramePr>
        <p:xfrm>
          <a:off x="9175241" y="2007360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file pos =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D3808293-5885-6AAE-0F5B-A3CD955E7DC5}"/>
              </a:ext>
            </a:extLst>
          </p:cNvPr>
          <p:cNvSpPr txBox="1"/>
          <p:nvPr/>
        </p:nvSpPr>
        <p:spPr>
          <a:xfrm>
            <a:off x="7531807" y="1304929"/>
            <a:ext cx="102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Process</a:t>
            </a:r>
            <a:br>
              <a:rPr lang="en-US" dirty="0"/>
            </a:br>
            <a:r>
              <a:rPr lang="en-US" dirty="0"/>
              <a:t>FD table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60C42D-60AF-B00D-C465-C779266E3B44}"/>
              </a:ext>
            </a:extLst>
          </p:cNvPr>
          <p:cNvSpPr txBox="1"/>
          <p:nvPr/>
        </p:nvSpPr>
        <p:spPr>
          <a:xfrm>
            <a:off x="8768067" y="1294655"/>
            <a:ext cx="1994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Open file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F69E087-1D88-C379-2232-304A4434A71B}"/>
              </a:ext>
            </a:extLst>
          </p:cNvPr>
          <p:cNvCxnSpPr>
            <a:cxnSpLocks/>
          </p:cNvCxnSpPr>
          <p:nvPr/>
        </p:nvCxnSpPr>
        <p:spPr>
          <a:xfrm flipV="1">
            <a:off x="8382000" y="2220773"/>
            <a:ext cx="793241" cy="1181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AD6C074-D398-3902-2A6F-F98F9DCBCB0B}"/>
              </a:ext>
            </a:extLst>
          </p:cNvPr>
          <p:cNvCxnSpPr>
            <a:cxnSpLocks/>
          </p:cNvCxnSpPr>
          <p:nvPr/>
        </p:nvCxnSpPr>
        <p:spPr>
          <a:xfrm flipV="1">
            <a:off x="8382000" y="3575200"/>
            <a:ext cx="793241" cy="1543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960EC40-8E62-2F78-FC2C-EE065E540833}"/>
              </a:ext>
            </a:extLst>
          </p:cNvPr>
          <p:cNvCxnSpPr>
            <a:cxnSpLocks/>
          </p:cNvCxnSpPr>
          <p:nvPr/>
        </p:nvCxnSpPr>
        <p:spPr>
          <a:xfrm flipV="1">
            <a:off x="8382000" y="3591436"/>
            <a:ext cx="828041" cy="4581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275D5D50-D309-6BF3-C1C4-C514DB10AF1F}"/>
              </a:ext>
            </a:extLst>
          </p:cNvPr>
          <p:cNvGraphicFramePr>
            <a:graphicFrameLocks noGrp="1"/>
          </p:cNvGraphicFramePr>
          <p:nvPr/>
        </p:nvGraphicFramePr>
        <p:xfrm>
          <a:off x="9175241" y="3402538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pos =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8D5DC4A1-FE56-CB07-F0F3-B962D7525B5A}"/>
              </a:ext>
            </a:extLst>
          </p:cNvPr>
          <p:cNvGraphicFramePr>
            <a:graphicFrameLocks noGrp="1"/>
          </p:cNvGraphicFramePr>
          <p:nvPr/>
        </p:nvGraphicFramePr>
        <p:xfrm>
          <a:off x="10646916" y="3405673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access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FEC5CEAB-56C7-5CA8-FACA-5151E6398012}"/>
              </a:ext>
            </a:extLst>
          </p:cNvPr>
          <p:cNvSpPr txBox="1"/>
          <p:nvPr/>
        </p:nvSpPr>
        <p:spPr>
          <a:xfrm>
            <a:off x="10496595" y="2654725"/>
            <a:ext cx="1603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v-node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A5E67D-439D-0535-0E2F-D0A1DA9F7924}"/>
              </a:ext>
            </a:extLst>
          </p:cNvPr>
          <p:cNvSpPr txBox="1"/>
          <p:nvPr/>
        </p:nvSpPr>
        <p:spPr>
          <a:xfrm>
            <a:off x="9582895" y="4628168"/>
            <a:ext cx="2360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read and increment file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1BFDE96-B246-284D-9821-0B9DAD4AC505}"/>
              </a:ext>
            </a:extLst>
          </p:cNvPr>
          <p:cNvGrpSpPr/>
          <p:nvPr/>
        </p:nvGrpSpPr>
        <p:grpSpPr>
          <a:xfrm>
            <a:off x="7726018" y="4772056"/>
            <a:ext cx="1652649" cy="677108"/>
            <a:chOff x="813349" y="1214405"/>
            <a:chExt cx="1652649" cy="67710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0B80C87-9E1A-281D-B4C4-4681FE9930F5}"/>
                </a:ext>
              </a:extLst>
            </p:cNvPr>
            <p:cNvSpPr txBox="1"/>
            <p:nvPr/>
          </p:nvSpPr>
          <p:spPr>
            <a:xfrm>
              <a:off x="813349" y="1552959"/>
              <a:ext cx="1652649" cy="33855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lIns="182880" rIns="182880" rtlCol="0">
              <a:spAutoFit/>
            </a:bodyPr>
            <a:lstStyle/>
            <a:p>
              <a:pPr eaLnBrk="0" hangingPunct="0"/>
              <a:r>
                <a:rPr lang="en-US" sz="1600" b="1" i="0" dirty="0" err="1">
                  <a:solidFill>
                    <a:schemeClr val="tx2">
                      <a:lumMod val="75000"/>
                      <a:lumOff val="25000"/>
                    </a:schemeClr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r>
                <a:rPr lang="en-US" sz="1600" b="0" i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bcde</a:t>
              </a:r>
              <a:endPara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0CAAF26-5764-EA30-D096-4FD5BCACA40F}"/>
                </a:ext>
              </a:extLst>
            </p:cNvPr>
            <p:cNvSpPr txBox="1"/>
            <p:nvPr/>
          </p:nvSpPr>
          <p:spPr>
            <a:xfrm>
              <a:off x="813349" y="121440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 err="1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abcde.txt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9ACFD40-E703-4565-5E8C-48E151E6A3E7}"/>
              </a:ext>
            </a:extLst>
          </p:cNvPr>
          <p:cNvSpPr txBox="1"/>
          <p:nvPr/>
        </p:nvSpPr>
        <p:spPr>
          <a:xfrm>
            <a:off x="7777782" y="5648427"/>
            <a:ext cx="2285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c1 = ‘a’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29E80C9-2577-F2C5-0A47-9936EA5E287C}"/>
              </a:ext>
            </a:extLst>
          </p:cNvPr>
          <p:cNvCxnSpPr>
            <a:cxnSpLocks/>
          </p:cNvCxnSpPr>
          <p:nvPr/>
        </p:nvCxnSpPr>
        <p:spPr>
          <a:xfrm>
            <a:off x="9986118" y="2977890"/>
            <a:ext cx="660798" cy="570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B749021-8449-96D3-58AA-BA7F6206325A}"/>
              </a:ext>
            </a:extLst>
          </p:cNvPr>
          <p:cNvCxnSpPr>
            <a:cxnSpLocks/>
          </p:cNvCxnSpPr>
          <p:nvPr/>
        </p:nvCxnSpPr>
        <p:spPr>
          <a:xfrm flipV="1">
            <a:off x="10119361" y="3591436"/>
            <a:ext cx="527555" cy="7527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6528341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F382B-1573-26A8-0287-A6D56C02A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>
            <a:extLst>
              <a:ext uri="{FF2B5EF4-FFF2-40B4-BE49-F238E27FC236}">
                <a16:creationId xmlns:a16="http://schemas.microsoft.com/office/drawing/2014/main" id="{90F0E413-2580-1A25-66CE-F54FFC973B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2908" y="457200"/>
            <a:ext cx="8277893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Warm-Up: I/O and Redirection Example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F599720-C541-ABFA-156D-37468C0361BC}"/>
              </a:ext>
            </a:extLst>
          </p:cNvPr>
          <p:cNvGrpSpPr/>
          <p:nvPr/>
        </p:nvGrpSpPr>
        <p:grpSpPr>
          <a:xfrm>
            <a:off x="461245" y="1289541"/>
            <a:ext cx="6984354" cy="5084844"/>
            <a:chOff x="688656" y="1240315"/>
            <a:chExt cx="6984354" cy="508484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9CADA73C-4568-D155-3E14-F96F66736751}"/>
                </a:ext>
              </a:extLst>
            </p:cNvPr>
            <p:cNvGrpSpPr/>
            <p:nvPr/>
          </p:nvGrpSpPr>
          <p:grpSpPr>
            <a:xfrm>
              <a:off x="786851" y="1553513"/>
              <a:ext cx="6886159" cy="4771646"/>
              <a:chOff x="770574" y="4161173"/>
              <a:chExt cx="7649090" cy="477164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E916365-FD20-35A6-17EA-D85DE15BC139}"/>
                  </a:ext>
                </a:extLst>
              </p:cNvPr>
              <p:cNvSpPr txBox="1"/>
              <p:nvPr/>
            </p:nvSpPr>
            <p:spPr>
              <a:xfrm>
                <a:off x="770574" y="4162282"/>
                <a:ext cx="454482" cy="47705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9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19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2C167CB-A361-D43C-1C2F-F790DA0A136E}"/>
                  </a:ext>
                </a:extLst>
              </p:cNvPr>
              <p:cNvSpPr txBox="1"/>
              <p:nvPr/>
            </p:nvSpPr>
            <p:spPr>
              <a:xfrm>
                <a:off x="1225056" y="4161173"/>
                <a:ext cx="7194608" cy="477053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#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include</a:t>
                </a:r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 err="1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csapp.h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endParaRPr lang="en-US" sz="1600" dirty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main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argc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[]) {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fd1, fd2, fd3;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c1, c2, c3;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[1]; </a:t>
                </a:r>
              </a:p>
              <a:p>
                <a:pPr eaLnBrk="0" hangingPunct="0"/>
                <a:endParaRPr lang="en-US" sz="1600" b="0" i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fd1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fd2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fd3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dup2(fd2, fd3); </a:t>
                </a:r>
              </a:p>
              <a:p>
                <a:pPr eaLnBrk="0" hangingPunct="0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&amp;c1, 1); </a:t>
                </a:r>
              </a:p>
              <a:p>
                <a:pPr eaLnBrk="0" hangingPunct="0"/>
                <a:r>
                  <a:rPr lang="en-US" sz="1600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1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read(fd2,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read(fd3, &amp;c3, 1); </a:t>
                </a:r>
              </a:p>
              <a:p>
                <a:pPr eaLnBrk="0" hangingPunct="0"/>
                <a:endParaRPr lang="en-US" sz="1600" dirty="0">
                  <a:solidFill>
                    <a:schemeClr val="bg1">
                      <a:lumMod val="8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 err="1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("c1 = %c, c2 = %c, c3 = %c\n", c1, c2, c3);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return 0;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  <a:endParaRPr lang="fi-FI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5496151-0DA2-F5B1-9FD1-DA4791094699}"/>
                </a:ext>
              </a:extLst>
            </p:cNvPr>
            <p:cNvSpPr txBox="1"/>
            <p:nvPr/>
          </p:nvSpPr>
          <p:spPr>
            <a:xfrm>
              <a:off x="688656" y="124031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ffiles1.c</a:t>
              </a:r>
            </a:p>
          </p:txBody>
        </p:sp>
      </p:grp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EED7FFF-F013-CA01-4BAB-90773F207CAF}"/>
              </a:ext>
            </a:extLst>
          </p:cNvPr>
          <p:cNvGraphicFramePr>
            <a:graphicFrameLocks noGrp="1"/>
          </p:cNvGraphicFramePr>
          <p:nvPr/>
        </p:nvGraphicFramePr>
        <p:xfrm>
          <a:off x="7800434" y="2031875"/>
          <a:ext cx="78476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726">
                  <a:extLst>
                    <a:ext uri="{9D8B030D-6E8A-4147-A177-3AD203B41FA5}">
                      <a16:colId xmlns:a16="http://schemas.microsoft.com/office/drawing/2014/main" val="759203340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5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30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1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1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8171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816716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2E4A122-CC79-1D02-F00C-D3BADC34EFEA}"/>
              </a:ext>
            </a:extLst>
          </p:cNvPr>
          <p:cNvGraphicFramePr>
            <a:graphicFrameLocks noGrp="1"/>
          </p:cNvGraphicFramePr>
          <p:nvPr/>
        </p:nvGraphicFramePr>
        <p:xfrm>
          <a:off x="9175241" y="2007360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pos =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44C52EB7-1917-EA29-07FB-BCA4CFCCB933}"/>
              </a:ext>
            </a:extLst>
          </p:cNvPr>
          <p:cNvSpPr txBox="1"/>
          <p:nvPr/>
        </p:nvSpPr>
        <p:spPr>
          <a:xfrm>
            <a:off x="7531807" y="1304929"/>
            <a:ext cx="102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Process</a:t>
            </a:r>
            <a:br>
              <a:rPr lang="en-US" dirty="0"/>
            </a:br>
            <a:r>
              <a:rPr lang="en-US" dirty="0"/>
              <a:t>FD table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C1DD90-0376-0241-A403-54B964025A81}"/>
              </a:ext>
            </a:extLst>
          </p:cNvPr>
          <p:cNvSpPr txBox="1"/>
          <p:nvPr/>
        </p:nvSpPr>
        <p:spPr>
          <a:xfrm>
            <a:off x="8768067" y="1294655"/>
            <a:ext cx="1994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Open file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F877CD6-0EE3-C81B-6BB0-E694BFE76A9E}"/>
              </a:ext>
            </a:extLst>
          </p:cNvPr>
          <p:cNvCxnSpPr>
            <a:cxnSpLocks/>
          </p:cNvCxnSpPr>
          <p:nvPr/>
        </p:nvCxnSpPr>
        <p:spPr>
          <a:xfrm flipV="1">
            <a:off x="8382000" y="2220773"/>
            <a:ext cx="793241" cy="1181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C0ABC86-19AC-F16A-47E4-5FB7CE680AAF}"/>
              </a:ext>
            </a:extLst>
          </p:cNvPr>
          <p:cNvCxnSpPr>
            <a:cxnSpLocks/>
          </p:cNvCxnSpPr>
          <p:nvPr/>
        </p:nvCxnSpPr>
        <p:spPr>
          <a:xfrm flipV="1">
            <a:off x="8382000" y="3575200"/>
            <a:ext cx="793241" cy="1543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ED7BC18-99BC-E874-59D4-40FCE43D8418}"/>
              </a:ext>
            </a:extLst>
          </p:cNvPr>
          <p:cNvCxnSpPr>
            <a:cxnSpLocks/>
          </p:cNvCxnSpPr>
          <p:nvPr/>
        </p:nvCxnSpPr>
        <p:spPr>
          <a:xfrm flipV="1">
            <a:off x="8382000" y="3591436"/>
            <a:ext cx="828041" cy="4581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204D4A47-640A-C6C1-A4A9-0F4A99E166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1599704"/>
              </p:ext>
            </p:extLst>
          </p:nvPr>
        </p:nvGraphicFramePr>
        <p:xfrm>
          <a:off x="9175241" y="3402538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file pos =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8B30C06A-AF13-86E7-0913-977B98F02EB2}"/>
              </a:ext>
            </a:extLst>
          </p:cNvPr>
          <p:cNvGraphicFramePr>
            <a:graphicFrameLocks noGrp="1"/>
          </p:cNvGraphicFramePr>
          <p:nvPr/>
        </p:nvGraphicFramePr>
        <p:xfrm>
          <a:off x="10646916" y="3405673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access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3BC39A9F-3336-B722-6DCA-5348070E0658}"/>
              </a:ext>
            </a:extLst>
          </p:cNvPr>
          <p:cNvSpPr txBox="1"/>
          <p:nvPr/>
        </p:nvSpPr>
        <p:spPr>
          <a:xfrm>
            <a:off x="10496595" y="2654725"/>
            <a:ext cx="1603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v-node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908A3A4-79C4-EC21-54F7-1C715C41DA81}"/>
              </a:ext>
            </a:extLst>
          </p:cNvPr>
          <p:cNvGrpSpPr/>
          <p:nvPr/>
        </p:nvGrpSpPr>
        <p:grpSpPr>
          <a:xfrm>
            <a:off x="7726018" y="4772056"/>
            <a:ext cx="1652649" cy="677108"/>
            <a:chOff x="813349" y="1214405"/>
            <a:chExt cx="1652649" cy="67710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E1E64E9-2C07-AF83-381E-3C85E91F7F0F}"/>
                </a:ext>
              </a:extLst>
            </p:cNvPr>
            <p:cNvSpPr txBox="1"/>
            <p:nvPr/>
          </p:nvSpPr>
          <p:spPr>
            <a:xfrm>
              <a:off x="813349" y="1552959"/>
              <a:ext cx="1652649" cy="33855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lIns="182880" rIns="182880" rtlCol="0">
              <a:spAutoFit/>
            </a:bodyPr>
            <a:lstStyle/>
            <a:p>
              <a:pPr eaLnBrk="0" hangingPunct="0"/>
              <a:r>
                <a:rPr lang="en-US" sz="1600" b="1" i="0" dirty="0" err="1">
                  <a:solidFill>
                    <a:schemeClr val="tx2">
                      <a:lumMod val="75000"/>
                      <a:lumOff val="25000"/>
                    </a:schemeClr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r>
                <a:rPr lang="en-US" sz="1600" b="0" i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bcde</a:t>
              </a:r>
              <a:endPara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3EA1B2E-DE47-B04D-9204-E94B25285ACA}"/>
                </a:ext>
              </a:extLst>
            </p:cNvPr>
            <p:cNvSpPr txBox="1"/>
            <p:nvPr/>
          </p:nvSpPr>
          <p:spPr>
            <a:xfrm>
              <a:off x="813349" y="121440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 err="1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abcde.txt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3B6F042-4D7B-6244-EE8F-840288515316}"/>
              </a:ext>
            </a:extLst>
          </p:cNvPr>
          <p:cNvSpPr txBox="1"/>
          <p:nvPr/>
        </p:nvSpPr>
        <p:spPr>
          <a:xfrm>
            <a:off x="7777782" y="5648427"/>
            <a:ext cx="2285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c2 = ‘a’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23A53B-6FD9-08E4-652C-23CC92F8D5BC}"/>
              </a:ext>
            </a:extLst>
          </p:cNvPr>
          <p:cNvSpPr txBox="1"/>
          <p:nvPr/>
        </p:nvSpPr>
        <p:spPr>
          <a:xfrm>
            <a:off x="9582895" y="4628168"/>
            <a:ext cx="2360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6C785E8-813E-0806-81B5-6499C6B62534}"/>
              </a:ext>
            </a:extLst>
          </p:cNvPr>
          <p:cNvCxnSpPr>
            <a:cxnSpLocks/>
          </p:cNvCxnSpPr>
          <p:nvPr/>
        </p:nvCxnSpPr>
        <p:spPr>
          <a:xfrm>
            <a:off x="9986118" y="2977890"/>
            <a:ext cx="660798" cy="570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D49E9DE-D808-907C-DF2C-399B1211571D}"/>
              </a:ext>
            </a:extLst>
          </p:cNvPr>
          <p:cNvCxnSpPr>
            <a:cxnSpLocks/>
          </p:cNvCxnSpPr>
          <p:nvPr/>
        </p:nvCxnSpPr>
        <p:spPr>
          <a:xfrm flipV="1">
            <a:off x="10119361" y="3591436"/>
            <a:ext cx="527555" cy="7527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8007475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C48FC-5DCB-31F5-0A5E-B92966022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>
            <a:extLst>
              <a:ext uri="{FF2B5EF4-FFF2-40B4-BE49-F238E27FC236}">
                <a16:creationId xmlns:a16="http://schemas.microsoft.com/office/drawing/2014/main" id="{9D632119-BACC-E814-F84B-501166C979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2908" y="457200"/>
            <a:ext cx="8277893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Warm-Up: I/O and Redirection Example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8E7FE2B-0FF9-58BC-5E71-CF33AA518A67}"/>
              </a:ext>
            </a:extLst>
          </p:cNvPr>
          <p:cNvGrpSpPr/>
          <p:nvPr/>
        </p:nvGrpSpPr>
        <p:grpSpPr>
          <a:xfrm>
            <a:off x="461245" y="1289541"/>
            <a:ext cx="6984354" cy="5084844"/>
            <a:chOff x="688656" y="1240315"/>
            <a:chExt cx="6984354" cy="508484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64FE6DDB-6766-5C50-346E-6966662FF68C}"/>
                </a:ext>
              </a:extLst>
            </p:cNvPr>
            <p:cNvGrpSpPr/>
            <p:nvPr/>
          </p:nvGrpSpPr>
          <p:grpSpPr>
            <a:xfrm>
              <a:off x="786851" y="1553513"/>
              <a:ext cx="6886159" cy="4771646"/>
              <a:chOff x="770574" y="4161173"/>
              <a:chExt cx="7649090" cy="477164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DB28D2C-BA18-6121-7BD3-88E72C57989A}"/>
                  </a:ext>
                </a:extLst>
              </p:cNvPr>
              <p:cNvSpPr txBox="1"/>
              <p:nvPr/>
            </p:nvSpPr>
            <p:spPr>
              <a:xfrm>
                <a:off x="770574" y="4162282"/>
                <a:ext cx="454482" cy="47705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9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19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816B70-CFBB-3083-9361-89B5C7724B18}"/>
                  </a:ext>
                </a:extLst>
              </p:cNvPr>
              <p:cNvSpPr txBox="1"/>
              <p:nvPr/>
            </p:nvSpPr>
            <p:spPr>
              <a:xfrm>
                <a:off x="1225056" y="4161173"/>
                <a:ext cx="7194608" cy="477053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#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include</a:t>
                </a:r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 err="1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csapp.h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endParaRPr lang="en-US" sz="1600" dirty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main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argc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[]) {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fd1, fd2, fd3;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c1, c2, c3;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[1]; </a:t>
                </a:r>
              </a:p>
              <a:p>
                <a:pPr eaLnBrk="0" hangingPunct="0"/>
                <a:endParaRPr lang="en-US" sz="1600" b="0" i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fd1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fd2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fd3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dup2(fd2, fd3); </a:t>
                </a:r>
              </a:p>
              <a:p>
                <a:pPr eaLnBrk="0" hangingPunct="0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&amp;c1, 1); </a:t>
                </a:r>
              </a:p>
              <a:p>
                <a:pPr eaLnBrk="0" hangingPunct="0"/>
                <a:r>
                  <a:rPr lang="en-US" sz="1600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1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read(fd2,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read(fd3, &amp;c3, 1); </a:t>
                </a:r>
              </a:p>
              <a:p>
                <a:pPr eaLnBrk="0" hangingPunct="0"/>
                <a:endParaRPr lang="en-US" sz="1600" dirty="0">
                  <a:solidFill>
                    <a:schemeClr val="bg1">
                      <a:lumMod val="8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 err="1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("c1 = %c, c2 = %c, c3 = %c\n", c1, c2, c3);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return 0;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  <a:endParaRPr lang="fi-FI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F4C869D-5118-DA61-BC6B-1498633F80F6}"/>
                </a:ext>
              </a:extLst>
            </p:cNvPr>
            <p:cNvSpPr txBox="1"/>
            <p:nvPr/>
          </p:nvSpPr>
          <p:spPr>
            <a:xfrm>
              <a:off x="688656" y="124031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ffiles1.c</a:t>
              </a:r>
            </a:p>
          </p:txBody>
        </p:sp>
      </p:grp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ECB9785-9736-A907-1242-96866B38A692}"/>
              </a:ext>
            </a:extLst>
          </p:cNvPr>
          <p:cNvGraphicFramePr>
            <a:graphicFrameLocks noGrp="1"/>
          </p:cNvGraphicFramePr>
          <p:nvPr/>
        </p:nvGraphicFramePr>
        <p:xfrm>
          <a:off x="7800434" y="2031875"/>
          <a:ext cx="78476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726">
                  <a:extLst>
                    <a:ext uri="{9D8B030D-6E8A-4147-A177-3AD203B41FA5}">
                      <a16:colId xmlns:a16="http://schemas.microsoft.com/office/drawing/2014/main" val="759203340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5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30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1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1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8171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816716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D029192D-BECD-52B1-FFAF-5E1511F34D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1206552"/>
              </p:ext>
            </p:extLst>
          </p:nvPr>
        </p:nvGraphicFramePr>
        <p:xfrm>
          <a:off x="9175241" y="2007360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pos =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6D3B6C26-BA99-0A6C-2A48-B730B85174AC}"/>
              </a:ext>
            </a:extLst>
          </p:cNvPr>
          <p:cNvSpPr txBox="1"/>
          <p:nvPr/>
        </p:nvSpPr>
        <p:spPr>
          <a:xfrm>
            <a:off x="7531807" y="1304929"/>
            <a:ext cx="102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Process</a:t>
            </a:r>
            <a:br>
              <a:rPr lang="en-US" dirty="0"/>
            </a:br>
            <a:r>
              <a:rPr lang="en-US" dirty="0"/>
              <a:t>FD table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30074B-4983-5A4E-7A17-ED3427B4199E}"/>
              </a:ext>
            </a:extLst>
          </p:cNvPr>
          <p:cNvSpPr txBox="1"/>
          <p:nvPr/>
        </p:nvSpPr>
        <p:spPr>
          <a:xfrm>
            <a:off x="8768067" y="1294655"/>
            <a:ext cx="1994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Open file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91F31D4-9F79-55FE-6587-2EA0C979CDD7}"/>
              </a:ext>
            </a:extLst>
          </p:cNvPr>
          <p:cNvCxnSpPr>
            <a:cxnSpLocks/>
          </p:cNvCxnSpPr>
          <p:nvPr/>
        </p:nvCxnSpPr>
        <p:spPr>
          <a:xfrm flipV="1">
            <a:off x="8382000" y="2220773"/>
            <a:ext cx="793241" cy="1181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139CAAF-E780-1A12-F068-0AEAD48A6F7E}"/>
              </a:ext>
            </a:extLst>
          </p:cNvPr>
          <p:cNvCxnSpPr>
            <a:cxnSpLocks/>
          </p:cNvCxnSpPr>
          <p:nvPr/>
        </p:nvCxnSpPr>
        <p:spPr>
          <a:xfrm flipV="1">
            <a:off x="8382000" y="3575200"/>
            <a:ext cx="793241" cy="1543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4FD6B99-2085-7223-5915-7DD98ED3D737}"/>
              </a:ext>
            </a:extLst>
          </p:cNvPr>
          <p:cNvCxnSpPr>
            <a:cxnSpLocks/>
          </p:cNvCxnSpPr>
          <p:nvPr/>
        </p:nvCxnSpPr>
        <p:spPr>
          <a:xfrm flipV="1">
            <a:off x="8382000" y="3591436"/>
            <a:ext cx="828041" cy="4581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C5C1AF93-71A9-994F-EB1D-E3DC421DBA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1750459"/>
              </p:ext>
            </p:extLst>
          </p:nvPr>
        </p:nvGraphicFramePr>
        <p:xfrm>
          <a:off x="9175241" y="3402538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file pos =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8E375BAB-6132-9BFF-D358-C65A300DFE4B}"/>
              </a:ext>
            </a:extLst>
          </p:cNvPr>
          <p:cNvGraphicFramePr>
            <a:graphicFrameLocks noGrp="1"/>
          </p:cNvGraphicFramePr>
          <p:nvPr/>
        </p:nvGraphicFramePr>
        <p:xfrm>
          <a:off x="10646916" y="3405673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access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4567C482-629B-CE3F-8B6B-1104D67590D4}"/>
              </a:ext>
            </a:extLst>
          </p:cNvPr>
          <p:cNvSpPr txBox="1"/>
          <p:nvPr/>
        </p:nvSpPr>
        <p:spPr>
          <a:xfrm>
            <a:off x="10496595" y="2654725"/>
            <a:ext cx="1603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v-node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6A10E89-0DA9-5A4E-7ECB-C6AEDDD092BD}"/>
              </a:ext>
            </a:extLst>
          </p:cNvPr>
          <p:cNvGrpSpPr/>
          <p:nvPr/>
        </p:nvGrpSpPr>
        <p:grpSpPr>
          <a:xfrm>
            <a:off x="7726018" y="4772056"/>
            <a:ext cx="1652649" cy="677108"/>
            <a:chOff x="813349" y="1214405"/>
            <a:chExt cx="1652649" cy="67710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8C523A7-5523-7942-D5F7-C0F052AEDFDF}"/>
                </a:ext>
              </a:extLst>
            </p:cNvPr>
            <p:cNvSpPr txBox="1"/>
            <p:nvPr/>
          </p:nvSpPr>
          <p:spPr>
            <a:xfrm>
              <a:off x="813349" y="1552959"/>
              <a:ext cx="1652649" cy="33855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lIns="182880" rIns="182880" rtlCol="0">
              <a:spAutoFit/>
            </a:bodyPr>
            <a:lstStyle/>
            <a:p>
              <a:pPr eaLnBrk="0" hangingPunct="0"/>
              <a:r>
                <a:rPr lang="en-US" sz="1600" b="1" i="0" dirty="0" err="1">
                  <a:solidFill>
                    <a:schemeClr val="tx2">
                      <a:lumMod val="75000"/>
                      <a:lumOff val="25000"/>
                    </a:schemeClr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r>
                <a:rPr lang="en-US" sz="1600" b="0" i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bcde</a:t>
              </a:r>
              <a:endPara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CBBC95A-D41A-DCAD-BBC5-D2DDC391F07A}"/>
                </a:ext>
              </a:extLst>
            </p:cNvPr>
            <p:cNvSpPr txBox="1"/>
            <p:nvPr/>
          </p:nvSpPr>
          <p:spPr>
            <a:xfrm>
              <a:off x="813349" y="121440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 err="1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abcde.txt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4EEC099-C29C-31E4-DC44-A62653A8898B}"/>
              </a:ext>
            </a:extLst>
          </p:cNvPr>
          <p:cNvSpPr txBox="1"/>
          <p:nvPr/>
        </p:nvSpPr>
        <p:spPr>
          <a:xfrm>
            <a:off x="7777782" y="5648427"/>
            <a:ext cx="2285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c2 = ‘a’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A5F6B2-B5A3-F252-F29B-E94160058AA4}"/>
              </a:ext>
            </a:extLst>
          </p:cNvPr>
          <p:cNvSpPr txBox="1"/>
          <p:nvPr/>
        </p:nvSpPr>
        <p:spPr>
          <a:xfrm>
            <a:off x="9582895" y="4628168"/>
            <a:ext cx="2360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read and increment file position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F1697D1-5FF3-0037-754B-5D82BBCBB495}"/>
              </a:ext>
            </a:extLst>
          </p:cNvPr>
          <p:cNvCxnSpPr>
            <a:cxnSpLocks/>
          </p:cNvCxnSpPr>
          <p:nvPr/>
        </p:nvCxnSpPr>
        <p:spPr>
          <a:xfrm>
            <a:off x="9986118" y="2977890"/>
            <a:ext cx="660798" cy="570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B070AD7-199F-210E-0FBB-9D90B45E36B9}"/>
              </a:ext>
            </a:extLst>
          </p:cNvPr>
          <p:cNvCxnSpPr>
            <a:cxnSpLocks/>
          </p:cNvCxnSpPr>
          <p:nvPr/>
        </p:nvCxnSpPr>
        <p:spPr>
          <a:xfrm flipV="1">
            <a:off x="10119361" y="3591436"/>
            <a:ext cx="527555" cy="7527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7425642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9C8C7-4AF8-B0D7-0B49-ED15BD2CD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>
            <a:extLst>
              <a:ext uri="{FF2B5EF4-FFF2-40B4-BE49-F238E27FC236}">
                <a16:creationId xmlns:a16="http://schemas.microsoft.com/office/drawing/2014/main" id="{84AD033A-95D6-EB4E-E3F2-E6D459AB32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2908" y="457200"/>
            <a:ext cx="8277893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Warm-Up: I/O and Redirection Example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1CC65EE-AC89-1807-93A9-F37570BBF818}"/>
              </a:ext>
            </a:extLst>
          </p:cNvPr>
          <p:cNvGrpSpPr/>
          <p:nvPr/>
        </p:nvGrpSpPr>
        <p:grpSpPr>
          <a:xfrm>
            <a:off x="461245" y="1289541"/>
            <a:ext cx="6984354" cy="5084844"/>
            <a:chOff x="688656" y="1240315"/>
            <a:chExt cx="6984354" cy="508484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1111D030-52EF-AA07-A918-871F2FA351EA}"/>
                </a:ext>
              </a:extLst>
            </p:cNvPr>
            <p:cNvGrpSpPr/>
            <p:nvPr/>
          </p:nvGrpSpPr>
          <p:grpSpPr>
            <a:xfrm>
              <a:off x="786851" y="1553513"/>
              <a:ext cx="6886159" cy="4771646"/>
              <a:chOff x="770574" y="4161173"/>
              <a:chExt cx="7649090" cy="477164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18781AE-B4F7-BEAB-9758-8F3D4BDF48FB}"/>
                  </a:ext>
                </a:extLst>
              </p:cNvPr>
              <p:cNvSpPr txBox="1"/>
              <p:nvPr/>
            </p:nvSpPr>
            <p:spPr>
              <a:xfrm>
                <a:off x="770574" y="4162282"/>
                <a:ext cx="454482" cy="47705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9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19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842FF8A-2F74-314D-0E0A-F19FC51E2F3B}"/>
                  </a:ext>
                </a:extLst>
              </p:cNvPr>
              <p:cNvSpPr txBox="1"/>
              <p:nvPr/>
            </p:nvSpPr>
            <p:spPr>
              <a:xfrm>
                <a:off x="1225056" y="4161173"/>
                <a:ext cx="7194608" cy="477053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#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include</a:t>
                </a:r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 err="1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csapp.h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endParaRPr lang="en-US" sz="1600" dirty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main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argc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[]) {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fd1, fd2, fd3;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c1, c2, c3;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[1]; </a:t>
                </a:r>
              </a:p>
              <a:p>
                <a:pPr eaLnBrk="0" hangingPunct="0"/>
                <a:endParaRPr lang="en-US" sz="1600" b="0" i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fd1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fd2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fd3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dup2(fd2, fd3); </a:t>
                </a:r>
              </a:p>
              <a:p>
                <a:pPr eaLnBrk="0" hangingPunct="0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&amp;c1, 1); </a:t>
                </a:r>
              </a:p>
              <a:p>
                <a:pPr eaLnBrk="0" hangingPunct="0"/>
                <a:r>
                  <a:rPr lang="en-US" sz="1600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read(fd2,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1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read(fd3, &amp;c3, 1); </a:t>
                </a:r>
              </a:p>
              <a:p>
                <a:pPr eaLnBrk="0" hangingPunct="0"/>
                <a:endParaRPr lang="en-US" sz="1600" dirty="0">
                  <a:solidFill>
                    <a:schemeClr val="bg1">
                      <a:lumMod val="8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 err="1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("c1 = %c, c2 = %c, c3 = %c\n", c1, c2, c3);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return 0;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  <a:endParaRPr lang="fi-FI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6DAE434-4F70-3960-C399-75FC8C1FD4D7}"/>
                </a:ext>
              </a:extLst>
            </p:cNvPr>
            <p:cNvSpPr txBox="1"/>
            <p:nvPr/>
          </p:nvSpPr>
          <p:spPr>
            <a:xfrm>
              <a:off x="688656" y="124031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ffiles1.c</a:t>
              </a:r>
            </a:p>
          </p:txBody>
        </p:sp>
      </p:grp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BB416B8-0064-86A6-CB07-D0CF9C8D3212}"/>
              </a:ext>
            </a:extLst>
          </p:cNvPr>
          <p:cNvGraphicFramePr>
            <a:graphicFrameLocks noGrp="1"/>
          </p:cNvGraphicFramePr>
          <p:nvPr/>
        </p:nvGraphicFramePr>
        <p:xfrm>
          <a:off x="7800434" y="2031875"/>
          <a:ext cx="78476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726">
                  <a:extLst>
                    <a:ext uri="{9D8B030D-6E8A-4147-A177-3AD203B41FA5}">
                      <a16:colId xmlns:a16="http://schemas.microsoft.com/office/drawing/2014/main" val="759203340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5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30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1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1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8171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816716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FC024297-BDF9-CC89-DD7F-9AE619E2F326}"/>
              </a:ext>
            </a:extLst>
          </p:cNvPr>
          <p:cNvGraphicFramePr>
            <a:graphicFrameLocks noGrp="1"/>
          </p:cNvGraphicFramePr>
          <p:nvPr/>
        </p:nvGraphicFramePr>
        <p:xfrm>
          <a:off x="9175241" y="2007360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pos =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9842EFFC-CA65-1E28-2FA2-1808D106444C}"/>
              </a:ext>
            </a:extLst>
          </p:cNvPr>
          <p:cNvSpPr txBox="1"/>
          <p:nvPr/>
        </p:nvSpPr>
        <p:spPr>
          <a:xfrm>
            <a:off x="7531807" y="1304929"/>
            <a:ext cx="102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Process</a:t>
            </a:r>
            <a:br>
              <a:rPr lang="en-US" dirty="0"/>
            </a:br>
            <a:r>
              <a:rPr lang="en-US" dirty="0"/>
              <a:t>FD table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BB5A78-0598-AB03-A1DF-362FEEDE9DC0}"/>
              </a:ext>
            </a:extLst>
          </p:cNvPr>
          <p:cNvSpPr txBox="1"/>
          <p:nvPr/>
        </p:nvSpPr>
        <p:spPr>
          <a:xfrm>
            <a:off x="8768067" y="1294655"/>
            <a:ext cx="1994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Open file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E6C5D3D-47E5-B006-9D56-C0B444166940}"/>
              </a:ext>
            </a:extLst>
          </p:cNvPr>
          <p:cNvCxnSpPr>
            <a:cxnSpLocks/>
          </p:cNvCxnSpPr>
          <p:nvPr/>
        </p:nvCxnSpPr>
        <p:spPr>
          <a:xfrm flipV="1">
            <a:off x="8382000" y="2220773"/>
            <a:ext cx="793241" cy="1181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3986ACA-ED55-3B8E-7F7F-4C6A6B7C354F}"/>
              </a:ext>
            </a:extLst>
          </p:cNvPr>
          <p:cNvCxnSpPr>
            <a:cxnSpLocks/>
          </p:cNvCxnSpPr>
          <p:nvPr/>
        </p:nvCxnSpPr>
        <p:spPr>
          <a:xfrm flipV="1">
            <a:off x="8382000" y="3575200"/>
            <a:ext cx="793241" cy="1543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060BCF7-C60B-D0D1-5B96-887CD60CE592}"/>
              </a:ext>
            </a:extLst>
          </p:cNvPr>
          <p:cNvCxnSpPr>
            <a:cxnSpLocks/>
          </p:cNvCxnSpPr>
          <p:nvPr/>
        </p:nvCxnSpPr>
        <p:spPr>
          <a:xfrm flipV="1">
            <a:off x="8382000" y="3591436"/>
            <a:ext cx="828041" cy="4581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1004323B-5358-DAB4-6D8F-F1B7FBB67A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57629"/>
              </p:ext>
            </p:extLst>
          </p:nvPr>
        </p:nvGraphicFramePr>
        <p:xfrm>
          <a:off x="9175241" y="3402538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file pos =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FB48E6C3-42CA-2DDA-1663-11D7A0431CA0}"/>
              </a:ext>
            </a:extLst>
          </p:cNvPr>
          <p:cNvGraphicFramePr>
            <a:graphicFrameLocks noGrp="1"/>
          </p:cNvGraphicFramePr>
          <p:nvPr/>
        </p:nvGraphicFramePr>
        <p:xfrm>
          <a:off x="10646916" y="3405673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access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9E17D378-6124-64C2-93A8-42BA66E167EF}"/>
              </a:ext>
            </a:extLst>
          </p:cNvPr>
          <p:cNvSpPr txBox="1"/>
          <p:nvPr/>
        </p:nvSpPr>
        <p:spPr>
          <a:xfrm>
            <a:off x="10496595" y="2654725"/>
            <a:ext cx="1603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v-node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21C9FEA-EC1A-E009-58E6-40857537FAF6}"/>
              </a:ext>
            </a:extLst>
          </p:cNvPr>
          <p:cNvGrpSpPr/>
          <p:nvPr/>
        </p:nvGrpSpPr>
        <p:grpSpPr>
          <a:xfrm>
            <a:off x="7726018" y="4772056"/>
            <a:ext cx="1652649" cy="677108"/>
            <a:chOff x="813349" y="1214405"/>
            <a:chExt cx="1652649" cy="67710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E3F0799-34C3-9F22-18DB-CDD6CFE37817}"/>
                </a:ext>
              </a:extLst>
            </p:cNvPr>
            <p:cNvSpPr txBox="1"/>
            <p:nvPr/>
          </p:nvSpPr>
          <p:spPr>
            <a:xfrm>
              <a:off x="813349" y="1552959"/>
              <a:ext cx="1652649" cy="33855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lIns="182880" rIns="182880" rtlCol="0">
              <a:spAutoFit/>
            </a:bodyPr>
            <a:lstStyle/>
            <a:p>
              <a:pPr eaLnBrk="0" hangingPunct="0"/>
              <a:r>
                <a:rPr lang="en-US" sz="1600" b="0" i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r>
                <a:rPr lang="en-US" sz="1600" b="1" i="0" dirty="0" err="1">
                  <a:solidFill>
                    <a:schemeClr val="tx2">
                      <a:lumMod val="75000"/>
                      <a:lumOff val="25000"/>
                    </a:schemeClr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lang="en-US" sz="1600" b="0" i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cde</a:t>
              </a:r>
              <a:endPara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88CEF3E-69F9-CC9A-33F3-C81899534383}"/>
                </a:ext>
              </a:extLst>
            </p:cNvPr>
            <p:cNvSpPr txBox="1"/>
            <p:nvPr/>
          </p:nvSpPr>
          <p:spPr>
            <a:xfrm>
              <a:off x="813349" y="121440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 err="1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abcde.txt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A28B179-BECE-0860-1F2D-B472C3969BD0}"/>
              </a:ext>
            </a:extLst>
          </p:cNvPr>
          <p:cNvSpPr txBox="1"/>
          <p:nvPr/>
        </p:nvSpPr>
        <p:spPr>
          <a:xfrm>
            <a:off x="7777782" y="5648427"/>
            <a:ext cx="2285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c3 = ‘b’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0945B8-8CC2-AD45-E383-038451C16DC5}"/>
              </a:ext>
            </a:extLst>
          </p:cNvPr>
          <p:cNvSpPr txBox="1"/>
          <p:nvPr/>
        </p:nvSpPr>
        <p:spPr>
          <a:xfrm>
            <a:off x="9582895" y="4628168"/>
            <a:ext cx="2360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read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BCD92FA-287E-0034-F119-239F19D85FBE}"/>
              </a:ext>
            </a:extLst>
          </p:cNvPr>
          <p:cNvCxnSpPr>
            <a:cxnSpLocks/>
          </p:cNvCxnSpPr>
          <p:nvPr/>
        </p:nvCxnSpPr>
        <p:spPr>
          <a:xfrm>
            <a:off x="9986118" y="2977890"/>
            <a:ext cx="660798" cy="570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2D3539E-D958-AEC0-D571-19BA7CFD8A78}"/>
              </a:ext>
            </a:extLst>
          </p:cNvPr>
          <p:cNvCxnSpPr>
            <a:cxnSpLocks/>
          </p:cNvCxnSpPr>
          <p:nvPr/>
        </p:nvCxnSpPr>
        <p:spPr>
          <a:xfrm flipV="1">
            <a:off x="10119361" y="3591436"/>
            <a:ext cx="527555" cy="7527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2723217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2CF34-5311-25AF-4350-7948C2407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>
            <a:extLst>
              <a:ext uri="{FF2B5EF4-FFF2-40B4-BE49-F238E27FC236}">
                <a16:creationId xmlns:a16="http://schemas.microsoft.com/office/drawing/2014/main" id="{A179387F-994F-6F46-FC12-44C81F3624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2908" y="457200"/>
            <a:ext cx="8277893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Warm-Up: I/O and Redirection Example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45D2669-1D62-C902-8D83-35945368DB19}"/>
              </a:ext>
            </a:extLst>
          </p:cNvPr>
          <p:cNvGrpSpPr/>
          <p:nvPr/>
        </p:nvGrpSpPr>
        <p:grpSpPr>
          <a:xfrm>
            <a:off x="461245" y="1289541"/>
            <a:ext cx="6984354" cy="5084844"/>
            <a:chOff x="688656" y="1240315"/>
            <a:chExt cx="6984354" cy="508484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14CC7525-B1CA-AFD5-F0F3-B8EE9E021506}"/>
                </a:ext>
              </a:extLst>
            </p:cNvPr>
            <p:cNvGrpSpPr/>
            <p:nvPr/>
          </p:nvGrpSpPr>
          <p:grpSpPr>
            <a:xfrm>
              <a:off x="786851" y="1553513"/>
              <a:ext cx="6886159" cy="4771646"/>
              <a:chOff x="770574" y="4161173"/>
              <a:chExt cx="7649090" cy="477164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2F61178-B427-65D4-7C6C-4A0D64F949E9}"/>
                  </a:ext>
                </a:extLst>
              </p:cNvPr>
              <p:cNvSpPr txBox="1"/>
              <p:nvPr/>
            </p:nvSpPr>
            <p:spPr>
              <a:xfrm>
                <a:off x="770574" y="4162282"/>
                <a:ext cx="454482" cy="47705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9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19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16BF835-E0DF-17C7-F868-49C09603AB96}"/>
                  </a:ext>
                </a:extLst>
              </p:cNvPr>
              <p:cNvSpPr txBox="1"/>
              <p:nvPr/>
            </p:nvSpPr>
            <p:spPr>
              <a:xfrm>
                <a:off x="1225056" y="4161173"/>
                <a:ext cx="7194608" cy="477053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#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include</a:t>
                </a:r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 err="1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csapp.h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endParaRPr lang="en-US" sz="1600" dirty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main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argc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[]) {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fd1, fd2, fd3;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c1, c2, c3;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[1]; </a:t>
                </a:r>
              </a:p>
              <a:p>
                <a:pPr eaLnBrk="0" hangingPunct="0"/>
                <a:endParaRPr lang="en-US" sz="1600" b="0" i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fd1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fd2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fd3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dup2(fd2, fd3); </a:t>
                </a:r>
              </a:p>
              <a:p>
                <a:pPr eaLnBrk="0" hangingPunct="0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&amp;c1, 1); </a:t>
                </a:r>
              </a:p>
              <a:p>
                <a:pPr eaLnBrk="0" hangingPunct="0"/>
                <a:r>
                  <a:rPr lang="en-US" sz="1600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read(fd2,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1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read(fd3, &amp;c3, 1); </a:t>
                </a:r>
              </a:p>
              <a:p>
                <a:pPr eaLnBrk="0" hangingPunct="0"/>
                <a:endParaRPr lang="en-US" sz="1600" dirty="0">
                  <a:solidFill>
                    <a:schemeClr val="bg1">
                      <a:lumMod val="8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 err="1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("c1 = %c, c2 = %c, c3 = %c\n", c1, c2, c3);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return 0;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  <a:endParaRPr lang="fi-FI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32B0887-CFB9-3FB5-89DC-0C1090A86DBA}"/>
                </a:ext>
              </a:extLst>
            </p:cNvPr>
            <p:cNvSpPr txBox="1"/>
            <p:nvPr/>
          </p:nvSpPr>
          <p:spPr>
            <a:xfrm>
              <a:off x="688656" y="124031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ffiles1.c</a:t>
              </a:r>
            </a:p>
          </p:txBody>
        </p:sp>
      </p:grp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7C3AFF3-AAAC-6063-2EFF-FAD691B758F7}"/>
              </a:ext>
            </a:extLst>
          </p:cNvPr>
          <p:cNvGraphicFramePr>
            <a:graphicFrameLocks noGrp="1"/>
          </p:cNvGraphicFramePr>
          <p:nvPr/>
        </p:nvGraphicFramePr>
        <p:xfrm>
          <a:off x="7800434" y="2031875"/>
          <a:ext cx="78476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726">
                  <a:extLst>
                    <a:ext uri="{9D8B030D-6E8A-4147-A177-3AD203B41FA5}">
                      <a16:colId xmlns:a16="http://schemas.microsoft.com/office/drawing/2014/main" val="759203340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5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30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1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1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8171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816716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438918D-7CDB-5769-B6F0-E4FCE120781E}"/>
              </a:ext>
            </a:extLst>
          </p:cNvPr>
          <p:cNvGraphicFramePr>
            <a:graphicFrameLocks noGrp="1"/>
          </p:cNvGraphicFramePr>
          <p:nvPr/>
        </p:nvGraphicFramePr>
        <p:xfrm>
          <a:off x="9175241" y="2007360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pos =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813791D5-3002-9D22-B873-D646B7DD06CB}"/>
              </a:ext>
            </a:extLst>
          </p:cNvPr>
          <p:cNvSpPr txBox="1"/>
          <p:nvPr/>
        </p:nvSpPr>
        <p:spPr>
          <a:xfrm>
            <a:off x="7531807" y="1304929"/>
            <a:ext cx="102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Process</a:t>
            </a:r>
            <a:br>
              <a:rPr lang="en-US" dirty="0"/>
            </a:br>
            <a:r>
              <a:rPr lang="en-US" dirty="0"/>
              <a:t>FD table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475028-3E79-0A7B-F5DF-DFF656E7F359}"/>
              </a:ext>
            </a:extLst>
          </p:cNvPr>
          <p:cNvSpPr txBox="1"/>
          <p:nvPr/>
        </p:nvSpPr>
        <p:spPr>
          <a:xfrm>
            <a:off x="8768067" y="1294655"/>
            <a:ext cx="1994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Open file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69EAF9F-8DDD-1C78-B748-268F65CEA169}"/>
              </a:ext>
            </a:extLst>
          </p:cNvPr>
          <p:cNvCxnSpPr>
            <a:cxnSpLocks/>
          </p:cNvCxnSpPr>
          <p:nvPr/>
        </p:nvCxnSpPr>
        <p:spPr>
          <a:xfrm flipV="1">
            <a:off x="8382000" y="2220773"/>
            <a:ext cx="793241" cy="1181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6DD810A-1C31-7538-5355-C61E325ACB10}"/>
              </a:ext>
            </a:extLst>
          </p:cNvPr>
          <p:cNvCxnSpPr>
            <a:cxnSpLocks/>
          </p:cNvCxnSpPr>
          <p:nvPr/>
        </p:nvCxnSpPr>
        <p:spPr>
          <a:xfrm flipV="1">
            <a:off x="8382000" y="3575200"/>
            <a:ext cx="793241" cy="1543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E9BD4F4-8EB9-E865-10C7-A42E3D4A83C4}"/>
              </a:ext>
            </a:extLst>
          </p:cNvPr>
          <p:cNvCxnSpPr>
            <a:cxnSpLocks/>
          </p:cNvCxnSpPr>
          <p:nvPr/>
        </p:nvCxnSpPr>
        <p:spPr>
          <a:xfrm flipV="1">
            <a:off x="8382000" y="3591436"/>
            <a:ext cx="828041" cy="4581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1ECF3030-ED49-439F-6235-A1CA91FFD9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352635"/>
              </p:ext>
            </p:extLst>
          </p:nvPr>
        </p:nvGraphicFramePr>
        <p:xfrm>
          <a:off x="9175241" y="3402538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file pos =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9915D66C-49E9-E2F6-3CFF-4B4C332C2E7A}"/>
              </a:ext>
            </a:extLst>
          </p:cNvPr>
          <p:cNvGraphicFramePr>
            <a:graphicFrameLocks noGrp="1"/>
          </p:cNvGraphicFramePr>
          <p:nvPr/>
        </p:nvGraphicFramePr>
        <p:xfrm>
          <a:off x="10646916" y="3405673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access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4B7A9A08-7BA6-6EA2-30BA-BD4867ABF01D}"/>
              </a:ext>
            </a:extLst>
          </p:cNvPr>
          <p:cNvSpPr txBox="1"/>
          <p:nvPr/>
        </p:nvSpPr>
        <p:spPr>
          <a:xfrm>
            <a:off x="10496595" y="2654725"/>
            <a:ext cx="1603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v-node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954E464-E1D1-DBFA-64E5-EE9F865B4D2C}"/>
              </a:ext>
            </a:extLst>
          </p:cNvPr>
          <p:cNvCxnSpPr>
            <a:cxnSpLocks/>
          </p:cNvCxnSpPr>
          <p:nvPr/>
        </p:nvCxnSpPr>
        <p:spPr>
          <a:xfrm>
            <a:off x="9986118" y="2977890"/>
            <a:ext cx="660798" cy="570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CC832F3-AE9E-3133-821D-66E72151A662}"/>
              </a:ext>
            </a:extLst>
          </p:cNvPr>
          <p:cNvCxnSpPr>
            <a:cxnSpLocks/>
          </p:cNvCxnSpPr>
          <p:nvPr/>
        </p:nvCxnSpPr>
        <p:spPr>
          <a:xfrm flipV="1">
            <a:off x="10119361" y="3591436"/>
            <a:ext cx="527555" cy="7527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7D9BF8E6-EA05-49BB-D9B9-CBAF31CB18A7}"/>
              </a:ext>
            </a:extLst>
          </p:cNvPr>
          <p:cNvGrpSpPr/>
          <p:nvPr/>
        </p:nvGrpSpPr>
        <p:grpSpPr>
          <a:xfrm>
            <a:off x="7726018" y="4772056"/>
            <a:ext cx="1652649" cy="677108"/>
            <a:chOff x="813349" y="1214405"/>
            <a:chExt cx="1652649" cy="67710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CDF00A9-F9DF-ED93-AB6C-587D7DF882EF}"/>
                </a:ext>
              </a:extLst>
            </p:cNvPr>
            <p:cNvSpPr txBox="1"/>
            <p:nvPr/>
          </p:nvSpPr>
          <p:spPr>
            <a:xfrm>
              <a:off x="813349" y="1552959"/>
              <a:ext cx="1652649" cy="33855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lIns="182880" rIns="182880" rtlCol="0">
              <a:spAutoFit/>
            </a:bodyPr>
            <a:lstStyle/>
            <a:p>
              <a:pPr eaLnBrk="0" hangingPunct="0"/>
              <a:r>
                <a:rPr lang="en-US" sz="1600" b="0" i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r>
                <a:rPr lang="en-US" sz="1600" b="1" i="0" dirty="0" err="1">
                  <a:solidFill>
                    <a:schemeClr val="tx2">
                      <a:lumMod val="75000"/>
                      <a:lumOff val="25000"/>
                    </a:schemeClr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lang="en-US" sz="1600" b="0" i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cde</a:t>
              </a:r>
              <a:endPara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AE36705-450A-3B4D-975B-600EE3C29E4A}"/>
                </a:ext>
              </a:extLst>
            </p:cNvPr>
            <p:cNvSpPr txBox="1"/>
            <p:nvPr/>
          </p:nvSpPr>
          <p:spPr>
            <a:xfrm>
              <a:off x="813349" y="121440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 err="1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abcde.txt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A0EBAA4-95C5-7E3F-1593-39FBF2B7948B}"/>
              </a:ext>
            </a:extLst>
          </p:cNvPr>
          <p:cNvSpPr txBox="1"/>
          <p:nvPr/>
        </p:nvSpPr>
        <p:spPr>
          <a:xfrm>
            <a:off x="7777782" y="5648427"/>
            <a:ext cx="2285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c3 = ‘b’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E27D2D-481B-7660-7392-9A23DF6BB1FA}"/>
              </a:ext>
            </a:extLst>
          </p:cNvPr>
          <p:cNvSpPr txBox="1"/>
          <p:nvPr/>
        </p:nvSpPr>
        <p:spPr>
          <a:xfrm>
            <a:off x="9582895" y="4628168"/>
            <a:ext cx="2360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read and increment file position</a:t>
            </a:r>
          </a:p>
        </p:txBody>
      </p:sp>
    </p:spTree>
    <p:extLst>
      <p:ext uri="{BB962C8B-B14F-4D97-AF65-F5344CB8AC3E}">
        <p14:creationId xmlns:p14="http://schemas.microsoft.com/office/powerpoint/2010/main" val="3974069744"/>
      </p:ext>
    </p:ext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D14FE-B9E8-F51F-0B40-2115D2994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>
            <a:extLst>
              <a:ext uri="{FF2B5EF4-FFF2-40B4-BE49-F238E27FC236}">
                <a16:creationId xmlns:a16="http://schemas.microsoft.com/office/drawing/2014/main" id="{F74E9649-65D8-A6D6-4C52-13324FA165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2908" y="457200"/>
            <a:ext cx="8277893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Warm-Up: I/O and Redirection Example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DBCAE9F-B252-540B-FEBD-C83744DFC0B7}"/>
              </a:ext>
            </a:extLst>
          </p:cNvPr>
          <p:cNvGrpSpPr/>
          <p:nvPr/>
        </p:nvGrpSpPr>
        <p:grpSpPr>
          <a:xfrm>
            <a:off x="461245" y="1289541"/>
            <a:ext cx="6984354" cy="5084844"/>
            <a:chOff x="688656" y="1240315"/>
            <a:chExt cx="6984354" cy="508484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47214F6-56C8-A084-D80B-EA5F6CCDE584}"/>
                </a:ext>
              </a:extLst>
            </p:cNvPr>
            <p:cNvGrpSpPr/>
            <p:nvPr/>
          </p:nvGrpSpPr>
          <p:grpSpPr>
            <a:xfrm>
              <a:off x="786851" y="1553513"/>
              <a:ext cx="6886159" cy="4771646"/>
              <a:chOff x="770574" y="4161173"/>
              <a:chExt cx="7649090" cy="477164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4DB28E4-A92C-59FA-62FC-D18C148872CF}"/>
                  </a:ext>
                </a:extLst>
              </p:cNvPr>
              <p:cNvSpPr txBox="1"/>
              <p:nvPr/>
            </p:nvSpPr>
            <p:spPr>
              <a:xfrm>
                <a:off x="770574" y="4162282"/>
                <a:ext cx="454482" cy="47705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9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19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63D3C11-359A-6C16-8508-A65BA0D50D17}"/>
                  </a:ext>
                </a:extLst>
              </p:cNvPr>
              <p:cNvSpPr txBox="1"/>
              <p:nvPr/>
            </p:nvSpPr>
            <p:spPr>
              <a:xfrm>
                <a:off x="1225056" y="4161173"/>
                <a:ext cx="7194608" cy="477053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#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include</a:t>
                </a:r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 err="1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csapp.h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endParaRPr lang="en-US" sz="1600" dirty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main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argc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[]) {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fd1, fd2, fd3;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c1, c2, c3;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[1]; </a:t>
                </a:r>
              </a:p>
              <a:p>
                <a:pPr eaLnBrk="0" hangingPunct="0"/>
                <a:endParaRPr lang="en-US" sz="1600" b="0" i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fd1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fd2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fd3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dup2(fd2, fd3); </a:t>
                </a:r>
              </a:p>
              <a:p>
                <a:pPr eaLnBrk="0" hangingPunct="0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&amp;c1, 1); </a:t>
                </a:r>
              </a:p>
              <a:p>
                <a:pPr eaLnBrk="0" hangingPunct="0"/>
                <a:r>
                  <a:rPr lang="en-US" sz="1600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read(fd2,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read(fd3, &amp;c3, 1); </a:t>
                </a:r>
              </a:p>
              <a:p>
                <a:pPr eaLnBrk="0" hangingPunct="0"/>
                <a:endParaRPr lang="en-US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b="0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 err="1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"c1 = %c, c2 = %c, c3 = %c\n"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c1, c2, c3); </a:t>
                </a:r>
                <a:endParaRPr lang="en-US" sz="1600" b="0" i="0" dirty="0">
                  <a:effectLst/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return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0; </a:t>
                </a:r>
                <a:endParaRPr lang="en-US" sz="1600" b="0" i="0" dirty="0">
                  <a:effectLst/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  <a:endParaRPr lang="fi-FI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15A6DE4-ECC5-7462-C1BB-90254854C21C}"/>
                </a:ext>
              </a:extLst>
            </p:cNvPr>
            <p:cNvSpPr txBox="1"/>
            <p:nvPr/>
          </p:nvSpPr>
          <p:spPr>
            <a:xfrm>
              <a:off x="688656" y="124031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ffiles1.c</a:t>
              </a:r>
            </a:p>
          </p:txBody>
        </p:sp>
      </p:grpSp>
      <p:sp>
        <p:nvSpPr>
          <p:cNvPr id="31" name="Rectangle 3">
            <a:extLst>
              <a:ext uri="{FF2B5EF4-FFF2-40B4-BE49-F238E27FC236}">
                <a16:creationId xmlns:a16="http://schemas.microsoft.com/office/drawing/2014/main" id="{16B5E227-6B10-3FB2-25CD-6063409EE88D}"/>
              </a:ext>
            </a:extLst>
          </p:cNvPr>
          <p:cNvSpPr txBox="1">
            <a:spLocks noChangeArrowheads="1"/>
          </p:cNvSpPr>
          <p:nvPr/>
        </p:nvSpPr>
        <p:spPr>
          <a:xfrm>
            <a:off x="7634224" y="2372391"/>
            <a:ext cx="4168992" cy="7628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2400" dirty="0"/>
              <a:t>What would this program print for file containing “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abcde</a:t>
            </a:r>
            <a:r>
              <a:rPr lang="en-US" sz="2400" dirty="0"/>
              <a:t>”?</a:t>
            </a:r>
          </a:p>
          <a:p>
            <a:pPr>
              <a:lnSpc>
                <a:spcPct val="120000"/>
              </a:lnSpc>
            </a:pPr>
            <a:endParaRPr lang="en-US" sz="2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5831C7E-5D50-AA40-9A88-0A8693E0EE40}"/>
              </a:ext>
            </a:extLst>
          </p:cNvPr>
          <p:cNvSpPr txBox="1"/>
          <p:nvPr/>
        </p:nvSpPr>
        <p:spPr>
          <a:xfrm>
            <a:off x="7634224" y="3491073"/>
            <a:ext cx="4168993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milkshark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 ./ffiles1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abcde.txt</a:t>
            </a:r>
            <a:endParaRPr lang="en-US" sz="16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c1 = a, c2 = a, c3 = b</a:t>
            </a:r>
          </a:p>
          <a:p>
            <a:endParaRPr lang="en-US" sz="16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D58CF73-8DCC-6E4E-6B63-B86EA4BD60E1}"/>
              </a:ext>
            </a:extLst>
          </p:cNvPr>
          <p:cNvGrpSpPr/>
          <p:nvPr/>
        </p:nvGrpSpPr>
        <p:grpSpPr>
          <a:xfrm>
            <a:off x="7634224" y="1478125"/>
            <a:ext cx="1784079" cy="678771"/>
            <a:chOff x="813349" y="1214405"/>
            <a:chExt cx="1784079" cy="678771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366638E-6FFE-1E76-B526-9C7AD1623A83}"/>
                </a:ext>
              </a:extLst>
            </p:cNvPr>
            <p:cNvGrpSpPr/>
            <p:nvPr/>
          </p:nvGrpSpPr>
          <p:grpSpPr>
            <a:xfrm>
              <a:off x="899126" y="1553513"/>
              <a:ext cx="1698302" cy="339663"/>
              <a:chOff x="895288" y="4161173"/>
              <a:chExt cx="1886460" cy="339663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DB9364C-1356-D354-98CE-D536113116AA}"/>
                  </a:ext>
                </a:extLst>
              </p:cNvPr>
              <p:cNvSpPr txBox="1"/>
              <p:nvPr/>
            </p:nvSpPr>
            <p:spPr>
              <a:xfrm>
                <a:off x="895288" y="4162282"/>
                <a:ext cx="329767" cy="3385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4200AD8-6799-D15E-18F4-8120A7E1063D}"/>
                  </a:ext>
                </a:extLst>
              </p:cNvPr>
              <p:cNvSpPr txBox="1"/>
              <p:nvPr/>
            </p:nvSpPr>
            <p:spPr>
              <a:xfrm>
                <a:off x="1225057" y="4161173"/>
                <a:ext cx="1556691" cy="3385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abcde</a:t>
                </a:r>
                <a:endParaRPr lang="en-US" sz="1600" b="0" i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11CEC3E-4387-994A-D8DB-6E2E4180E5DF}"/>
                </a:ext>
              </a:extLst>
            </p:cNvPr>
            <p:cNvSpPr txBox="1"/>
            <p:nvPr/>
          </p:nvSpPr>
          <p:spPr>
            <a:xfrm>
              <a:off x="813349" y="121440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 err="1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abcde.txt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0964219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61784-B05A-2AA8-5C59-CFB88CD8B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>
            <a:extLst>
              <a:ext uri="{FF2B5EF4-FFF2-40B4-BE49-F238E27FC236}">
                <a16:creationId xmlns:a16="http://schemas.microsoft.com/office/drawing/2014/main" id="{96EC833C-549A-134F-B390-FDBE7ED5D9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2908" y="457200"/>
            <a:ext cx="8277893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Master Class: Process Control and I/O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77B7633-E0A6-72C8-BF6E-6F8F1AA4E707}"/>
              </a:ext>
            </a:extLst>
          </p:cNvPr>
          <p:cNvGrpSpPr/>
          <p:nvPr/>
        </p:nvGrpSpPr>
        <p:grpSpPr>
          <a:xfrm>
            <a:off x="461245" y="1289541"/>
            <a:ext cx="6864116" cy="5084844"/>
            <a:chOff x="688656" y="1240315"/>
            <a:chExt cx="6864116" cy="508484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8D5A03B-842C-B377-CE96-2D0B2F2B5378}"/>
                </a:ext>
              </a:extLst>
            </p:cNvPr>
            <p:cNvGrpSpPr/>
            <p:nvPr/>
          </p:nvGrpSpPr>
          <p:grpSpPr>
            <a:xfrm>
              <a:off x="786851" y="1553513"/>
              <a:ext cx="6765921" cy="4771646"/>
              <a:chOff x="770574" y="4161173"/>
              <a:chExt cx="7515530" cy="477164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1A4A381-8C48-5729-ACDB-98386F035889}"/>
                  </a:ext>
                </a:extLst>
              </p:cNvPr>
              <p:cNvSpPr txBox="1"/>
              <p:nvPr/>
            </p:nvSpPr>
            <p:spPr>
              <a:xfrm>
                <a:off x="770574" y="4162282"/>
                <a:ext cx="454482" cy="47705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9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19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803A1E3-6A7E-4546-6DBF-5B317028718B}"/>
                  </a:ext>
                </a:extLst>
              </p:cNvPr>
              <p:cNvSpPr txBox="1"/>
              <p:nvPr/>
            </p:nvSpPr>
            <p:spPr>
              <a:xfrm>
                <a:off x="1225055" y="4161173"/>
                <a:ext cx="7061049" cy="477053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#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include</a:t>
                </a:r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 err="1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csapp.h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main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argc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[]) {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fd1;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s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getpid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() &amp; 0x1;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c1, c2;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[1];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fd1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&amp;c1, 1);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if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(fork()) { </a:t>
                </a:r>
                <a:r>
                  <a:rPr lang="en-US" sz="1600" b="0" i="0" dirty="0">
                    <a:solidFill>
                      <a:srgbClr val="008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/* Parent */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sleep(s);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 err="1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"Parent: c1 = %c, c2 = %c\n"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c1, c2);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 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else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{ </a:t>
                </a:r>
                <a:r>
                  <a:rPr lang="en-US" sz="1600" b="0" i="0" dirty="0">
                    <a:solidFill>
                      <a:srgbClr val="008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/* Child */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sleep(1-s);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 err="1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"Child: c1 = %c, c2 = %c\n"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c1, c2);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return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0;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  <a:endParaRPr lang="fi-FI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7DF362A-03FC-E552-903D-B1148F65739C}"/>
                </a:ext>
              </a:extLst>
            </p:cNvPr>
            <p:cNvSpPr txBox="1"/>
            <p:nvPr/>
          </p:nvSpPr>
          <p:spPr>
            <a:xfrm>
              <a:off x="688656" y="124031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ffiles2.c</a:t>
              </a:r>
            </a:p>
          </p:txBody>
        </p:sp>
      </p:grpSp>
      <p:sp>
        <p:nvSpPr>
          <p:cNvPr id="21" name="Rectangle 3">
            <a:extLst>
              <a:ext uri="{FF2B5EF4-FFF2-40B4-BE49-F238E27FC236}">
                <a16:creationId xmlns:a16="http://schemas.microsoft.com/office/drawing/2014/main" id="{9E05B0CB-52F8-523D-9003-F91FF792CD76}"/>
              </a:ext>
            </a:extLst>
          </p:cNvPr>
          <p:cNvSpPr txBox="1">
            <a:spLocks noChangeArrowheads="1"/>
          </p:cNvSpPr>
          <p:nvPr/>
        </p:nvSpPr>
        <p:spPr>
          <a:xfrm>
            <a:off x="7634224" y="2372391"/>
            <a:ext cx="4168992" cy="7628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2400" dirty="0"/>
              <a:t>What would this program print for file containing “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abcde</a:t>
            </a:r>
            <a:r>
              <a:rPr lang="en-US" sz="2400" dirty="0"/>
              <a:t>”?</a:t>
            </a:r>
          </a:p>
          <a:p>
            <a:pPr>
              <a:lnSpc>
                <a:spcPct val="120000"/>
              </a:lnSpc>
            </a:pPr>
            <a:endParaRPr lang="en-US" sz="2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95B91A-CA0B-BAFB-54D6-778143B7FCFD}"/>
              </a:ext>
            </a:extLst>
          </p:cNvPr>
          <p:cNvSpPr txBox="1"/>
          <p:nvPr/>
        </p:nvSpPr>
        <p:spPr>
          <a:xfrm>
            <a:off x="7634224" y="3491073"/>
            <a:ext cx="4168993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milkshark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 ./ffiles2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abcde.txt</a:t>
            </a:r>
            <a:endParaRPr lang="en-US" sz="16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???</a:t>
            </a:r>
          </a:p>
          <a:p>
            <a:endParaRPr lang="en-US" sz="16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1883BCB-D3FC-89D3-E435-A9BC321B68A5}"/>
              </a:ext>
            </a:extLst>
          </p:cNvPr>
          <p:cNvGrpSpPr/>
          <p:nvPr/>
        </p:nvGrpSpPr>
        <p:grpSpPr>
          <a:xfrm>
            <a:off x="7634224" y="1478125"/>
            <a:ext cx="1784079" cy="678771"/>
            <a:chOff x="813349" y="1214405"/>
            <a:chExt cx="1784079" cy="678771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29DD89D3-0AA9-4C5D-E501-C3C44E855EF3}"/>
                </a:ext>
              </a:extLst>
            </p:cNvPr>
            <p:cNvGrpSpPr/>
            <p:nvPr/>
          </p:nvGrpSpPr>
          <p:grpSpPr>
            <a:xfrm>
              <a:off x="899126" y="1553513"/>
              <a:ext cx="1698302" cy="339663"/>
              <a:chOff x="895288" y="4161173"/>
              <a:chExt cx="1886460" cy="339663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D0A3EB5-49B2-29E7-70CF-E34C6751933A}"/>
                  </a:ext>
                </a:extLst>
              </p:cNvPr>
              <p:cNvSpPr txBox="1"/>
              <p:nvPr/>
            </p:nvSpPr>
            <p:spPr>
              <a:xfrm>
                <a:off x="895288" y="4162282"/>
                <a:ext cx="329767" cy="3385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BC572F4-4C12-2883-59C5-84F47DB6D306}"/>
                  </a:ext>
                </a:extLst>
              </p:cNvPr>
              <p:cNvSpPr txBox="1"/>
              <p:nvPr/>
            </p:nvSpPr>
            <p:spPr>
              <a:xfrm>
                <a:off x="1225057" y="4161173"/>
                <a:ext cx="1556691" cy="3385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abcde</a:t>
                </a:r>
                <a:endParaRPr lang="en-US" sz="1600" b="0" i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CD04363-D591-2F35-19CF-CD4F41800D1C}"/>
                </a:ext>
              </a:extLst>
            </p:cNvPr>
            <p:cNvSpPr txBox="1"/>
            <p:nvPr/>
          </p:nvSpPr>
          <p:spPr>
            <a:xfrm>
              <a:off x="813349" y="121440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 err="1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abcde.txt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09578842"/>
      </p:ext>
    </p:extLst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696B3-5F85-F3F7-F4DE-F72A1BB88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>
            <a:extLst>
              <a:ext uri="{FF2B5EF4-FFF2-40B4-BE49-F238E27FC236}">
                <a16:creationId xmlns:a16="http://schemas.microsoft.com/office/drawing/2014/main" id="{BE640D8D-A067-4789-CF48-1A93E587F4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2908" y="457200"/>
            <a:ext cx="8277893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Master Class: Process Control and I/O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87D20F7-23CF-0050-4AAD-EF83DDDB68EA}"/>
              </a:ext>
            </a:extLst>
          </p:cNvPr>
          <p:cNvGrpSpPr/>
          <p:nvPr/>
        </p:nvGrpSpPr>
        <p:grpSpPr>
          <a:xfrm>
            <a:off x="461245" y="1289541"/>
            <a:ext cx="6864116" cy="5084844"/>
            <a:chOff x="688656" y="1240315"/>
            <a:chExt cx="6864116" cy="508484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F6AEB0B-FD88-508F-2CB0-B184CE1B799B}"/>
                </a:ext>
              </a:extLst>
            </p:cNvPr>
            <p:cNvGrpSpPr/>
            <p:nvPr/>
          </p:nvGrpSpPr>
          <p:grpSpPr>
            <a:xfrm>
              <a:off x="786851" y="1553513"/>
              <a:ext cx="6765921" cy="4771646"/>
              <a:chOff x="770574" y="4161173"/>
              <a:chExt cx="7515530" cy="477164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56950D-47EB-1428-F929-41E1F80105D8}"/>
                  </a:ext>
                </a:extLst>
              </p:cNvPr>
              <p:cNvSpPr txBox="1"/>
              <p:nvPr/>
            </p:nvSpPr>
            <p:spPr>
              <a:xfrm>
                <a:off x="770574" y="4162282"/>
                <a:ext cx="454482" cy="47705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9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19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5E3F742-0567-1BCB-E65B-1D4308CBD34B}"/>
                  </a:ext>
                </a:extLst>
              </p:cNvPr>
              <p:cNvSpPr txBox="1"/>
              <p:nvPr/>
            </p:nvSpPr>
            <p:spPr>
              <a:xfrm>
                <a:off x="1225055" y="4161173"/>
                <a:ext cx="7061049" cy="477053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#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include</a:t>
                </a:r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 err="1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csapp.h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main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argc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[]) {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fd1;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s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getpid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() &amp; 0x1;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c1, c2;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[1];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fd1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&amp;c1,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if (fork()) { /* Parent */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sleep(s);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 err="1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("Parent: c1 = %c, c2 = %c\n", c1, c2);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 else { /* Child */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sleep(1-s);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 err="1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("Child: c1 = %c, c2 = %c\n", c1, c2);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return 0;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  <a:endParaRPr lang="fi-FI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639FB19-12C7-6149-1B28-9A6E477A4CB4}"/>
                </a:ext>
              </a:extLst>
            </p:cNvPr>
            <p:cNvSpPr txBox="1"/>
            <p:nvPr/>
          </p:nvSpPr>
          <p:spPr>
            <a:xfrm>
              <a:off x="688656" y="124031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ffiles2.c</a:t>
              </a:r>
            </a:p>
          </p:txBody>
        </p:sp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AD36CE6-4231-9047-FA6B-9CF90BCA76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9762081"/>
              </p:ext>
            </p:extLst>
          </p:nvPr>
        </p:nvGraphicFramePr>
        <p:xfrm>
          <a:off x="7800434" y="2031875"/>
          <a:ext cx="7847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726">
                  <a:extLst>
                    <a:ext uri="{9D8B030D-6E8A-4147-A177-3AD203B41FA5}">
                      <a16:colId xmlns:a16="http://schemas.microsoft.com/office/drawing/2014/main" val="759203340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5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30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1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12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91CA9F5-6B80-49C9-F6E6-AB59BFCF18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650274"/>
              </p:ext>
            </p:extLst>
          </p:nvPr>
        </p:nvGraphicFramePr>
        <p:xfrm>
          <a:off x="9175241" y="2007360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pos =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503A66A-9AE6-983C-E056-243926755220}"/>
              </a:ext>
            </a:extLst>
          </p:cNvPr>
          <p:cNvSpPr txBox="1"/>
          <p:nvPr/>
        </p:nvSpPr>
        <p:spPr>
          <a:xfrm>
            <a:off x="7531807" y="1304929"/>
            <a:ext cx="102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Process </a:t>
            </a:r>
            <a:br>
              <a:rPr lang="en-US" dirty="0"/>
            </a:br>
            <a:r>
              <a:rPr lang="en-US" dirty="0"/>
              <a:t>FD table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9619FE-8737-2F58-0993-CD6C9A5A016D}"/>
              </a:ext>
            </a:extLst>
          </p:cNvPr>
          <p:cNvSpPr txBox="1"/>
          <p:nvPr/>
        </p:nvSpPr>
        <p:spPr>
          <a:xfrm>
            <a:off x="8768067" y="1294655"/>
            <a:ext cx="1994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Open file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75FEA0A-E492-2384-DF91-ACB1F6F9291D}"/>
              </a:ext>
            </a:extLst>
          </p:cNvPr>
          <p:cNvCxnSpPr>
            <a:cxnSpLocks/>
          </p:cNvCxnSpPr>
          <p:nvPr/>
        </p:nvCxnSpPr>
        <p:spPr>
          <a:xfrm flipV="1">
            <a:off x="8382000" y="2220773"/>
            <a:ext cx="793241" cy="1181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54CD55D-10F7-210B-3EBE-3483E6132B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641622"/>
              </p:ext>
            </p:extLst>
          </p:nvPr>
        </p:nvGraphicFramePr>
        <p:xfrm>
          <a:off x="10646916" y="3405673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access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6FB24CD9-E615-9440-3B79-3FA8688C1E15}"/>
              </a:ext>
            </a:extLst>
          </p:cNvPr>
          <p:cNvSpPr txBox="1"/>
          <p:nvPr/>
        </p:nvSpPr>
        <p:spPr>
          <a:xfrm>
            <a:off x="10496595" y="2654725"/>
            <a:ext cx="1603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v-node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A1E0D64-F864-8921-4371-D637E2016396}"/>
              </a:ext>
            </a:extLst>
          </p:cNvPr>
          <p:cNvCxnSpPr>
            <a:cxnSpLocks/>
          </p:cNvCxnSpPr>
          <p:nvPr/>
        </p:nvCxnSpPr>
        <p:spPr>
          <a:xfrm>
            <a:off x="9986118" y="2977890"/>
            <a:ext cx="660798" cy="570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382847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243AB-8B9E-7BED-0E9A-895F91E5F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>
            <a:extLst>
              <a:ext uri="{FF2B5EF4-FFF2-40B4-BE49-F238E27FC236}">
                <a16:creationId xmlns:a16="http://schemas.microsoft.com/office/drawing/2014/main" id="{CF73E0E6-F2B4-6316-E013-B6BA606260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2908" y="457200"/>
            <a:ext cx="8277893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Master Class: Process Control and I/O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B1D845D-5ACF-7D2F-3A07-2C6F6D28D27D}"/>
              </a:ext>
            </a:extLst>
          </p:cNvPr>
          <p:cNvGrpSpPr/>
          <p:nvPr/>
        </p:nvGrpSpPr>
        <p:grpSpPr>
          <a:xfrm>
            <a:off x="461245" y="1289541"/>
            <a:ext cx="6864116" cy="5084844"/>
            <a:chOff x="688656" y="1240315"/>
            <a:chExt cx="6864116" cy="508484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B9F2C81-FF14-B600-D698-FB69BDFD4A89}"/>
                </a:ext>
              </a:extLst>
            </p:cNvPr>
            <p:cNvGrpSpPr/>
            <p:nvPr/>
          </p:nvGrpSpPr>
          <p:grpSpPr>
            <a:xfrm>
              <a:off x="786851" y="1553513"/>
              <a:ext cx="6765921" cy="4771646"/>
              <a:chOff x="770574" y="4161173"/>
              <a:chExt cx="7515530" cy="477164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770EB70-2E1B-593B-1105-64AF5650D304}"/>
                  </a:ext>
                </a:extLst>
              </p:cNvPr>
              <p:cNvSpPr txBox="1"/>
              <p:nvPr/>
            </p:nvSpPr>
            <p:spPr>
              <a:xfrm>
                <a:off x="770574" y="4162282"/>
                <a:ext cx="454482" cy="47705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9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19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DD0CAB-9EF1-8187-9FC9-85624BCE909F}"/>
                  </a:ext>
                </a:extLst>
              </p:cNvPr>
              <p:cNvSpPr txBox="1"/>
              <p:nvPr/>
            </p:nvSpPr>
            <p:spPr>
              <a:xfrm>
                <a:off x="1225055" y="4161173"/>
                <a:ext cx="7061049" cy="477053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#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include</a:t>
                </a:r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 err="1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csapp.h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main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argc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[]) {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fd1;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s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getpid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() &amp; 0x1;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c1, c2;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[1];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fd1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1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&amp;c1,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if (fork()) { /* Parent */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sleep(s);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 err="1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("Parent: c1 = %c, c2 = %c\n", c1, c2);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 else { /* Child */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sleep(1-s);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 err="1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("Child: c1 = %c, c2 = %c\n", c1, c2);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return 0;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  <a:endParaRPr lang="fi-FI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AE3B9F9-0B9F-AFDC-EB3B-EBD6BD727222}"/>
                </a:ext>
              </a:extLst>
            </p:cNvPr>
            <p:cNvSpPr txBox="1"/>
            <p:nvPr/>
          </p:nvSpPr>
          <p:spPr>
            <a:xfrm>
              <a:off x="688656" y="124031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ffiles2.c</a:t>
              </a:r>
            </a:p>
          </p:txBody>
        </p:sp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8B18007-3E78-E0A0-4C6A-F6BDA1A6CF3E}"/>
              </a:ext>
            </a:extLst>
          </p:cNvPr>
          <p:cNvGraphicFramePr>
            <a:graphicFrameLocks noGrp="1"/>
          </p:cNvGraphicFramePr>
          <p:nvPr/>
        </p:nvGraphicFramePr>
        <p:xfrm>
          <a:off x="7800434" y="2031875"/>
          <a:ext cx="7847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726">
                  <a:extLst>
                    <a:ext uri="{9D8B030D-6E8A-4147-A177-3AD203B41FA5}">
                      <a16:colId xmlns:a16="http://schemas.microsoft.com/office/drawing/2014/main" val="759203340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5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30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1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12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533E6CF-3888-4366-59BE-C452B32C0A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5691864"/>
              </p:ext>
            </p:extLst>
          </p:nvPr>
        </p:nvGraphicFramePr>
        <p:xfrm>
          <a:off x="9175241" y="2007360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dirty="0">
                          <a:solidFill>
                            <a:schemeClr val="accent1"/>
                          </a:solidFill>
                        </a:rPr>
                        <a:t>file pos =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DE42200-3604-70DF-D94B-EFBB00CE6DC4}"/>
              </a:ext>
            </a:extLst>
          </p:cNvPr>
          <p:cNvSpPr txBox="1"/>
          <p:nvPr/>
        </p:nvSpPr>
        <p:spPr>
          <a:xfrm>
            <a:off x="7531807" y="1304929"/>
            <a:ext cx="102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Process </a:t>
            </a:r>
            <a:br>
              <a:rPr lang="en-US" dirty="0"/>
            </a:br>
            <a:r>
              <a:rPr lang="en-US" dirty="0"/>
              <a:t>FD table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EEF2E2-E7FE-3961-DAD0-C231B920D9FD}"/>
              </a:ext>
            </a:extLst>
          </p:cNvPr>
          <p:cNvSpPr txBox="1"/>
          <p:nvPr/>
        </p:nvSpPr>
        <p:spPr>
          <a:xfrm>
            <a:off x="8768067" y="1294655"/>
            <a:ext cx="1994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Open file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11FD2DE-04DC-55F6-BCA5-4DF01D0DD7E1}"/>
              </a:ext>
            </a:extLst>
          </p:cNvPr>
          <p:cNvCxnSpPr>
            <a:cxnSpLocks/>
          </p:cNvCxnSpPr>
          <p:nvPr/>
        </p:nvCxnSpPr>
        <p:spPr>
          <a:xfrm flipV="1">
            <a:off x="8382000" y="2220773"/>
            <a:ext cx="793241" cy="1181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A1BA9EA-48DD-1F90-8ECE-E2D1B0642C38}"/>
              </a:ext>
            </a:extLst>
          </p:cNvPr>
          <p:cNvGraphicFramePr>
            <a:graphicFrameLocks noGrp="1"/>
          </p:cNvGraphicFramePr>
          <p:nvPr/>
        </p:nvGraphicFramePr>
        <p:xfrm>
          <a:off x="10646916" y="3405673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access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58D0F228-38FC-6993-1E12-6E7DD1302B8F}"/>
              </a:ext>
            </a:extLst>
          </p:cNvPr>
          <p:cNvSpPr txBox="1"/>
          <p:nvPr/>
        </p:nvSpPr>
        <p:spPr>
          <a:xfrm>
            <a:off x="10496595" y="2654725"/>
            <a:ext cx="1603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v-node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8BB6B84-312D-943B-FC2B-80CB2429D792}"/>
              </a:ext>
            </a:extLst>
          </p:cNvPr>
          <p:cNvCxnSpPr>
            <a:cxnSpLocks/>
          </p:cNvCxnSpPr>
          <p:nvPr/>
        </p:nvCxnSpPr>
        <p:spPr>
          <a:xfrm>
            <a:off x="9986118" y="2977890"/>
            <a:ext cx="660798" cy="570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54F39C0-FF16-C249-7962-A42D543AA4F6}"/>
              </a:ext>
            </a:extLst>
          </p:cNvPr>
          <p:cNvGrpSpPr/>
          <p:nvPr/>
        </p:nvGrpSpPr>
        <p:grpSpPr>
          <a:xfrm>
            <a:off x="10160000" y="5157514"/>
            <a:ext cx="1652649" cy="677108"/>
            <a:chOff x="813349" y="1214405"/>
            <a:chExt cx="1652649" cy="67710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7626E36-91E1-543C-A678-B8EFEF9B1C23}"/>
                </a:ext>
              </a:extLst>
            </p:cNvPr>
            <p:cNvSpPr txBox="1"/>
            <p:nvPr/>
          </p:nvSpPr>
          <p:spPr>
            <a:xfrm>
              <a:off x="813349" y="1552959"/>
              <a:ext cx="1652649" cy="33855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lIns="182880" rIns="182880" rtlCol="0">
              <a:spAutoFit/>
            </a:bodyPr>
            <a:lstStyle/>
            <a:p>
              <a:pPr eaLnBrk="0" hangingPunct="0"/>
              <a:r>
                <a:rPr lang="en-US" sz="1600" b="1" i="0" dirty="0" err="1">
                  <a:solidFill>
                    <a:schemeClr val="tx2">
                      <a:lumMod val="75000"/>
                      <a:lumOff val="25000"/>
                    </a:schemeClr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r>
                <a:rPr lang="en-US" sz="1600" i="0" dirty="0" err="1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lang="en-US" sz="1600" b="0" i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cde</a:t>
              </a:r>
              <a:endPara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672B104-5C95-3103-6C13-E5BD7CEC0A7B}"/>
                </a:ext>
              </a:extLst>
            </p:cNvPr>
            <p:cNvSpPr txBox="1"/>
            <p:nvPr/>
          </p:nvSpPr>
          <p:spPr>
            <a:xfrm>
              <a:off x="813349" y="121440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 err="1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abcde.txt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E86B1877-2E29-B8AC-0915-215A018FEC31}"/>
              </a:ext>
            </a:extLst>
          </p:cNvPr>
          <p:cNvSpPr txBox="1"/>
          <p:nvPr/>
        </p:nvSpPr>
        <p:spPr>
          <a:xfrm>
            <a:off x="10211764" y="6033885"/>
            <a:ext cx="2285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c1 = ‘a’</a:t>
            </a:r>
          </a:p>
        </p:txBody>
      </p:sp>
    </p:spTree>
    <p:extLst>
      <p:ext uri="{BB962C8B-B14F-4D97-AF65-F5344CB8AC3E}">
        <p14:creationId xmlns:p14="http://schemas.microsoft.com/office/powerpoint/2010/main" val="1691383487"/>
      </p:ext>
    </p:extLst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CA6AB-1BA7-1690-0797-A1D99AB1E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>
            <a:extLst>
              <a:ext uri="{FF2B5EF4-FFF2-40B4-BE49-F238E27FC236}">
                <a16:creationId xmlns:a16="http://schemas.microsoft.com/office/drawing/2014/main" id="{2D3F5737-D12C-B28E-B6F6-C03F8CDEEC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2908" y="457200"/>
            <a:ext cx="8277893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Master Class: Process Control and I/O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C2058E5-CFC0-4E4C-6BF5-4F9A169984F6}"/>
              </a:ext>
            </a:extLst>
          </p:cNvPr>
          <p:cNvGrpSpPr/>
          <p:nvPr/>
        </p:nvGrpSpPr>
        <p:grpSpPr>
          <a:xfrm>
            <a:off x="461245" y="1289541"/>
            <a:ext cx="6864116" cy="5084844"/>
            <a:chOff x="688656" y="1240315"/>
            <a:chExt cx="6864116" cy="508484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842CB0A6-32D0-85AD-6D8F-80246F9DEBD6}"/>
                </a:ext>
              </a:extLst>
            </p:cNvPr>
            <p:cNvGrpSpPr/>
            <p:nvPr/>
          </p:nvGrpSpPr>
          <p:grpSpPr>
            <a:xfrm>
              <a:off x="786851" y="1553513"/>
              <a:ext cx="6765921" cy="4771646"/>
              <a:chOff x="770574" y="4161173"/>
              <a:chExt cx="7515531" cy="477164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27DBCB3-FACE-BD38-F9DE-0BC3F5AF634D}"/>
                  </a:ext>
                </a:extLst>
              </p:cNvPr>
              <p:cNvSpPr txBox="1"/>
              <p:nvPr/>
            </p:nvSpPr>
            <p:spPr>
              <a:xfrm>
                <a:off x="770574" y="4162282"/>
                <a:ext cx="454482" cy="47705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9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19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30C96E6-198E-C666-CC36-3C461C34A516}"/>
                  </a:ext>
                </a:extLst>
              </p:cNvPr>
              <p:cNvSpPr txBox="1"/>
              <p:nvPr/>
            </p:nvSpPr>
            <p:spPr>
              <a:xfrm>
                <a:off x="1225055" y="4161173"/>
                <a:ext cx="7061050" cy="477053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#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include</a:t>
                </a:r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 err="1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csapp.h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main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argc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[]) {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fd1;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1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s = </a:t>
                </a:r>
                <a:r>
                  <a:rPr lang="en-US" sz="1600" b="1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getpid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() &amp; 0x1;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c1, c2;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[1];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fd1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&amp;c1, 1); </a:t>
                </a:r>
              </a:p>
              <a:p>
                <a:pPr eaLnBrk="0" hangingPunct="0"/>
                <a:r>
                  <a:rPr lang="en-US" sz="1600" b="1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1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if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(fork()) { </a:t>
                </a:r>
                <a:r>
                  <a:rPr lang="en-US" sz="1600" b="1" i="0" dirty="0">
                    <a:solidFill>
                      <a:srgbClr val="008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/* Parent */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b="1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sleep(s);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 err="1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("Parent: c1 = %c, c2 = %c\n", c1, c2); </a:t>
                </a:r>
              </a:p>
              <a:p>
                <a:pPr eaLnBrk="0" hangingPunct="0"/>
                <a:r>
                  <a:rPr lang="en-US" sz="1600" b="1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 </a:t>
                </a:r>
                <a:r>
                  <a:rPr lang="en-US" sz="1600" b="1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else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{ </a:t>
                </a:r>
                <a:r>
                  <a:rPr lang="en-US" sz="1600" b="1" i="0" dirty="0">
                    <a:solidFill>
                      <a:srgbClr val="008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/* Child */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b="1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sleep(1-s);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 err="1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("Child: c1 = %c, c2 = %c\n", c1, c2); </a:t>
                </a:r>
              </a:p>
              <a:p>
                <a:pPr eaLnBrk="0" hangingPunct="0"/>
                <a:r>
                  <a:rPr lang="en-US" sz="1600" b="1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return 0;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  <a:endParaRPr lang="fi-FI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234309A-6078-A764-BC64-747F3EE0D9E4}"/>
                </a:ext>
              </a:extLst>
            </p:cNvPr>
            <p:cNvSpPr txBox="1"/>
            <p:nvPr/>
          </p:nvSpPr>
          <p:spPr>
            <a:xfrm>
              <a:off x="688656" y="124031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ffiles2.c</a:t>
              </a:r>
            </a:p>
          </p:txBody>
        </p:sp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ADA98E3-4A5E-E8A8-65D7-5B0DF48010A3}"/>
              </a:ext>
            </a:extLst>
          </p:cNvPr>
          <p:cNvGraphicFramePr>
            <a:graphicFrameLocks noGrp="1"/>
          </p:cNvGraphicFramePr>
          <p:nvPr/>
        </p:nvGraphicFramePr>
        <p:xfrm>
          <a:off x="7800434" y="2031875"/>
          <a:ext cx="7847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726">
                  <a:extLst>
                    <a:ext uri="{9D8B030D-6E8A-4147-A177-3AD203B41FA5}">
                      <a16:colId xmlns:a16="http://schemas.microsoft.com/office/drawing/2014/main" val="759203340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5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30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1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12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C59E7FF-582E-F43B-351E-EA2CD51EDD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741797"/>
              </p:ext>
            </p:extLst>
          </p:nvPr>
        </p:nvGraphicFramePr>
        <p:xfrm>
          <a:off x="9175241" y="2007360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pos =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FB631DF-0D95-E6A3-0057-2B806A78E36F}"/>
              </a:ext>
            </a:extLst>
          </p:cNvPr>
          <p:cNvSpPr txBox="1"/>
          <p:nvPr/>
        </p:nvSpPr>
        <p:spPr>
          <a:xfrm>
            <a:off x="7531807" y="1304929"/>
            <a:ext cx="102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Parent </a:t>
            </a:r>
            <a:br>
              <a:rPr lang="en-US" dirty="0"/>
            </a:br>
            <a:r>
              <a:rPr lang="en-US" dirty="0"/>
              <a:t>FD table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BFF87-6A64-69CE-03BA-F4718DED6776}"/>
              </a:ext>
            </a:extLst>
          </p:cNvPr>
          <p:cNvSpPr txBox="1"/>
          <p:nvPr/>
        </p:nvSpPr>
        <p:spPr>
          <a:xfrm>
            <a:off x="8768067" y="1294655"/>
            <a:ext cx="1994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Open file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99CD46B-2BF0-A9DA-43C5-130D0186730A}"/>
              </a:ext>
            </a:extLst>
          </p:cNvPr>
          <p:cNvCxnSpPr>
            <a:cxnSpLocks/>
          </p:cNvCxnSpPr>
          <p:nvPr/>
        </p:nvCxnSpPr>
        <p:spPr>
          <a:xfrm flipV="1">
            <a:off x="8382000" y="2220773"/>
            <a:ext cx="793241" cy="1181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340A71F-B49D-CE19-B2D3-6C8060DACFCC}"/>
              </a:ext>
            </a:extLst>
          </p:cNvPr>
          <p:cNvGraphicFramePr>
            <a:graphicFrameLocks noGrp="1"/>
          </p:cNvGraphicFramePr>
          <p:nvPr/>
        </p:nvGraphicFramePr>
        <p:xfrm>
          <a:off x="10646916" y="3405673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access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435A0A8F-6F83-064F-B466-20028F74895F}"/>
              </a:ext>
            </a:extLst>
          </p:cNvPr>
          <p:cNvSpPr txBox="1"/>
          <p:nvPr/>
        </p:nvSpPr>
        <p:spPr>
          <a:xfrm>
            <a:off x="10496595" y="2654725"/>
            <a:ext cx="1603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v-node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35B1C64-D6B9-975F-1F21-CD392B8ADA30}"/>
              </a:ext>
            </a:extLst>
          </p:cNvPr>
          <p:cNvCxnSpPr>
            <a:cxnSpLocks/>
          </p:cNvCxnSpPr>
          <p:nvPr/>
        </p:nvCxnSpPr>
        <p:spPr>
          <a:xfrm>
            <a:off x="9986118" y="2977890"/>
            <a:ext cx="660798" cy="570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24C6EAAE-971B-37F7-726B-7794293964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84392"/>
              </p:ext>
            </p:extLst>
          </p:nvPr>
        </p:nvGraphicFramePr>
        <p:xfrm>
          <a:off x="7833290" y="4408525"/>
          <a:ext cx="7847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726">
                  <a:extLst>
                    <a:ext uri="{9D8B030D-6E8A-4147-A177-3AD203B41FA5}">
                      <a16:colId xmlns:a16="http://schemas.microsoft.com/office/drawing/2014/main" val="759203340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5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30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1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126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B7DE8E11-3509-88CF-FD58-AD5357898028}"/>
              </a:ext>
            </a:extLst>
          </p:cNvPr>
          <p:cNvSpPr txBox="1"/>
          <p:nvPr/>
        </p:nvSpPr>
        <p:spPr>
          <a:xfrm>
            <a:off x="7564663" y="3681579"/>
            <a:ext cx="102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Child </a:t>
            </a:r>
            <a:br>
              <a:rPr lang="en-US" dirty="0"/>
            </a:br>
            <a:r>
              <a:rPr lang="en-US" dirty="0"/>
              <a:t>FD table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30EE186-A27C-BAC1-3978-1BF696B41CBE}"/>
              </a:ext>
            </a:extLst>
          </p:cNvPr>
          <p:cNvCxnSpPr>
            <a:cxnSpLocks/>
          </p:cNvCxnSpPr>
          <p:nvPr/>
        </p:nvCxnSpPr>
        <p:spPr>
          <a:xfrm flipV="1">
            <a:off x="8383113" y="2289814"/>
            <a:ext cx="792128" cy="3433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7E81F6E-5F27-B657-F8D1-215250BEA98B}"/>
              </a:ext>
            </a:extLst>
          </p:cNvPr>
          <p:cNvGrpSpPr/>
          <p:nvPr/>
        </p:nvGrpSpPr>
        <p:grpSpPr>
          <a:xfrm>
            <a:off x="10160000" y="5157514"/>
            <a:ext cx="1652649" cy="677108"/>
            <a:chOff x="813349" y="1214405"/>
            <a:chExt cx="1652649" cy="677108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0620740-95E7-E12D-48E7-D3ED582F251F}"/>
                </a:ext>
              </a:extLst>
            </p:cNvPr>
            <p:cNvSpPr txBox="1"/>
            <p:nvPr/>
          </p:nvSpPr>
          <p:spPr>
            <a:xfrm>
              <a:off x="813349" y="1552959"/>
              <a:ext cx="1652649" cy="33855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lIns="182880" rIns="182880" rtlCol="0">
              <a:spAutoFit/>
            </a:bodyPr>
            <a:lstStyle/>
            <a:p>
              <a:pPr eaLnBrk="0" hangingPunct="0"/>
              <a:r>
                <a:rPr lang="en-US" sz="1600" b="1" i="0" dirty="0" err="1">
                  <a:solidFill>
                    <a:schemeClr val="tx2">
                      <a:lumMod val="75000"/>
                      <a:lumOff val="25000"/>
                    </a:schemeClr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r>
                <a:rPr lang="en-US" sz="1600" i="0" dirty="0" err="1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lang="en-US" sz="1600" b="0" i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cde</a:t>
              </a:r>
              <a:endPara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145D745-FFC7-19F8-4A1E-E0FBE6ACFB48}"/>
                </a:ext>
              </a:extLst>
            </p:cNvPr>
            <p:cNvSpPr txBox="1"/>
            <p:nvPr/>
          </p:nvSpPr>
          <p:spPr>
            <a:xfrm>
              <a:off x="813349" y="121440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 err="1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abcde.txt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EB859D51-1D87-7521-D4C8-77B9CBFB6FA7}"/>
              </a:ext>
            </a:extLst>
          </p:cNvPr>
          <p:cNvSpPr txBox="1"/>
          <p:nvPr/>
        </p:nvSpPr>
        <p:spPr>
          <a:xfrm>
            <a:off x="10211764" y="6033885"/>
            <a:ext cx="2285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c1 = ‘a’</a:t>
            </a:r>
          </a:p>
        </p:txBody>
      </p:sp>
    </p:spTree>
    <p:extLst>
      <p:ext uri="{BB962C8B-B14F-4D97-AF65-F5344CB8AC3E}">
        <p14:creationId xmlns:p14="http://schemas.microsoft.com/office/powerpoint/2010/main" val="3565521679"/>
      </p:ext>
    </p:extLst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98920-3229-5282-896A-1E8410AF5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>
            <a:extLst>
              <a:ext uri="{FF2B5EF4-FFF2-40B4-BE49-F238E27FC236}">
                <a16:creationId xmlns:a16="http://schemas.microsoft.com/office/drawing/2014/main" id="{9C9029F5-6CFE-5BA7-2A87-A1CCC704F7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2908" y="457200"/>
            <a:ext cx="8277893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Master Class: Process Control and I/O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1BFCF05-2CFB-43C2-FF3C-46FD0FD3B720}"/>
              </a:ext>
            </a:extLst>
          </p:cNvPr>
          <p:cNvGrpSpPr/>
          <p:nvPr/>
        </p:nvGrpSpPr>
        <p:grpSpPr>
          <a:xfrm>
            <a:off x="461245" y="1289541"/>
            <a:ext cx="6864116" cy="5084844"/>
            <a:chOff x="688656" y="1240315"/>
            <a:chExt cx="6864116" cy="508484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12F427F-964D-2204-ADFD-03096BF98D7C}"/>
                </a:ext>
              </a:extLst>
            </p:cNvPr>
            <p:cNvGrpSpPr/>
            <p:nvPr/>
          </p:nvGrpSpPr>
          <p:grpSpPr>
            <a:xfrm>
              <a:off x="786851" y="1553513"/>
              <a:ext cx="6765921" cy="4771646"/>
              <a:chOff x="770574" y="4161173"/>
              <a:chExt cx="7515531" cy="477164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4FD132D-398A-7A49-D1D8-6F466BF98A78}"/>
                  </a:ext>
                </a:extLst>
              </p:cNvPr>
              <p:cNvSpPr txBox="1"/>
              <p:nvPr/>
            </p:nvSpPr>
            <p:spPr>
              <a:xfrm>
                <a:off x="770574" y="4162282"/>
                <a:ext cx="454482" cy="47705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9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19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34ABFBB-28F5-1786-A009-C8B9447C9F3C}"/>
                  </a:ext>
                </a:extLst>
              </p:cNvPr>
              <p:cNvSpPr txBox="1"/>
              <p:nvPr/>
            </p:nvSpPr>
            <p:spPr>
              <a:xfrm>
                <a:off x="1225055" y="4161173"/>
                <a:ext cx="7061050" cy="477053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#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include</a:t>
                </a:r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 err="1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csapp.h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main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argc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[]) {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fd1;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1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s = </a:t>
                </a:r>
                <a:r>
                  <a:rPr lang="en-US" sz="1600" b="1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getpid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() &amp; 0x1;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c1, c2;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[1];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fd1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&amp;c1, 1); </a:t>
                </a:r>
              </a:p>
              <a:p>
                <a:pPr eaLnBrk="0" hangingPunct="0"/>
                <a:r>
                  <a:rPr lang="en-US" sz="1600" b="1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1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if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(fork()) { </a:t>
                </a:r>
                <a:r>
                  <a:rPr lang="en-US" sz="1600" b="1" i="0" dirty="0">
                    <a:solidFill>
                      <a:srgbClr val="008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/* Parent */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b="1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sleep(s);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 err="1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("Parent: c1 = %c, c2 = %c\n", c1, c2); </a:t>
                </a:r>
              </a:p>
              <a:p>
                <a:pPr eaLnBrk="0" hangingPunct="0"/>
                <a:r>
                  <a:rPr lang="en-US" sz="1600" b="1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 </a:t>
                </a:r>
                <a:r>
                  <a:rPr lang="en-US" sz="1600" b="1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else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{ </a:t>
                </a:r>
                <a:r>
                  <a:rPr lang="en-US" sz="1600" b="1" i="0" dirty="0">
                    <a:solidFill>
                      <a:srgbClr val="008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/* Child */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b="1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sleep(1-s);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 err="1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("Child: c1 = %c, c2 = %c\n", c1, c2); </a:t>
                </a:r>
              </a:p>
              <a:p>
                <a:pPr eaLnBrk="0" hangingPunct="0"/>
                <a:r>
                  <a:rPr lang="en-US" sz="1600" b="1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return 0;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  <a:endParaRPr lang="fi-FI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1E89E96-C6FA-C3AE-84C0-6C744C3C1917}"/>
                </a:ext>
              </a:extLst>
            </p:cNvPr>
            <p:cNvSpPr txBox="1"/>
            <p:nvPr/>
          </p:nvSpPr>
          <p:spPr>
            <a:xfrm>
              <a:off x="688656" y="124031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ffiles2.c</a:t>
              </a:r>
            </a:p>
          </p:txBody>
        </p:sp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EA6C650-84FA-867E-8DB6-D3C9A77862BF}"/>
              </a:ext>
            </a:extLst>
          </p:cNvPr>
          <p:cNvGraphicFramePr>
            <a:graphicFrameLocks noGrp="1"/>
          </p:cNvGraphicFramePr>
          <p:nvPr/>
        </p:nvGraphicFramePr>
        <p:xfrm>
          <a:off x="7800434" y="2031875"/>
          <a:ext cx="7847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726">
                  <a:extLst>
                    <a:ext uri="{9D8B030D-6E8A-4147-A177-3AD203B41FA5}">
                      <a16:colId xmlns:a16="http://schemas.microsoft.com/office/drawing/2014/main" val="759203340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5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30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1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12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A73BA76-6617-FABD-1159-1946987B01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7973554"/>
              </p:ext>
            </p:extLst>
          </p:nvPr>
        </p:nvGraphicFramePr>
        <p:xfrm>
          <a:off x="9175241" y="2007360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pos =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F379723-A1B7-E157-B4CA-89617FF6ACD6}"/>
              </a:ext>
            </a:extLst>
          </p:cNvPr>
          <p:cNvSpPr txBox="1"/>
          <p:nvPr/>
        </p:nvSpPr>
        <p:spPr>
          <a:xfrm>
            <a:off x="7531807" y="1304929"/>
            <a:ext cx="102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Parent </a:t>
            </a:r>
            <a:br>
              <a:rPr lang="en-US" dirty="0"/>
            </a:br>
            <a:r>
              <a:rPr lang="en-US" dirty="0"/>
              <a:t>FD table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C15DBA-3EAD-7F28-1A1D-651F0EBD9C7E}"/>
              </a:ext>
            </a:extLst>
          </p:cNvPr>
          <p:cNvSpPr txBox="1"/>
          <p:nvPr/>
        </p:nvSpPr>
        <p:spPr>
          <a:xfrm>
            <a:off x="8768067" y="1294655"/>
            <a:ext cx="1994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Open file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15E6DD1-10BF-1B00-6432-CBDF03B46F98}"/>
              </a:ext>
            </a:extLst>
          </p:cNvPr>
          <p:cNvCxnSpPr>
            <a:cxnSpLocks/>
          </p:cNvCxnSpPr>
          <p:nvPr/>
        </p:nvCxnSpPr>
        <p:spPr>
          <a:xfrm flipV="1">
            <a:off x="8382000" y="2220773"/>
            <a:ext cx="793241" cy="1181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56746EF-08E3-5280-46EE-856876F52C89}"/>
              </a:ext>
            </a:extLst>
          </p:cNvPr>
          <p:cNvGraphicFramePr>
            <a:graphicFrameLocks noGrp="1"/>
          </p:cNvGraphicFramePr>
          <p:nvPr/>
        </p:nvGraphicFramePr>
        <p:xfrm>
          <a:off x="10646916" y="3405673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access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0B5E5438-1D37-2708-930A-93108BBC31CD}"/>
              </a:ext>
            </a:extLst>
          </p:cNvPr>
          <p:cNvSpPr txBox="1"/>
          <p:nvPr/>
        </p:nvSpPr>
        <p:spPr>
          <a:xfrm>
            <a:off x="10496595" y="2654725"/>
            <a:ext cx="1603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v-node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CB038AC-1E1E-72CB-30C5-1D36D3FFA0D2}"/>
              </a:ext>
            </a:extLst>
          </p:cNvPr>
          <p:cNvCxnSpPr>
            <a:cxnSpLocks/>
          </p:cNvCxnSpPr>
          <p:nvPr/>
        </p:nvCxnSpPr>
        <p:spPr>
          <a:xfrm>
            <a:off x="9986118" y="2977890"/>
            <a:ext cx="660798" cy="570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1E511EE6-5084-A68D-C018-2C66A0755802}"/>
              </a:ext>
            </a:extLst>
          </p:cNvPr>
          <p:cNvGraphicFramePr>
            <a:graphicFrameLocks noGrp="1"/>
          </p:cNvGraphicFramePr>
          <p:nvPr/>
        </p:nvGraphicFramePr>
        <p:xfrm>
          <a:off x="7833290" y="4408525"/>
          <a:ext cx="7847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726">
                  <a:extLst>
                    <a:ext uri="{9D8B030D-6E8A-4147-A177-3AD203B41FA5}">
                      <a16:colId xmlns:a16="http://schemas.microsoft.com/office/drawing/2014/main" val="759203340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5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30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1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126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E9076F60-2ED1-59E4-66E3-376ABA8A06DB}"/>
              </a:ext>
            </a:extLst>
          </p:cNvPr>
          <p:cNvSpPr txBox="1"/>
          <p:nvPr/>
        </p:nvSpPr>
        <p:spPr>
          <a:xfrm>
            <a:off x="7564663" y="3681579"/>
            <a:ext cx="102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Child </a:t>
            </a:r>
            <a:br>
              <a:rPr lang="en-US" dirty="0"/>
            </a:br>
            <a:r>
              <a:rPr lang="en-US" dirty="0"/>
              <a:t>FD table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D81698F-F1C3-816F-D7DA-EC44C4B9E6C2}"/>
              </a:ext>
            </a:extLst>
          </p:cNvPr>
          <p:cNvCxnSpPr>
            <a:cxnSpLocks/>
          </p:cNvCxnSpPr>
          <p:nvPr/>
        </p:nvCxnSpPr>
        <p:spPr>
          <a:xfrm flipV="1">
            <a:off x="8383113" y="2289814"/>
            <a:ext cx="792128" cy="3433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97056F5-83AE-B442-3C64-2D080C5630B8}"/>
              </a:ext>
            </a:extLst>
          </p:cNvPr>
          <p:cNvGrpSpPr/>
          <p:nvPr/>
        </p:nvGrpSpPr>
        <p:grpSpPr>
          <a:xfrm>
            <a:off x="10160000" y="5157514"/>
            <a:ext cx="1652649" cy="677108"/>
            <a:chOff x="813349" y="1214405"/>
            <a:chExt cx="1652649" cy="677108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79D3AB4-C48F-64DA-8CA4-0440ED1CFAAA}"/>
                </a:ext>
              </a:extLst>
            </p:cNvPr>
            <p:cNvSpPr txBox="1"/>
            <p:nvPr/>
          </p:nvSpPr>
          <p:spPr>
            <a:xfrm>
              <a:off x="813349" y="1552959"/>
              <a:ext cx="1652649" cy="33855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lIns="182880" rIns="182880" rtlCol="0">
              <a:spAutoFit/>
            </a:bodyPr>
            <a:lstStyle/>
            <a:p>
              <a:pPr eaLnBrk="0" hangingPunct="0"/>
              <a:r>
                <a:rPr lang="en-US" sz="1600" b="1" i="0" dirty="0" err="1">
                  <a:solidFill>
                    <a:schemeClr val="tx2">
                      <a:lumMod val="75000"/>
                      <a:lumOff val="25000"/>
                    </a:schemeClr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r>
                <a:rPr lang="en-US" sz="1600" i="0" dirty="0" err="1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lang="en-US" sz="1600" b="0" i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cde</a:t>
              </a:r>
              <a:endPara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8597325-D5F5-F64E-A602-56D0E6788DE9}"/>
                </a:ext>
              </a:extLst>
            </p:cNvPr>
            <p:cNvSpPr txBox="1"/>
            <p:nvPr/>
          </p:nvSpPr>
          <p:spPr>
            <a:xfrm>
              <a:off x="813349" y="121440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 err="1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abcde.txt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FBE23784-9683-E033-A823-A08C753716F0}"/>
              </a:ext>
            </a:extLst>
          </p:cNvPr>
          <p:cNvSpPr txBox="1"/>
          <p:nvPr/>
        </p:nvSpPr>
        <p:spPr>
          <a:xfrm>
            <a:off x="10211764" y="6033885"/>
            <a:ext cx="2285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c1 = ‘a’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343EA8-235E-2E25-2D8E-985B82238E3A}"/>
              </a:ext>
            </a:extLst>
          </p:cNvPr>
          <p:cNvSpPr txBox="1"/>
          <p:nvPr/>
        </p:nvSpPr>
        <p:spPr>
          <a:xfrm>
            <a:off x="4891757" y="3514173"/>
            <a:ext cx="2360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how long will the</a:t>
            </a:r>
            <a:b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parent sleep?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5A1BE0-FF71-A7DE-1A35-A8E3BCA8C497}"/>
              </a:ext>
            </a:extLst>
          </p:cNvPr>
          <p:cNvSpPr txBox="1"/>
          <p:nvPr/>
        </p:nvSpPr>
        <p:spPr>
          <a:xfrm>
            <a:off x="4891757" y="4588342"/>
            <a:ext cx="2360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how long will the</a:t>
            </a:r>
            <a:b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child sleep?</a:t>
            </a:r>
          </a:p>
        </p:txBody>
      </p:sp>
    </p:spTree>
    <p:extLst>
      <p:ext uri="{BB962C8B-B14F-4D97-AF65-F5344CB8AC3E}">
        <p14:creationId xmlns:p14="http://schemas.microsoft.com/office/powerpoint/2010/main" val="3230088917"/>
      </p:ext>
    </p:extLst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AE6F7-6001-F12E-4000-75EB94877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>
            <a:extLst>
              <a:ext uri="{FF2B5EF4-FFF2-40B4-BE49-F238E27FC236}">
                <a16:creationId xmlns:a16="http://schemas.microsoft.com/office/drawing/2014/main" id="{2CA7E916-144A-BBA7-FBFF-8E10CF1CDF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2908" y="457200"/>
            <a:ext cx="8277893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Master Class: Process Control and I/O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3697DCF-E99D-39E2-DD55-3482683A5477}"/>
              </a:ext>
            </a:extLst>
          </p:cNvPr>
          <p:cNvGrpSpPr/>
          <p:nvPr/>
        </p:nvGrpSpPr>
        <p:grpSpPr>
          <a:xfrm>
            <a:off x="461245" y="1289541"/>
            <a:ext cx="6864116" cy="5084844"/>
            <a:chOff x="688656" y="1240315"/>
            <a:chExt cx="6864116" cy="508484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6C0F0CDF-F724-BCB3-3BDF-D77BA79B7A20}"/>
                </a:ext>
              </a:extLst>
            </p:cNvPr>
            <p:cNvGrpSpPr/>
            <p:nvPr/>
          </p:nvGrpSpPr>
          <p:grpSpPr>
            <a:xfrm>
              <a:off x="786851" y="1553513"/>
              <a:ext cx="6765921" cy="4771646"/>
              <a:chOff x="770574" y="4161173"/>
              <a:chExt cx="7515531" cy="477164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6DC6327-73AA-0ACB-C036-A2A706B8EF8D}"/>
                  </a:ext>
                </a:extLst>
              </p:cNvPr>
              <p:cNvSpPr txBox="1"/>
              <p:nvPr/>
            </p:nvSpPr>
            <p:spPr>
              <a:xfrm>
                <a:off x="770574" y="4162282"/>
                <a:ext cx="454482" cy="47705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9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19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1BB6EC4-487B-6995-785F-3880DB195D3D}"/>
                  </a:ext>
                </a:extLst>
              </p:cNvPr>
              <p:cNvSpPr txBox="1"/>
              <p:nvPr/>
            </p:nvSpPr>
            <p:spPr>
              <a:xfrm>
                <a:off x="1225055" y="4161173"/>
                <a:ext cx="7061050" cy="477053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#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include</a:t>
                </a:r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 err="1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csapp.h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main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argc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[]) {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fd1;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s = </a:t>
                </a:r>
                <a:r>
                  <a:rPr lang="en-US" sz="160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getpid</a:t>
                </a:r>
                <a:r>
                  <a:rPr lang="en-US" sz="160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() &amp; 0x1;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c1, c2;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[1];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fd1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&amp;c1, 1); </a:t>
                </a:r>
              </a:p>
              <a:p>
                <a:pPr eaLnBrk="0" hangingPunct="0"/>
                <a:r>
                  <a:rPr lang="en-US" sz="1600" b="1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if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(fork()) { </a:t>
                </a:r>
                <a:r>
                  <a:rPr lang="en-US" sz="1600" b="0" i="0" dirty="0">
                    <a:solidFill>
                      <a:srgbClr val="008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/* Parent */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sleep(s); </a:t>
                </a:r>
              </a:p>
              <a:p>
                <a:pPr eaLnBrk="0" hangingPunct="0"/>
                <a:r>
                  <a:rPr lang="en-US" sz="1600" b="1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&amp;c2, 1); </a:t>
                </a:r>
              </a:p>
              <a:p>
                <a:pPr eaLnBrk="0" hangingPunct="0"/>
                <a:r>
                  <a:rPr lang="en-US" sz="1600" b="1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1" i="0" dirty="0" err="1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1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"Parent: c1 = %c, c2 = %c\n"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c1, c2);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 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else { /* Child */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sleep(1-s);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 err="1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("Child: c1 = %c, c2 = %c\n", c1, c2);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return 0;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  <a:endParaRPr lang="fi-FI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22A92EB-CD43-6C23-F316-96C4B65EA30E}"/>
                </a:ext>
              </a:extLst>
            </p:cNvPr>
            <p:cNvSpPr txBox="1"/>
            <p:nvPr/>
          </p:nvSpPr>
          <p:spPr>
            <a:xfrm>
              <a:off x="688656" y="124031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ffiles2.c</a:t>
              </a:r>
            </a:p>
          </p:txBody>
        </p:sp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7D8F5DB-6235-89CD-AB96-0518DAF4CCDD}"/>
              </a:ext>
            </a:extLst>
          </p:cNvPr>
          <p:cNvGraphicFramePr>
            <a:graphicFrameLocks noGrp="1"/>
          </p:cNvGraphicFramePr>
          <p:nvPr/>
        </p:nvGraphicFramePr>
        <p:xfrm>
          <a:off x="7800434" y="2031875"/>
          <a:ext cx="7847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726">
                  <a:extLst>
                    <a:ext uri="{9D8B030D-6E8A-4147-A177-3AD203B41FA5}">
                      <a16:colId xmlns:a16="http://schemas.microsoft.com/office/drawing/2014/main" val="759203340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5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30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1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12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0F1692D-ECAB-FA50-2824-76B1BB6452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9550014"/>
              </p:ext>
            </p:extLst>
          </p:nvPr>
        </p:nvGraphicFramePr>
        <p:xfrm>
          <a:off x="9175241" y="2007360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file pos =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EE85AF9-7790-3966-8383-A0BF189548A4}"/>
              </a:ext>
            </a:extLst>
          </p:cNvPr>
          <p:cNvSpPr txBox="1"/>
          <p:nvPr/>
        </p:nvSpPr>
        <p:spPr>
          <a:xfrm>
            <a:off x="7531807" y="1304929"/>
            <a:ext cx="102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Parent </a:t>
            </a:r>
            <a:br>
              <a:rPr lang="en-US" dirty="0"/>
            </a:br>
            <a:r>
              <a:rPr lang="en-US" dirty="0"/>
              <a:t>FD table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FCB8A5-3CA0-CF13-3A23-B1AFA8457F8A}"/>
              </a:ext>
            </a:extLst>
          </p:cNvPr>
          <p:cNvSpPr txBox="1"/>
          <p:nvPr/>
        </p:nvSpPr>
        <p:spPr>
          <a:xfrm>
            <a:off x="8768067" y="1294655"/>
            <a:ext cx="1994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Open file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43E5D42-6D41-6296-4996-5D0CB1C6BBA4}"/>
              </a:ext>
            </a:extLst>
          </p:cNvPr>
          <p:cNvCxnSpPr>
            <a:cxnSpLocks/>
          </p:cNvCxnSpPr>
          <p:nvPr/>
        </p:nvCxnSpPr>
        <p:spPr>
          <a:xfrm flipV="1">
            <a:off x="8382000" y="2220773"/>
            <a:ext cx="793241" cy="1181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F4829C4-3521-F9A6-9DAB-29421E8A2D5F}"/>
              </a:ext>
            </a:extLst>
          </p:cNvPr>
          <p:cNvGraphicFramePr>
            <a:graphicFrameLocks noGrp="1"/>
          </p:cNvGraphicFramePr>
          <p:nvPr/>
        </p:nvGraphicFramePr>
        <p:xfrm>
          <a:off x="10646916" y="3405673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access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A796BB1D-C70C-1A7B-698E-5A57E384C174}"/>
              </a:ext>
            </a:extLst>
          </p:cNvPr>
          <p:cNvSpPr txBox="1"/>
          <p:nvPr/>
        </p:nvSpPr>
        <p:spPr>
          <a:xfrm>
            <a:off x="10496595" y="2654725"/>
            <a:ext cx="1603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v-node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665C572-36B3-D2F4-B27E-C9B6941CB9EB}"/>
              </a:ext>
            </a:extLst>
          </p:cNvPr>
          <p:cNvCxnSpPr>
            <a:cxnSpLocks/>
          </p:cNvCxnSpPr>
          <p:nvPr/>
        </p:nvCxnSpPr>
        <p:spPr>
          <a:xfrm>
            <a:off x="9986118" y="2977890"/>
            <a:ext cx="660798" cy="570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09EAA4E3-6104-6F9C-25FB-2DBA12FC1C98}"/>
              </a:ext>
            </a:extLst>
          </p:cNvPr>
          <p:cNvGraphicFramePr>
            <a:graphicFrameLocks noGrp="1"/>
          </p:cNvGraphicFramePr>
          <p:nvPr/>
        </p:nvGraphicFramePr>
        <p:xfrm>
          <a:off x="7833290" y="4408525"/>
          <a:ext cx="7847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726">
                  <a:extLst>
                    <a:ext uri="{9D8B030D-6E8A-4147-A177-3AD203B41FA5}">
                      <a16:colId xmlns:a16="http://schemas.microsoft.com/office/drawing/2014/main" val="759203340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5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30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1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126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96E94A66-8C7D-78DE-2142-3A4130987F02}"/>
              </a:ext>
            </a:extLst>
          </p:cNvPr>
          <p:cNvSpPr txBox="1"/>
          <p:nvPr/>
        </p:nvSpPr>
        <p:spPr>
          <a:xfrm>
            <a:off x="7564663" y="3681579"/>
            <a:ext cx="102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Child </a:t>
            </a:r>
            <a:br>
              <a:rPr lang="en-US" dirty="0"/>
            </a:br>
            <a:r>
              <a:rPr lang="en-US" dirty="0"/>
              <a:t>FD table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A16885F-F617-97A2-4F7E-4E79C5C52248}"/>
              </a:ext>
            </a:extLst>
          </p:cNvPr>
          <p:cNvCxnSpPr>
            <a:cxnSpLocks/>
          </p:cNvCxnSpPr>
          <p:nvPr/>
        </p:nvCxnSpPr>
        <p:spPr>
          <a:xfrm flipV="1">
            <a:off x="8383113" y="2289814"/>
            <a:ext cx="792128" cy="3433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B471B1C-0ED7-EF90-1625-E9DB0F3E93BD}"/>
              </a:ext>
            </a:extLst>
          </p:cNvPr>
          <p:cNvGrpSpPr/>
          <p:nvPr/>
        </p:nvGrpSpPr>
        <p:grpSpPr>
          <a:xfrm>
            <a:off x="10160000" y="5157514"/>
            <a:ext cx="1652649" cy="677108"/>
            <a:chOff x="813349" y="1214405"/>
            <a:chExt cx="1652649" cy="677108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D4A2EB5-61DC-2521-DBDE-3EB781C1D438}"/>
                </a:ext>
              </a:extLst>
            </p:cNvPr>
            <p:cNvSpPr txBox="1"/>
            <p:nvPr/>
          </p:nvSpPr>
          <p:spPr>
            <a:xfrm>
              <a:off x="813349" y="1552959"/>
              <a:ext cx="1652649" cy="33855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lIns="182880" rIns="182880" rtlCol="0">
              <a:spAutoFit/>
            </a:bodyPr>
            <a:lstStyle/>
            <a:p>
              <a:pPr eaLnBrk="0" hangingPunct="0"/>
              <a:r>
                <a:rPr lang="en-US" sz="1600" i="0" dirty="0" err="1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r>
                <a:rPr lang="en-US" sz="1600" b="1" i="0" dirty="0" err="1">
                  <a:solidFill>
                    <a:schemeClr val="tx2">
                      <a:lumMod val="75000"/>
                      <a:lumOff val="25000"/>
                    </a:schemeClr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lang="en-US" sz="1600" b="0" i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cde</a:t>
              </a:r>
              <a:endPara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0B09C26-8444-BCFD-F56D-2C6DA8CDA1F0}"/>
                </a:ext>
              </a:extLst>
            </p:cNvPr>
            <p:cNvSpPr txBox="1"/>
            <p:nvPr/>
          </p:nvSpPr>
          <p:spPr>
            <a:xfrm>
              <a:off x="813349" y="121440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 err="1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abcde.txt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9E76E53D-89DE-C1C0-4A7A-812ED483C116}"/>
              </a:ext>
            </a:extLst>
          </p:cNvPr>
          <p:cNvSpPr txBox="1"/>
          <p:nvPr/>
        </p:nvSpPr>
        <p:spPr>
          <a:xfrm>
            <a:off x="8877011" y="4635572"/>
            <a:ext cx="2360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read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A0271C-DDA0-89AB-EDD9-D1180663E41B}"/>
              </a:ext>
            </a:extLst>
          </p:cNvPr>
          <p:cNvSpPr txBox="1"/>
          <p:nvPr/>
        </p:nvSpPr>
        <p:spPr>
          <a:xfrm>
            <a:off x="10155783" y="5950723"/>
            <a:ext cx="2285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parent c2 = ‘b’</a:t>
            </a:r>
          </a:p>
        </p:txBody>
      </p:sp>
    </p:spTree>
    <p:extLst>
      <p:ext uri="{BB962C8B-B14F-4D97-AF65-F5344CB8AC3E}">
        <p14:creationId xmlns:p14="http://schemas.microsoft.com/office/powerpoint/2010/main" val="3949344491"/>
      </p:ext>
    </p:extLst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EE266-702E-F25A-535E-2F9350BAB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>
            <a:extLst>
              <a:ext uri="{FF2B5EF4-FFF2-40B4-BE49-F238E27FC236}">
                <a16:creationId xmlns:a16="http://schemas.microsoft.com/office/drawing/2014/main" id="{7FDDA30A-C3A6-5BC9-A3BB-119369469F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2908" y="457200"/>
            <a:ext cx="8277893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Master Class: Process Control and I/O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F2E1367-4EEA-F5F2-7DAA-7F49B65BEFDC}"/>
              </a:ext>
            </a:extLst>
          </p:cNvPr>
          <p:cNvGrpSpPr/>
          <p:nvPr/>
        </p:nvGrpSpPr>
        <p:grpSpPr>
          <a:xfrm>
            <a:off x="461245" y="1289541"/>
            <a:ext cx="6864116" cy="5084844"/>
            <a:chOff x="688656" y="1240315"/>
            <a:chExt cx="6864116" cy="508484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085139A7-312E-972B-CAB6-F189C045C077}"/>
                </a:ext>
              </a:extLst>
            </p:cNvPr>
            <p:cNvGrpSpPr/>
            <p:nvPr/>
          </p:nvGrpSpPr>
          <p:grpSpPr>
            <a:xfrm>
              <a:off x="786851" y="1553513"/>
              <a:ext cx="6765921" cy="4771646"/>
              <a:chOff x="770574" y="4161173"/>
              <a:chExt cx="7515531" cy="477164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994E0E2-EE6A-CA9B-1476-A61460F32EE1}"/>
                  </a:ext>
                </a:extLst>
              </p:cNvPr>
              <p:cNvSpPr txBox="1"/>
              <p:nvPr/>
            </p:nvSpPr>
            <p:spPr>
              <a:xfrm>
                <a:off x="770574" y="4162282"/>
                <a:ext cx="454482" cy="47705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9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19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5570AE0-629A-5FEF-7AEF-04888419ADEC}"/>
                  </a:ext>
                </a:extLst>
              </p:cNvPr>
              <p:cNvSpPr txBox="1"/>
              <p:nvPr/>
            </p:nvSpPr>
            <p:spPr>
              <a:xfrm>
                <a:off x="1225055" y="4161173"/>
                <a:ext cx="7061050" cy="477053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#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include</a:t>
                </a:r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 err="1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csapp.h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main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argc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[]) {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fd1;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s = </a:t>
                </a:r>
                <a:r>
                  <a:rPr lang="en-US" sz="160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getpid</a:t>
                </a:r>
                <a:r>
                  <a:rPr lang="en-US" sz="160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() &amp; 0x1;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c1, c2;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[1];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fd1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&amp;c1, 1); </a:t>
                </a:r>
              </a:p>
              <a:p>
                <a:pPr eaLnBrk="0" hangingPunct="0"/>
                <a:r>
                  <a:rPr lang="en-US" sz="1600" b="1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if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(fork()) { </a:t>
                </a:r>
                <a:r>
                  <a:rPr lang="en-US" sz="1600" b="0" i="0" dirty="0">
                    <a:solidFill>
                      <a:srgbClr val="008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/* Parent */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sleep(s); </a:t>
                </a:r>
              </a:p>
              <a:p>
                <a:pPr eaLnBrk="0" hangingPunct="0"/>
                <a:r>
                  <a:rPr lang="en-US" sz="1600" b="1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&amp;c2, 1); </a:t>
                </a:r>
              </a:p>
              <a:p>
                <a:pPr eaLnBrk="0" hangingPunct="0"/>
                <a:r>
                  <a:rPr lang="en-US" sz="1600" b="1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1" i="0" dirty="0" err="1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1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"Parent: c1 = %c, c2 = %c\n"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c1, c2);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 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else { /* Child */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sleep(1-s);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 err="1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("Child: c1 = %c, c2 = %c\n", c1, c2);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return 0;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  <a:endParaRPr lang="fi-FI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B3ABC75-0485-740B-C134-D3980EAD51B8}"/>
                </a:ext>
              </a:extLst>
            </p:cNvPr>
            <p:cNvSpPr txBox="1"/>
            <p:nvPr/>
          </p:nvSpPr>
          <p:spPr>
            <a:xfrm>
              <a:off x="688656" y="124031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ffiles2.c</a:t>
              </a:r>
            </a:p>
          </p:txBody>
        </p:sp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AE618A6-827B-BA1E-FE1D-DC939D7745D7}"/>
              </a:ext>
            </a:extLst>
          </p:cNvPr>
          <p:cNvGraphicFramePr>
            <a:graphicFrameLocks noGrp="1"/>
          </p:cNvGraphicFramePr>
          <p:nvPr/>
        </p:nvGraphicFramePr>
        <p:xfrm>
          <a:off x="7800434" y="2031875"/>
          <a:ext cx="7847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726">
                  <a:extLst>
                    <a:ext uri="{9D8B030D-6E8A-4147-A177-3AD203B41FA5}">
                      <a16:colId xmlns:a16="http://schemas.microsoft.com/office/drawing/2014/main" val="759203340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5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30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1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12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269F343-FD14-65DC-7F79-38C80A4BE4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4525374"/>
              </p:ext>
            </p:extLst>
          </p:nvPr>
        </p:nvGraphicFramePr>
        <p:xfrm>
          <a:off x="9175241" y="2007360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file pos =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CD0060B-1107-CBBA-1BA1-E841444C3F33}"/>
              </a:ext>
            </a:extLst>
          </p:cNvPr>
          <p:cNvSpPr txBox="1"/>
          <p:nvPr/>
        </p:nvSpPr>
        <p:spPr>
          <a:xfrm>
            <a:off x="7531807" y="1304929"/>
            <a:ext cx="102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Parent </a:t>
            </a:r>
            <a:br>
              <a:rPr lang="en-US" dirty="0"/>
            </a:br>
            <a:r>
              <a:rPr lang="en-US" dirty="0"/>
              <a:t>FD table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883A5B-55AF-D8F2-5A99-2F56C88FD15A}"/>
              </a:ext>
            </a:extLst>
          </p:cNvPr>
          <p:cNvSpPr txBox="1"/>
          <p:nvPr/>
        </p:nvSpPr>
        <p:spPr>
          <a:xfrm>
            <a:off x="8768067" y="1294655"/>
            <a:ext cx="1994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Open file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CF62D9A-1D93-A3AE-336F-E8B94995A4F3}"/>
              </a:ext>
            </a:extLst>
          </p:cNvPr>
          <p:cNvCxnSpPr>
            <a:cxnSpLocks/>
          </p:cNvCxnSpPr>
          <p:nvPr/>
        </p:nvCxnSpPr>
        <p:spPr>
          <a:xfrm flipV="1">
            <a:off x="8382000" y="2220773"/>
            <a:ext cx="793241" cy="1181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3718D99-8F29-B355-9982-EC2891113F23}"/>
              </a:ext>
            </a:extLst>
          </p:cNvPr>
          <p:cNvGraphicFramePr>
            <a:graphicFrameLocks noGrp="1"/>
          </p:cNvGraphicFramePr>
          <p:nvPr/>
        </p:nvGraphicFramePr>
        <p:xfrm>
          <a:off x="10646916" y="3405673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access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8539D754-8E4A-72A1-D079-F56900C313ED}"/>
              </a:ext>
            </a:extLst>
          </p:cNvPr>
          <p:cNvSpPr txBox="1"/>
          <p:nvPr/>
        </p:nvSpPr>
        <p:spPr>
          <a:xfrm>
            <a:off x="10496595" y="2654725"/>
            <a:ext cx="1603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v-node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4E7D684-401F-DA62-1EF1-511361BBD436}"/>
              </a:ext>
            </a:extLst>
          </p:cNvPr>
          <p:cNvCxnSpPr>
            <a:cxnSpLocks/>
          </p:cNvCxnSpPr>
          <p:nvPr/>
        </p:nvCxnSpPr>
        <p:spPr>
          <a:xfrm>
            <a:off x="9986118" y="2977890"/>
            <a:ext cx="660798" cy="570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9C369A70-80DD-BAE3-7906-8A543FB6EA66}"/>
              </a:ext>
            </a:extLst>
          </p:cNvPr>
          <p:cNvGraphicFramePr>
            <a:graphicFrameLocks noGrp="1"/>
          </p:cNvGraphicFramePr>
          <p:nvPr/>
        </p:nvGraphicFramePr>
        <p:xfrm>
          <a:off x="7833290" y="4408525"/>
          <a:ext cx="7847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726">
                  <a:extLst>
                    <a:ext uri="{9D8B030D-6E8A-4147-A177-3AD203B41FA5}">
                      <a16:colId xmlns:a16="http://schemas.microsoft.com/office/drawing/2014/main" val="759203340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5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30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1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126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0F0AE565-5DB2-CDDC-21EB-B6C18259E1EB}"/>
              </a:ext>
            </a:extLst>
          </p:cNvPr>
          <p:cNvSpPr txBox="1"/>
          <p:nvPr/>
        </p:nvSpPr>
        <p:spPr>
          <a:xfrm>
            <a:off x="7564663" y="3681579"/>
            <a:ext cx="102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Child </a:t>
            </a:r>
            <a:br>
              <a:rPr lang="en-US" dirty="0"/>
            </a:br>
            <a:r>
              <a:rPr lang="en-US" dirty="0"/>
              <a:t>FD table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831B1CA-832F-BB9C-8D20-38FD9F4B72B7}"/>
              </a:ext>
            </a:extLst>
          </p:cNvPr>
          <p:cNvCxnSpPr>
            <a:cxnSpLocks/>
          </p:cNvCxnSpPr>
          <p:nvPr/>
        </p:nvCxnSpPr>
        <p:spPr>
          <a:xfrm flipV="1">
            <a:off x="8383113" y="2289814"/>
            <a:ext cx="792128" cy="3433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B192459-9C8B-16CD-071B-9F761F9F2E15}"/>
              </a:ext>
            </a:extLst>
          </p:cNvPr>
          <p:cNvGrpSpPr/>
          <p:nvPr/>
        </p:nvGrpSpPr>
        <p:grpSpPr>
          <a:xfrm>
            <a:off x="10160000" y="5157514"/>
            <a:ext cx="1652649" cy="677108"/>
            <a:chOff x="813349" y="1214405"/>
            <a:chExt cx="1652649" cy="677108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C80E4D7-75A0-5EE0-0374-1B542203BC00}"/>
                </a:ext>
              </a:extLst>
            </p:cNvPr>
            <p:cNvSpPr txBox="1"/>
            <p:nvPr/>
          </p:nvSpPr>
          <p:spPr>
            <a:xfrm>
              <a:off x="813349" y="1552959"/>
              <a:ext cx="1652649" cy="33855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lIns="182880" rIns="182880" rtlCol="0">
              <a:spAutoFit/>
            </a:bodyPr>
            <a:lstStyle/>
            <a:p>
              <a:pPr eaLnBrk="0" hangingPunct="0"/>
              <a:r>
                <a:rPr lang="en-US" sz="1600" i="0" dirty="0" err="1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r>
                <a:rPr lang="en-US" sz="1600" b="1" i="0" dirty="0" err="1">
                  <a:solidFill>
                    <a:schemeClr val="tx2">
                      <a:lumMod val="75000"/>
                      <a:lumOff val="25000"/>
                    </a:schemeClr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lang="en-US" sz="1600" b="0" i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cde</a:t>
              </a:r>
              <a:endPara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DE6629D-19AE-7B39-CEEC-3E387B660F79}"/>
                </a:ext>
              </a:extLst>
            </p:cNvPr>
            <p:cNvSpPr txBox="1"/>
            <p:nvPr/>
          </p:nvSpPr>
          <p:spPr>
            <a:xfrm>
              <a:off x="813349" y="121440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 err="1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abcde.txt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6D4FC83-5529-FFC2-CF3A-1012E6A9A372}"/>
              </a:ext>
            </a:extLst>
          </p:cNvPr>
          <p:cNvSpPr txBox="1"/>
          <p:nvPr/>
        </p:nvSpPr>
        <p:spPr>
          <a:xfrm>
            <a:off x="8877011" y="4635572"/>
            <a:ext cx="2360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read and increment file position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C0AD0B-AB55-6F17-83D2-44B885162170}"/>
              </a:ext>
            </a:extLst>
          </p:cNvPr>
          <p:cNvSpPr txBox="1"/>
          <p:nvPr/>
        </p:nvSpPr>
        <p:spPr>
          <a:xfrm>
            <a:off x="10155783" y="5950723"/>
            <a:ext cx="2285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parent c2 = ‘b’</a:t>
            </a:r>
          </a:p>
        </p:txBody>
      </p:sp>
    </p:spTree>
    <p:extLst>
      <p:ext uri="{BB962C8B-B14F-4D97-AF65-F5344CB8AC3E}">
        <p14:creationId xmlns:p14="http://schemas.microsoft.com/office/powerpoint/2010/main" val="2392845762"/>
      </p:ext>
    </p:extLst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09FBF-D66A-6D47-AEB1-8F0BC8867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>
            <a:extLst>
              <a:ext uri="{FF2B5EF4-FFF2-40B4-BE49-F238E27FC236}">
                <a16:creationId xmlns:a16="http://schemas.microsoft.com/office/drawing/2014/main" id="{9C0FA90F-13BB-A2C0-0A40-B8EAE1734E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2908" y="457200"/>
            <a:ext cx="8277893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Master Class: Process Control and I/O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607D809-89E2-5F11-36BA-57E0C8136450}"/>
              </a:ext>
            </a:extLst>
          </p:cNvPr>
          <p:cNvGrpSpPr/>
          <p:nvPr/>
        </p:nvGrpSpPr>
        <p:grpSpPr>
          <a:xfrm>
            <a:off x="461245" y="1289541"/>
            <a:ext cx="6864116" cy="5084844"/>
            <a:chOff x="688656" y="1240315"/>
            <a:chExt cx="6864116" cy="508484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DA0D526B-0347-E2D9-2C94-EA6019C8E3B6}"/>
                </a:ext>
              </a:extLst>
            </p:cNvPr>
            <p:cNvGrpSpPr/>
            <p:nvPr/>
          </p:nvGrpSpPr>
          <p:grpSpPr>
            <a:xfrm>
              <a:off x="786851" y="1553513"/>
              <a:ext cx="6765921" cy="4771646"/>
              <a:chOff x="770574" y="4161173"/>
              <a:chExt cx="7515531" cy="477164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93CAFBC-BDD6-DF96-03AB-E6E4DDAEB837}"/>
                  </a:ext>
                </a:extLst>
              </p:cNvPr>
              <p:cNvSpPr txBox="1"/>
              <p:nvPr/>
            </p:nvSpPr>
            <p:spPr>
              <a:xfrm>
                <a:off x="770574" y="4162282"/>
                <a:ext cx="454482" cy="47705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9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19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78A6BAC-8440-0F5F-89A8-A2395325F84F}"/>
                  </a:ext>
                </a:extLst>
              </p:cNvPr>
              <p:cNvSpPr txBox="1"/>
              <p:nvPr/>
            </p:nvSpPr>
            <p:spPr>
              <a:xfrm>
                <a:off x="1225055" y="4161173"/>
                <a:ext cx="7061050" cy="477053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#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include</a:t>
                </a:r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 err="1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csapp.h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main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argc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[]) {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fd1;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s = </a:t>
                </a:r>
                <a:r>
                  <a:rPr lang="en-US" sz="160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getpid</a:t>
                </a:r>
                <a:r>
                  <a:rPr lang="en-US" sz="160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() &amp; 0x1;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c1, c2;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[1];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fd1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&amp;c1, 1); </a:t>
                </a:r>
              </a:p>
              <a:p>
                <a:pPr eaLnBrk="0" hangingPunct="0"/>
                <a:r>
                  <a:rPr lang="en-US" sz="1600" b="1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if (fork()) { /* Parent */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sleep(s);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i="0" dirty="0" err="1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("Parent: c1 = %c, c2 = %c\n", c1, c2);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} 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else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{ </a:t>
                </a:r>
                <a:r>
                  <a:rPr lang="en-US" sz="1600" b="0" i="0" dirty="0">
                    <a:solidFill>
                      <a:srgbClr val="008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/* Child */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sleep(1-s);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&amp;c2, 1); </a:t>
                </a:r>
              </a:p>
              <a:p>
                <a:pPr eaLnBrk="0" hangingPunct="0"/>
                <a:r>
                  <a:rPr lang="en-US" sz="1600" b="1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1" i="0" dirty="0" err="1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1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"Child: c1 = %c, c2 = %c\n"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c1, c2);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return 0;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  <a:endParaRPr lang="fi-FI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9FB0296-7CCF-3D40-5311-0BD0516D010B}"/>
                </a:ext>
              </a:extLst>
            </p:cNvPr>
            <p:cNvSpPr txBox="1"/>
            <p:nvPr/>
          </p:nvSpPr>
          <p:spPr>
            <a:xfrm>
              <a:off x="688656" y="124031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ffiles2.c</a:t>
              </a:r>
            </a:p>
          </p:txBody>
        </p:sp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AA66E1B-86F2-DFA5-1CD0-9C58A058D3FA}"/>
              </a:ext>
            </a:extLst>
          </p:cNvPr>
          <p:cNvGraphicFramePr>
            <a:graphicFrameLocks noGrp="1"/>
          </p:cNvGraphicFramePr>
          <p:nvPr/>
        </p:nvGraphicFramePr>
        <p:xfrm>
          <a:off x="7800434" y="2031875"/>
          <a:ext cx="7847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726">
                  <a:extLst>
                    <a:ext uri="{9D8B030D-6E8A-4147-A177-3AD203B41FA5}">
                      <a16:colId xmlns:a16="http://schemas.microsoft.com/office/drawing/2014/main" val="759203340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5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30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1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12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E0DFE83-437F-867D-4A1B-92BC7B3B2D0B}"/>
              </a:ext>
            </a:extLst>
          </p:cNvPr>
          <p:cNvGraphicFramePr>
            <a:graphicFrameLocks noGrp="1"/>
          </p:cNvGraphicFramePr>
          <p:nvPr/>
        </p:nvGraphicFramePr>
        <p:xfrm>
          <a:off x="9175241" y="2007360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dirty="0">
                          <a:solidFill>
                            <a:schemeClr val="accent1"/>
                          </a:solidFill>
                        </a:rPr>
                        <a:t>file pos =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8DC53BB-6E90-08D9-FA93-2AF4CE7DE718}"/>
              </a:ext>
            </a:extLst>
          </p:cNvPr>
          <p:cNvSpPr txBox="1"/>
          <p:nvPr/>
        </p:nvSpPr>
        <p:spPr>
          <a:xfrm>
            <a:off x="7531807" y="1304929"/>
            <a:ext cx="102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Parent </a:t>
            </a:r>
            <a:br>
              <a:rPr lang="en-US" dirty="0"/>
            </a:br>
            <a:r>
              <a:rPr lang="en-US" dirty="0"/>
              <a:t>FD table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BF4ED3-F916-D68E-9425-F5E1AE1DEDCE}"/>
              </a:ext>
            </a:extLst>
          </p:cNvPr>
          <p:cNvSpPr txBox="1"/>
          <p:nvPr/>
        </p:nvSpPr>
        <p:spPr>
          <a:xfrm>
            <a:off x="8768067" y="1294655"/>
            <a:ext cx="1994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Open file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AA9B6D4-C617-FFDA-EAEF-555CCE2EB9A2}"/>
              </a:ext>
            </a:extLst>
          </p:cNvPr>
          <p:cNvCxnSpPr>
            <a:cxnSpLocks/>
          </p:cNvCxnSpPr>
          <p:nvPr/>
        </p:nvCxnSpPr>
        <p:spPr>
          <a:xfrm flipV="1">
            <a:off x="8382000" y="2220773"/>
            <a:ext cx="793241" cy="1181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D7B84A0-A9D6-7D27-1E7C-F7C4724B3ED6}"/>
              </a:ext>
            </a:extLst>
          </p:cNvPr>
          <p:cNvGraphicFramePr>
            <a:graphicFrameLocks noGrp="1"/>
          </p:cNvGraphicFramePr>
          <p:nvPr/>
        </p:nvGraphicFramePr>
        <p:xfrm>
          <a:off x="10646916" y="3405673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access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C9DEE7A6-C8B4-40E0-A28C-848FCA3C4F30}"/>
              </a:ext>
            </a:extLst>
          </p:cNvPr>
          <p:cNvSpPr txBox="1"/>
          <p:nvPr/>
        </p:nvSpPr>
        <p:spPr>
          <a:xfrm>
            <a:off x="10496595" y="2654725"/>
            <a:ext cx="1603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v-node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5C8A3B1-C0FB-68DD-3A10-5085DD1BD424}"/>
              </a:ext>
            </a:extLst>
          </p:cNvPr>
          <p:cNvCxnSpPr>
            <a:cxnSpLocks/>
          </p:cNvCxnSpPr>
          <p:nvPr/>
        </p:nvCxnSpPr>
        <p:spPr>
          <a:xfrm>
            <a:off x="9986118" y="2977890"/>
            <a:ext cx="660798" cy="570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C45E7E70-FE0E-D0FA-D899-4C23B2245ADA}"/>
              </a:ext>
            </a:extLst>
          </p:cNvPr>
          <p:cNvGraphicFramePr>
            <a:graphicFrameLocks noGrp="1"/>
          </p:cNvGraphicFramePr>
          <p:nvPr/>
        </p:nvGraphicFramePr>
        <p:xfrm>
          <a:off x="7833290" y="4408525"/>
          <a:ext cx="7847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726">
                  <a:extLst>
                    <a:ext uri="{9D8B030D-6E8A-4147-A177-3AD203B41FA5}">
                      <a16:colId xmlns:a16="http://schemas.microsoft.com/office/drawing/2014/main" val="759203340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5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30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1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126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AD5B1C5C-A6CE-6C36-B9A4-819F486FC7F2}"/>
              </a:ext>
            </a:extLst>
          </p:cNvPr>
          <p:cNvSpPr txBox="1"/>
          <p:nvPr/>
        </p:nvSpPr>
        <p:spPr>
          <a:xfrm>
            <a:off x="7564663" y="3681579"/>
            <a:ext cx="102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Child </a:t>
            </a:r>
            <a:br>
              <a:rPr lang="en-US" dirty="0"/>
            </a:br>
            <a:r>
              <a:rPr lang="en-US" dirty="0"/>
              <a:t>FD table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BB68071-789F-D013-074D-7D44A9F4DBDF}"/>
              </a:ext>
            </a:extLst>
          </p:cNvPr>
          <p:cNvCxnSpPr>
            <a:cxnSpLocks/>
          </p:cNvCxnSpPr>
          <p:nvPr/>
        </p:nvCxnSpPr>
        <p:spPr>
          <a:xfrm flipV="1">
            <a:off x="8383113" y="2289814"/>
            <a:ext cx="792128" cy="3433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4FAD0C8-47BA-D3A2-08E1-2F332434761C}"/>
              </a:ext>
            </a:extLst>
          </p:cNvPr>
          <p:cNvGrpSpPr/>
          <p:nvPr/>
        </p:nvGrpSpPr>
        <p:grpSpPr>
          <a:xfrm>
            <a:off x="10160000" y="5157514"/>
            <a:ext cx="1652649" cy="677108"/>
            <a:chOff x="813349" y="1214405"/>
            <a:chExt cx="1652649" cy="677108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CE04BDC-998E-6E07-30D0-A84A35588B1D}"/>
                </a:ext>
              </a:extLst>
            </p:cNvPr>
            <p:cNvSpPr txBox="1"/>
            <p:nvPr/>
          </p:nvSpPr>
          <p:spPr>
            <a:xfrm>
              <a:off x="813349" y="1552959"/>
              <a:ext cx="1652649" cy="33855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lIns="182880" rIns="182880" rtlCol="0">
              <a:spAutoFit/>
            </a:bodyPr>
            <a:lstStyle/>
            <a:p>
              <a:pPr eaLnBrk="0" hangingPunct="0"/>
              <a:r>
                <a:rPr lang="en-US" sz="1600" i="0" dirty="0" err="1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abc</a:t>
              </a:r>
              <a:r>
                <a:rPr lang="en-US" sz="1600" b="0" i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de</a:t>
              </a:r>
              <a:endPara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49C8142-3626-69B6-C4C7-0AFF314A790A}"/>
                </a:ext>
              </a:extLst>
            </p:cNvPr>
            <p:cNvSpPr txBox="1"/>
            <p:nvPr/>
          </p:nvSpPr>
          <p:spPr>
            <a:xfrm>
              <a:off x="813349" y="121440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 err="1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abcde.txt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9C830CC-994A-FB99-ADA3-383D98416ECB}"/>
              </a:ext>
            </a:extLst>
          </p:cNvPr>
          <p:cNvSpPr txBox="1"/>
          <p:nvPr/>
        </p:nvSpPr>
        <p:spPr>
          <a:xfrm>
            <a:off x="10155783" y="5950723"/>
            <a:ext cx="2285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parent c2 = ‘b’</a:t>
            </a:r>
          </a:p>
        </p:txBody>
      </p:sp>
    </p:spTree>
    <p:extLst>
      <p:ext uri="{BB962C8B-B14F-4D97-AF65-F5344CB8AC3E}">
        <p14:creationId xmlns:p14="http://schemas.microsoft.com/office/powerpoint/2010/main" val="3309163173"/>
      </p:ext>
    </p:extLst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049E0-3A11-4ECD-F277-E2F990F78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>
            <a:extLst>
              <a:ext uri="{FF2B5EF4-FFF2-40B4-BE49-F238E27FC236}">
                <a16:creationId xmlns:a16="http://schemas.microsoft.com/office/drawing/2014/main" id="{5014730B-BD2F-6990-6F58-0C3A729ED5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2908" y="457200"/>
            <a:ext cx="8277893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Master Class: Process Control and I/O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7B1C814-B5E1-F4D0-A166-F282E5200932}"/>
              </a:ext>
            </a:extLst>
          </p:cNvPr>
          <p:cNvGrpSpPr/>
          <p:nvPr/>
        </p:nvGrpSpPr>
        <p:grpSpPr>
          <a:xfrm>
            <a:off x="461245" y="1289541"/>
            <a:ext cx="6864116" cy="5084844"/>
            <a:chOff x="688656" y="1240315"/>
            <a:chExt cx="6864116" cy="508484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F637FDC-2D92-95C8-5E5C-7790E54E6C8C}"/>
                </a:ext>
              </a:extLst>
            </p:cNvPr>
            <p:cNvGrpSpPr/>
            <p:nvPr/>
          </p:nvGrpSpPr>
          <p:grpSpPr>
            <a:xfrm>
              <a:off x="786851" y="1553513"/>
              <a:ext cx="6765921" cy="4771646"/>
              <a:chOff x="770574" y="4161173"/>
              <a:chExt cx="7515531" cy="477164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6A2F5B7-A2A5-EA53-B1FE-D1FEA7139738}"/>
                  </a:ext>
                </a:extLst>
              </p:cNvPr>
              <p:cNvSpPr txBox="1"/>
              <p:nvPr/>
            </p:nvSpPr>
            <p:spPr>
              <a:xfrm>
                <a:off x="770574" y="4162282"/>
                <a:ext cx="454482" cy="47705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9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19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4DE33C7-8E4A-98CF-E09B-E57361C544F8}"/>
                  </a:ext>
                </a:extLst>
              </p:cNvPr>
              <p:cNvSpPr txBox="1"/>
              <p:nvPr/>
            </p:nvSpPr>
            <p:spPr>
              <a:xfrm>
                <a:off x="1225055" y="4161173"/>
                <a:ext cx="7061050" cy="477053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#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include</a:t>
                </a:r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 err="1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csapp.h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main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argc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[]) {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fd1;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s = </a:t>
                </a:r>
                <a:r>
                  <a:rPr lang="en-US" sz="160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getpid</a:t>
                </a:r>
                <a:r>
                  <a:rPr lang="en-US" sz="160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() &amp; 0x1;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c1, c2;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[1];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fd1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&amp;c1, 1); </a:t>
                </a:r>
              </a:p>
              <a:p>
                <a:pPr eaLnBrk="0" hangingPunct="0"/>
                <a:r>
                  <a:rPr lang="en-US" sz="1600" b="1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if (fork()) { /* Parent */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sleep(s);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i="0" dirty="0" err="1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("Parent: c1 = %c, c2 = %c\n", c1, c2);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} 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else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{ </a:t>
                </a:r>
                <a:r>
                  <a:rPr lang="en-US" sz="1600" b="0" i="0" dirty="0">
                    <a:solidFill>
                      <a:srgbClr val="008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/* Child */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sleep(1-s);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&amp;c2, 1); </a:t>
                </a:r>
              </a:p>
              <a:p>
                <a:pPr eaLnBrk="0" hangingPunct="0"/>
                <a:r>
                  <a:rPr lang="en-US" sz="1600" b="1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1" i="0" dirty="0" err="1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1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"Child: c1 = %c, c2 = %c\n"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c1, c2);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return 0;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  <a:endParaRPr lang="fi-FI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C3BE046-E4D3-49B0-9CE3-9A9295F0B5AA}"/>
                </a:ext>
              </a:extLst>
            </p:cNvPr>
            <p:cNvSpPr txBox="1"/>
            <p:nvPr/>
          </p:nvSpPr>
          <p:spPr>
            <a:xfrm>
              <a:off x="688656" y="124031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ffiles2.c</a:t>
              </a:r>
            </a:p>
          </p:txBody>
        </p:sp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56FCC37-7CE4-A985-1E3A-E6F8A7ADFEF3}"/>
              </a:ext>
            </a:extLst>
          </p:cNvPr>
          <p:cNvGraphicFramePr>
            <a:graphicFrameLocks noGrp="1"/>
          </p:cNvGraphicFramePr>
          <p:nvPr/>
        </p:nvGraphicFramePr>
        <p:xfrm>
          <a:off x="7800434" y="2031875"/>
          <a:ext cx="7847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726">
                  <a:extLst>
                    <a:ext uri="{9D8B030D-6E8A-4147-A177-3AD203B41FA5}">
                      <a16:colId xmlns:a16="http://schemas.microsoft.com/office/drawing/2014/main" val="759203340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5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30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1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12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D5EB999-3C84-3F3E-D015-890371A3B9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294630"/>
              </p:ext>
            </p:extLst>
          </p:nvPr>
        </p:nvGraphicFramePr>
        <p:xfrm>
          <a:off x="9175241" y="2007360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dirty="0">
                          <a:solidFill>
                            <a:schemeClr val="accent1"/>
                          </a:solidFill>
                        </a:rPr>
                        <a:t>file pos =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5C0D795-80D4-09BC-4EE1-64DA73A37696}"/>
              </a:ext>
            </a:extLst>
          </p:cNvPr>
          <p:cNvSpPr txBox="1"/>
          <p:nvPr/>
        </p:nvSpPr>
        <p:spPr>
          <a:xfrm>
            <a:off x="7531807" y="1304929"/>
            <a:ext cx="102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Parent </a:t>
            </a:r>
            <a:br>
              <a:rPr lang="en-US" dirty="0"/>
            </a:br>
            <a:r>
              <a:rPr lang="en-US" dirty="0"/>
              <a:t>FD table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B317B3-E42C-6D8C-5545-D241ED31FE4D}"/>
              </a:ext>
            </a:extLst>
          </p:cNvPr>
          <p:cNvSpPr txBox="1"/>
          <p:nvPr/>
        </p:nvSpPr>
        <p:spPr>
          <a:xfrm>
            <a:off x="8768067" y="1294655"/>
            <a:ext cx="1994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Open file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FE34C3C-F08D-8C8D-7044-BD4436795B74}"/>
              </a:ext>
            </a:extLst>
          </p:cNvPr>
          <p:cNvCxnSpPr>
            <a:cxnSpLocks/>
          </p:cNvCxnSpPr>
          <p:nvPr/>
        </p:nvCxnSpPr>
        <p:spPr>
          <a:xfrm flipV="1">
            <a:off x="8382000" y="2220773"/>
            <a:ext cx="793241" cy="1181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A452694-A98C-9119-F24E-138C428E7E99}"/>
              </a:ext>
            </a:extLst>
          </p:cNvPr>
          <p:cNvGraphicFramePr>
            <a:graphicFrameLocks noGrp="1"/>
          </p:cNvGraphicFramePr>
          <p:nvPr/>
        </p:nvGraphicFramePr>
        <p:xfrm>
          <a:off x="10646916" y="3405673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access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9542CA6E-8037-539F-48DD-9D9DA38F1982}"/>
              </a:ext>
            </a:extLst>
          </p:cNvPr>
          <p:cNvSpPr txBox="1"/>
          <p:nvPr/>
        </p:nvSpPr>
        <p:spPr>
          <a:xfrm>
            <a:off x="10496595" y="2654725"/>
            <a:ext cx="1603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v-node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ABE0964-E405-9BF2-B036-72BBC0B61891}"/>
              </a:ext>
            </a:extLst>
          </p:cNvPr>
          <p:cNvCxnSpPr>
            <a:cxnSpLocks/>
          </p:cNvCxnSpPr>
          <p:nvPr/>
        </p:nvCxnSpPr>
        <p:spPr>
          <a:xfrm>
            <a:off x="9986118" y="2977890"/>
            <a:ext cx="660798" cy="570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9998B18B-889B-0440-18D3-9EBD9AC4FC48}"/>
              </a:ext>
            </a:extLst>
          </p:cNvPr>
          <p:cNvGraphicFramePr>
            <a:graphicFrameLocks noGrp="1"/>
          </p:cNvGraphicFramePr>
          <p:nvPr/>
        </p:nvGraphicFramePr>
        <p:xfrm>
          <a:off x="7833290" y="4408525"/>
          <a:ext cx="7847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726">
                  <a:extLst>
                    <a:ext uri="{9D8B030D-6E8A-4147-A177-3AD203B41FA5}">
                      <a16:colId xmlns:a16="http://schemas.microsoft.com/office/drawing/2014/main" val="759203340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5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30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1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126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C3A29FC3-F7ED-156B-38A4-45BE16C299CC}"/>
              </a:ext>
            </a:extLst>
          </p:cNvPr>
          <p:cNvSpPr txBox="1"/>
          <p:nvPr/>
        </p:nvSpPr>
        <p:spPr>
          <a:xfrm>
            <a:off x="7564663" y="3681579"/>
            <a:ext cx="102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Child </a:t>
            </a:r>
            <a:br>
              <a:rPr lang="en-US" dirty="0"/>
            </a:br>
            <a:r>
              <a:rPr lang="en-US" dirty="0"/>
              <a:t>FD table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B611B37-94DE-E8BF-C3B9-0F5F31E0D803}"/>
              </a:ext>
            </a:extLst>
          </p:cNvPr>
          <p:cNvCxnSpPr>
            <a:cxnSpLocks/>
          </p:cNvCxnSpPr>
          <p:nvPr/>
        </p:nvCxnSpPr>
        <p:spPr>
          <a:xfrm flipV="1">
            <a:off x="8383113" y="2289814"/>
            <a:ext cx="792128" cy="3433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09EB88C-B5DD-B247-47D9-3C9E4BAF9D45}"/>
              </a:ext>
            </a:extLst>
          </p:cNvPr>
          <p:cNvGrpSpPr/>
          <p:nvPr/>
        </p:nvGrpSpPr>
        <p:grpSpPr>
          <a:xfrm>
            <a:off x="10160000" y="5157514"/>
            <a:ext cx="1652649" cy="677108"/>
            <a:chOff x="813349" y="1214405"/>
            <a:chExt cx="1652649" cy="677108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F0A09FA-71D7-BA34-9611-26B705312AB2}"/>
                </a:ext>
              </a:extLst>
            </p:cNvPr>
            <p:cNvSpPr txBox="1"/>
            <p:nvPr/>
          </p:nvSpPr>
          <p:spPr>
            <a:xfrm>
              <a:off x="813349" y="1552959"/>
              <a:ext cx="1652649" cy="33855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lIns="182880" rIns="182880" rtlCol="0">
              <a:spAutoFit/>
            </a:bodyPr>
            <a:lstStyle/>
            <a:p>
              <a:pPr eaLnBrk="0" hangingPunct="0"/>
              <a:r>
                <a:rPr lang="en-US" sz="1600" i="0" dirty="0" err="1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ab</a:t>
              </a:r>
              <a:r>
                <a:rPr lang="en-US" sz="1600" b="1" i="0" dirty="0" err="1">
                  <a:solidFill>
                    <a:schemeClr val="tx2">
                      <a:lumMod val="75000"/>
                      <a:lumOff val="25000"/>
                    </a:schemeClr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sz="1600" b="0" i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de</a:t>
              </a:r>
              <a:endPara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216D879-6EF1-CA0A-EFAA-8A56D7EF67C2}"/>
                </a:ext>
              </a:extLst>
            </p:cNvPr>
            <p:cNvSpPr txBox="1"/>
            <p:nvPr/>
          </p:nvSpPr>
          <p:spPr>
            <a:xfrm>
              <a:off x="813349" y="121440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 err="1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abcde.txt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2346F5A-E09E-DAAC-DA67-FB5B5C016628}"/>
              </a:ext>
            </a:extLst>
          </p:cNvPr>
          <p:cNvSpPr txBox="1"/>
          <p:nvPr/>
        </p:nvSpPr>
        <p:spPr>
          <a:xfrm>
            <a:off x="10155783" y="5950723"/>
            <a:ext cx="2285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parent c2 = ‘b’</a:t>
            </a:r>
          </a:p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child c2 = ‘c’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37A66D-1BC6-00AB-DD0D-92B1252BF134}"/>
              </a:ext>
            </a:extLst>
          </p:cNvPr>
          <p:cNvSpPr txBox="1"/>
          <p:nvPr/>
        </p:nvSpPr>
        <p:spPr>
          <a:xfrm>
            <a:off x="8877011" y="4635572"/>
            <a:ext cx="2360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read</a:t>
            </a:r>
          </a:p>
        </p:txBody>
      </p:sp>
    </p:spTree>
    <p:extLst>
      <p:ext uri="{BB962C8B-B14F-4D97-AF65-F5344CB8AC3E}">
        <p14:creationId xmlns:p14="http://schemas.microsoft.com/office/powerpoint/2010/main" val="3320909098"/>
      </p:ext>
    </p:extLst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7EFF1-9704-BEE5-0C0D-F5EE492EF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>
            <a:extLst>
              <a:ext uri="{FF2B5EF4-FFF2-40B4-BE49-F238E27FC236}">
                <a16:creationId xmlns:a16="http://schemas.microsoft.com/office/drawing/2014/main" id="{3B838327-85C5-011D-2B54-29BA184715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2908" y="457200"/>
            <a:ext cx="8277893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Master Class: Process Control and I/O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163B6A4-9344-76A3-65C9-480F3B288E67}"/>
              </a:ext>
            </a:extLst>
          </p:cNvPr>
          <p:cNvGrpSpPr/>
          <p:nvPr/>
        </p:nvGrpSpPr>
        <p:grpSpPr>
          <a:xfrm>
            <a:off x="461245" y="1289541"/>
            <a:ext cx="6864116" cy="5084844"/>
            <a:chOff x="688656" y="1240315"/>
            <a:chExt cx="6864116" cy="508484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F325BBDB-96B4-198B-9F2A-2375683849DF}"/>
                </a:ext>
              </a:extLst>
            </p:cNvPr>
            <p:cNvGrpSpPr/>
            <p:nvPr/>
          </p:nvGrpSpPr>
          <p:grpSpPr>
            <a:xfrm>
              <a:off x="786851" y="1553513"/>
              <a:ext cx="6765921" cy="4771646"/>
              <a:chOff x="770574" y="4161173"/>
              <a:chExt cx="7515531" cy="477164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8E7A408-4719-2281-F03A-D94EE397E662}"/>
                  </a:ext>
                </a:extLst>
              </p:cNvPr>
              <p:cNvSpPr txBox="1"/>
              <p:nvPr/>
            </p:nvSpPr>
            <p:spPr>
              <a:xfrm>
                <a:off x="770574" y="4162282"/>
                <a:ext cx="454482" cy="47705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9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19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9E0CAE8-5388-6D79-66A7-5F8D7BBA1E47}"/>
                  </a:ext>
                </a:extLst>
              </p:cNvPr>
              <p:cNvSpPr txBox="1"/>
              <p:nvPr/>
            </p:nvSpPr>
            <p:spPr>
              <a:xfrm>
                <a:off x="1225055" y="4161173"/>
                <a:ext cx="7061050" cy="477053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#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include</a:t>
                </a:r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 err="1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csapp.h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main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argc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[]) {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fd1;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s = </a:t>
                </a:r>
                <a:r>
                  <a:rPr lang="en-US" sz="160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getpid</a:t>
                </a:r>
                <a:r>
                  <a:rPr lang="en-US" sz="160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() &amp; 0x1;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c1, c2;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[1];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fd1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&amp;c1, 1); </a:t>
                </a:r>
              </a:p>
              <a:p>
                <a:pPr eaLnBrk="0" hangingPunct="0"/>
                <a:r>
                  <a:rPr lang="en-US" sz="1600" b="1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if (fork()) { /* Parent */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sleep(s);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i="0" dirty="0" err="1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("Parent: c1 = %c, c2 = %c\n", c1, c2);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} 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else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{ </a:t>
                </a:r>
                <a:r>
                  <a:rPr lang="en-US" sz="1600" b="0" i="0" dirty="0">
                    <a:solidFill>
                      <a:srgbClr val="008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/* Child */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sleep(1-s);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&amp;c2, 1); </a:t>
                </a:r>
              </a:p>
              <a:p>
                <a:pPr eaLnBrk="0" hangingPunct="0"/>
                <a:r>
                  <a:rPr lang="en-US" sz="1600" b="1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1" i="0" dirty="0" err="1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1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"Child: c1 = %c, c2 = %c\n"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c1, c2);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return 0;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  <a:endParaRPr lang="fi-FI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417D10C-5D5C-B9BC-1E03-C704376EC5B3}"/>
                </a:ext>
              </a:extLst>
            </p:cNvPr>
            <p:cNvSpPr txBox="1"/>
            <p:nvPr/>
          </p:nvSpPr>
          <p:spPr>
            <a:xfrm>
              <a:off x="688656" y="124031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ffiles2.c</a:t>
              </a:r>
            </a:p>
          </p:txBody>
        </p:sp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82C8E0F-C2F8-0FB0-2327-BED194EA980D}"/>
              </a:ext>
            </a:extLst>
          </p:cNvPr>
          <p:cNvGraphicFramePr>
            <a:graphicFrameLocks noGrp="1"/>
          </p:cNvGraphicFramePr>
          <p:nvPr/>
        </p:nvGraphicFramePr>
        <p:xfrm>
          <a:off x="7800434" y="2031875"/>
          <a:ext cx="7847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726">
                  <a:extLst>
                    <a:ext uri="{9D8B030D-6E8A-4147-A177-3AD203B41FA5}">
                      <a16:colId xmlns:a16="http://schemas.microsoft.com/office/drawing/2014/main" val="759203340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5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30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1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12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7471040-EAC7-CC34-C902-DAFFF2B7F919}"/>
              </a:ext>
            </a:extLst>
          </p:cNvPr>
          <p:cNvGraphicFramePr>
            <a:graphicFrameLocks noGrp="1"/>
          </p:cNvGraphicFramePr>
          <p:nvPr/>
        </p:nvGraphicFramePr>
        <p:xfrm>
          <a:off x="9175241" y="2007360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dirty="0">
                          <a:solidFill>
                            <a:schemeClr val="accent1"/>
                          </a:solidFill>
                        </a:rPr>
                        <a:t>file pos =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7DB3EDB-2616-2F5D-79FD-044284F4F485}"/>
              </a:ext>
            </a:extLst>
          </p:cNvPr>
          <p:cNvSpPr txBox="1"/>
          <p:nvPr/>
        </p:nvSpPr>
        <p:spPr>
          <a:xfrm>
            <a:off x="7531807" y="1304929"/>
            <a:ext cx="102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Parent </a:t>
            </a:r>
            <a:br>
              <a:rPr lang="en-US" dirty="0"/>
            </a:br>
            <a:r>
              <a:rPr lang="en-US" dirty="0"/>
              <a:t>FD table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4D90F2-B561-F72E-220E-668D22B6AAF0}"/>
              </a:ext>
            </a:extLst>
          </p:cNvPr>
          <p:cNvSpPr txBox="1"/>
          <p:nvPr/>
        </p:nvSpPr>
        <p:spPr>
          <a:xfrm>
            <a:off x="8768067" y="1294655"/>
            <a:ext cx="1994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Open file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8F73BDB-9C26-1192-0639-715AB6DFA3EF}"/>
              </a:ext>
            </a:extLst>
          </p:cNvPr>
          <p:cNvCxnSpPr>
            <a:cxnSpLocks/>
          </p:cNvCxnSpPr>
          <p:nvPr/>
        </p:nvCxnSpPr>
        <p:spPr>
          <a:xfrm flipV="1">
            <a:off x="8382000" y="2220773"/>
            <a:ext cx="793241" cy="1181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D0563E7D-EED1-2EB8-A311-346E381F8270}"/>
              </a:ext>
            </a:extLst>
          </p:cNvPr>
          <p:cNvGraphicFramePr>
            <a:graphicFrameLocks noGrp="1"/>
          </p:cNvGraphicFramePr>
          <p:nvPr/>
        </p:nvGraphicFramePr>
        <p:xfrm>
          <a:off x="10646916" y="3405673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access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A4C56AC2-1D35-C6AA-63B8-C1E77730E0AD}"/>
              </a:ext>
            </a:extLst>
          </p:cNvPr>
          <p:cNvSpPr txBox="1"/>
          <p:nvPr/>
        </p:nvSpPr>
        <p:spPr>
          <a:xfrm>
            <a:off x="10496595" y="2654725"/>
            <a:ext cx="1603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v-node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D63CEB7-ACB6-14A5-A97A-0785FD611427}"/>
              </a:ext>
            </a:extLst>
          </p:cNvPr>
          <p:cNvCxnSpPr>
            <a:cxnSpLocks/>
          </p:cNvCxnSpPr>
          <p:nvPr/>
        </p:nvCxnSpPr>
        <p:spPr>
          <a:xfrm>
            <a:off x="9986118" y="2977890"/>
            <a:ext cx="660798" cy="570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66991193-808A-E56F-7090-7C2A07DC9B95}"/>
              </a:ext>
            </a:extLst>
          </p:cNvPr>
          <p:cNvGraphicFramePr>
            <a:graphicFrameLocks noGrp="1"/>
          </p:cNvGraphicFramePr>
          <p:nvPr/>
        </p:nvGraphicFramePr>
        <p:xfrm>
          <a:off x="7833290" y="4408525"/>
          <a:ext cx="7847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726">
                  <a:extLst>
                    <a:ext uri="{9D8B030D-6E8A-4147-A177-3AD203B41FA5}">
                      <a16:colId xmlns:a16="http://schemas.microsoft.com/office/drawing/2014/main" val="759203340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5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30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1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126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DA8893D3-0734-8EAF-CE08-39CD66935886}"/>
              </a:ext>
            </a:extLst>
          </p:cNvPr>
          <p:cNvSpPr txBox="1"/>
          <p:nvPr/>
        </p:nvSpPr>
        <p:spPr>
          <a:xfrm>
            <a:off x="7564663" y="3681579"/>
            <a:ext cx="102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Child </a:t>
            </a:r>
            <a:br>
              <a:rPr lang="en-US" dirty="0"/>
            </a:br>
            <a:r>
              <a:rPr lang="en-US" dirty="0"/>
              <a:t>FD table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2AC1F6A-183B-179F-9B05-088585EFD6FD}"/>
              </a:ext>
            </a:extLst>
          </p:cNvPr>
          <p:cNvCxnSpPr>
            <a:cxnSpLocks/>
          </p:cNvCxnSpPr>
          <p:nvPr/>
        </p:nvCxnSpPr>
        <p:spPr>
          <a:xfrm flipV="1">
            <a:off x="8383113" y="2289814"/>
            <a:ext cx="792128" cy="3433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7FAB2D3-EB16-A369-43CB-988892219A67}"/>
              </a:ext>
            </a:extLst>
          </p:cNvPr>
          <p:cNvGrpSpPr/>
          <p:nvPr/>
        </p:nvGrpSpPr>
        <p:grpSpPr>
          <a:xfrm>
            <a:off x="10160000" y="5157514"/>
            <a:ext cx="1652649" cy="677108"/>
            <a:chOff x="813349" y="1214405"/>
            <a:chExt cx="1652649" cy="677108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67829CA-9A26-4C3B-F902-D264A477CAAC}"/>
                </a:ext>
              </a:extLst>
            </p:cNvPr>
            <p:cNvSpPr txBox="1"/>
            <p:nvPr/>
          </p:nvSpPr>
          <p:spPr>
            <a:xfrm>
              <a:off x="813349" y="1552959"/>
              <a:ext cx="1652649" cy="33855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lIns="182880" rIns="182880" rtlCol="0">
              <a:spAutoFit/>
            </a:bodyPr>
            <a:lstStyle/>
            <a:p>
              <a:pPr eaLnBrk="0" hangingPunct="0"/>
              <a:r>
                <a:rPr lang="en-US" sz="1600" i="0" dirty="0" err="1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ab</a:t>
              </a:r>
              <a:r>
                <a:rPr lang="en-US" sz="1600" b="1" i="0" dirty="0" err="1">
                  <a:solidFill>
                    <a:schemeClr val="tx2">
                      <a:lumMod val="75000"/>
                      <a:lumOff val="25000"/>
                    </a:schemeClr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sz="1600" b="0" i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de</a:t>
              </a:r>
              <a:endPara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CD2AFA6-CE6D-0286-7AB8-161CD37AAD9F}"/>
                </a:ext>
              </a:extLst>
            </p:cNvPr>
            <p:cNvSpPr txBox="1"/>
            <p:nvPr/>
          </p:nvSpPr>
          <p:spPr>
            <a:xfrm>
              <a:off x="813349" y="121440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 err="1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abcde.txt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B74B18D9-82B8-8A76-AFA2-DAEDFEFCC71C}"/>
              </a:ext>
            </a:extLst>
          </p:cNvPr>
          <p:cNvSpPr txBox="1"/>
          <p:nvPr/>
        </p:nvSpPr>
        <p:spPr>
          <a:xfrm>
            <a:off x="10155783" y="5950723"/>
            <a:ext cx="2285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parent c2 = ‘b’</a:t>
            </a:r>
          </a:p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child c2 = ‘c’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331FE3-A4DE-DD43-63A5-0CC981A4F578}"/>
              </a:ext>
            </a:extLst>
          </p:cNvPr>
          <p:cNvSpPr txBox="1"/>
          <p:nvPr/>
        </p:nvSpPr>
        <p:spPr>
          <a:xfrm>
            <a:off x="8877011" y="4635572"/>
            <a:ext cx="2360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read and increment file position</a:t>
            </a:r>
          </a:p>
        </p:txBody>
      </p:sp>
    </p:spTree>
    <p:extLst>
      <p:ext uri="{BB962C8B-B14F-4D97-AF65-F5344CB8AC3E}">
        <p14:creationId xmlns:p14="http://schemas.microsoft.com/office/powerpoint/2010/main" val="1547680093"/>
      </p:ext>
    </p:extLst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27419-B19C-15C1-4701-791279C48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>
            <a:extLst>
              <a:ext uri="{FF2B5EF4-FFF2-40B4-BE49-F238E27FC236}">
                <a16:creationId xmlns:a16="http://schemas.microsoft.com/office/drawing/2014/main" id="{35354D2D-40E6-1D9C-1FD5-42391D335E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2908" y="457200"/>
            <a:ext cx="8277893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Master Class: Process Control and I/O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26265C3-633E-AE32-4EF1-46457295F37A}"/>
              </a:ext>
            </a:extLst>
          </p:cNvPr>
          <p:cNvGrpSpPr/>
          <p:nvPr/>
        </p:nvGrpSpPr>
        <p:grpSpPr>
          <a:xfrm>
            <a:off x="461245" y="1289541"/>
            <a:ext cx="6864116" cy="5084844"/>
            <a:chOff x="688656" y="1240315"/>
            <a:chExt cx="6864116" cy="508484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83675150-99E0-78A4-6DE8-1E6C268B03BA}"/>
                </a:ext>
              </a:extLst>
            </p:cNvPr>
            <p:cNvGrpSpPr/>
            <p:nvPr/>
          </p:nvGrpSpPr>
          <p:grpSpPr>
            <a:xfrm>
              <a:off x="786851" y="1553513"/>
              <a:ext cx="6765921" cy="4771646"/>
              <a:chOff x="770574" y="4161173"/>
              <a:chExt cx="7515530" cy="477164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8F2F367-0CAF-6F6E-E401-97D0A4EE36DE}"/>
                  </a:ext>
                </a:extLst>
              </p:cNvPr>
              <p:cNvSpPr txBox="1"/>
              <p:nvPr/>
            </p:nvSpPr>
            <p:spPr>
              <a:xfrm>
                <a:off x="770574" y="4162282"/>
                <a:ext cx="454482" cy="47705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9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19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05D1965-7F7F-D8D8-0C0E-A457EE4AD332}"/>
                  </a:ext>
                </a:extLst>
              </p:cNvPr>
              <p:cNvSpPr txBox="1"/>
              <p:nvPr/>
            </p:nvSpPr>
            <p:spPr>
              <a:xfrm>
                <a:off x="1225055" y="4161173"/>
                <a:ext cx="7061049" cy="477053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#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include</a:t>
                </a:r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 err="1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csapp.h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main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argc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[]) {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fd1;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s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getpid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() &amp; 0x1;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c1, c2;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[1];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fd1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&amp;c1, 1);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if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(fork()) { </a:t>
                </a:r>
                <a:r>
                  <a:rPr lang="en-US" sz="1600" b="0" i="0" dirty="0">
                    <a:solidFill>
                      <a:srgbClr val="008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/* Parent */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sleep(s);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 err="1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"Parent: c1 = %c, c2 = %c\n"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c1, c2);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 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else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{ </a:t>
                </a:r>
                <a:r>
                  <a:rPr lang="en-US" sz="1600" b="0" i="0" dirty="0">
                    <a:solidFill>
                      <a:srgbClr val="008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/* Child */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sleep(1-s);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 err="1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"Child: c1 = %c, c2 = %c\n"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c1, c2);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return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0;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  <a:endParaRPr lang="fi-FI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C1AED82-0C8D-2DC6-E6C1-06F6E340ADBB}"/>
                </a:ext>
              </a:extLst>
            </p:cNvPr>
            <p:cNvSpPr txBox="1"/>
            <p:nvPr/>
          </p:nvSpPr>
          <p:spPr>
            <a:xfrm>
              <a:off x="688656" y="124031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ffiles2.c</a:t>
              </a:r>
            </a:p>
          </p:txBody>
        </p:sp>
      </p:grpSp>
      <p:sp>
        <p:nvSpPr>
          <p:cNvPr id="21" name="Rectangle 3">
            <a:extLst>
              <a:ext uri="{FF2B5EF4-FFF2-40B4-BE49-F238E27FC236}">
                <a16:creationId xmlns:a16="http://schemas.microsoft.com/office/drawing/2014/main" id="{C8BA1D6D-0749-BCBC-68F8-C3F6301BFE5F}"/>
              </a:ext>
            </a:extLst>
          </p:cNvPr>
          <p:cNvSpPr txBox="1">
            <a:spLocks noChangeArrowheads="1"/>
          </p:cNvSpPr>
          <p:nvPr/>
        </p:nvSpPr>
        <p:spPr>
          <a:xfrm>
            <a:off x="7634224" y="2372391"/>
            <a:ext cx="4168992" cy="7628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2400" dirty="0"/>
              <a:t>What would this program print for file containing “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abcde</a:t>
            </a:r>
            <a:r>
              <a:rPr lang="en-US" sz="2400" dirty="0"/>
              <a:t>”?</a:t>
            </a:r>
          </a:p>
          <a:p>
            <a:pPr>
              <a:lnSpc>
                <a:spcPct val="120000"/>
              </a:lnSpc>
            </a:pPr>
            <a:endParaRPr lang="en-US" sz="2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1C370F-8A77-1C4D-7C9C-CA5CE14F8A79}"/>
              </a:ext>
            </a:extLst>
          </p:cNvPr>
          <p:cNvSpPr txBox="1"/>
          <p:nvPr/>
        </p:nvSpPr>
        <p:spPr>
          <a:xfrm>
            <a:off x="7634224" y="3491073"/>
            <a:ext cx="4168993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milkshark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 ./ffiles2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abcde.txt</a:t>
            </a:r>
            <a:endParaRPr lang="en-US" sz="16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Parent: c1 = a, c2 = b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Child: c1 = a, c2 = c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EB4652C-F690-0622-5619-ECD8871A0D57}"/>
              </a:ext>
            </a:extLst>
          </p:cNvPr>
          <p:cNvGrpSpPr/>
          <p:nvPr/>
        </p:nvGrpSpPr>
        <p:grpSpPr>
          <a:xfrm>
            <a:off x="7634224" y="1478125"/>
            <a:ext cx="1784079" cy="678771"/>
            <a:chOff x="813349" y="1214405"/>
            <a:chExt cx="1784079" cy="678771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773CDB8-A136-F3C7-940A-4846FE17EEDB}"/>
                </a:ext>
              </a:extLst>
            </p:cNvPr>
            <p:cNvGrpSpPr/>
            <p:nvPr/>
          </p:nvGrpSpPr>
          <p:grpSpPr>
            <a:xfrm>
              <a:off x="899126" y="1553513"/>
              <a:ext cx="1698302" cy="339663"/>
              <a:chOff x="895288" y="4161173"/>
              <a:chExt cx="1886460" cy="339663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0FD0BA4-955C-337A-D9BD-4D34BE60AE6E}"/>
                  </a:ext>
                </a:extLst>
              </p:cNvPr>
              <p:cNvSpPr txBox="1"/>
              <p:nvPr/>
            </p:nvSpPr>
            <p:spPr>
              <a:xfrm>
                <a:off x="895288" y="4162282"/>
                <a:ext cx="329767" cy="3385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7CA76C2-C7C4-1620-7FCC-2D709C817CEA}"/>
                  </a:ext>
                </a:extLst>
              </p:cNvPr>
              <p:cNvSpPr txBox="1"/>
              <p:nvPr/>
            </p:nvSpPr>
            <p:spPr>
              <a:xfrm>
                <a:off x="1225057" y="4161173"/>
                <a:ext cx="1556691" cy="3385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abcde</a:t>
                </a:r>
                <a:endParaRPr lang="en-US" sz="1600" b="0" i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7FAF5B2-2EE6-E527-EFFD-8F8335E4A0E7}"/>
                </a:ext>
              </a:extLst>
            </p:cNvPr>
            <p:cNvSpPr txBox="1"/>
            <p:nvPr/>
          </p:nvSpPr>
          <p:spPr>
            <a:xfrm>
              <a:off x="813349" y="121440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 err="1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abcde.txt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1426483"/>
      </p:ext>
    </p:extLst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E98D8-B18D-7E47-944A-764370C7F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>
            <a:extLst>
              <a:ext uri="{FF2B5EF4-FFF2-40B4-BE49-F238E27FC236}">
                <a16:creationId xmlns:a16="http://schemas.microsoft.com/office/drawing/2014/main" id="{3E5EDD7D-1794-8EF2-3135-405FC03E0F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2908" y="457200"/>
            <a:ext cx="8277893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Master Class: Process Control and I/O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0C66EE1-858F-22EC-AE8C-867605E9301A}"/>
              </a:ext>
            </a:extLst>
          </p:cNvPr>
          <p:cNvGrpSpPr/>
          <p:nvPr/>
        </p:nvGrpSpPr>
        <p:grpSpPr>
          <a:xfrm>
            <a:off x="461245" y="1289541"/>
            <a:ext cx="6864116" cy="5084844"/>
            <a:chOff x="688656" y="1240315"/>
            <a:chExt cx="6864116" cy="508484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C76AC8BA-A2DC-AD6C-D3CF-B9B139B19593}"/>
                </a:ext>
              </a:extLst>
            </p:cNvPr>
            <p:cNvGrpSpPr/>
            <p:nvPr/>
          </p:nvGrpSpPr>
          <p:grpSpPr>
            <a:xfrm>
              <a:off x="786851" y="1553513"/>
              <a:ext cx="6765921" cy="4771646"/>
              <a:chOff x="770574" y="4161173"/>
              <a:chExt cx="7515530" cy="477164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4B8690-62E4-063B-22E7-66CE15834317}"/>
                  </a:ext>
                </a:extLst>
              </p:cNvPr>
              <p:cNvSpPr txBox="1"/>
              <p:nvPr/>
            </p:nvSpPr>
            <p:spPr>
              <a:xfrm>
                <a:off x="770574" y="4162282"/>
                <a:ext cx="454482" cy="47705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9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19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A06D899-A3BD-FBF5-ED09-BAD7B2A33BB4}"/>
                  </a:ext>
                </a:extLst>
              </p:cNvPr>
              <p:cNvSpPr txBox="1"/>
              <p:nvPr/>
            </p:nvSpPr>
            <p:spPr>
              <a:xfrm>
                <a:off x="1225055" y="4161173"/>
                <a:ext cx="7061049" cy="477053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#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include</a:t>
                </a:r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 err="1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csapp.h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main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argc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[]) {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fd1;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s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getpid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() &amp; 0x1;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c1, c2;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[1];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fd1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&amp;c1, 1);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if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(fork()) { </a:t>
                </a:r>
                <a:r>
                  <a:rPr lang="en-US" sz="1600" b="0" i="0" dirty="0">
                    <a:solidFill>
                      <a:srgbClr val="008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/* Parent */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sleep(s);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 err="1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"Parent: c1 = %c, c2 = %c\n"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c1, c2);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 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else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{ </a:t>
                </a:r>
                <a:r>
                  <a:rPr lang="en-US" sz="1600" b="0" i="0" dirty="0">
                    <a:solidFill>
                      <a:srgbClr val="008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/* Child */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sleep(1-s);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 err="1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"Child: c1 = %c, c2 = %c\n"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c1, c2);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return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0;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  <a:endParaRPr lang="fi-FI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5BE79EF-21E0-D7AC-525F-19D903E3636D}"/>
                </a:ext>
              </a:extLst>
            </p:cNvPr>
            <p:cNvSpPr txBox="1"/>
            <p:nvPr/>
          </p:nvSpPr>
          <p:spPr>
            <a:xfrm>
              <a:off x="688656" y="124031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ffiles2.c</a:t>
              </a:r>
            </a:p>
          </p:txBody>
        </p:sp>
      </p:grpSp>
      <p:sp>
        <p:nvSpPr>
          <p:cNvPr id="21" name="Rectangle 3">
            <a:extLst>
              <a:ext uri="{FF2B5EF4-FFF2-40B4-BE49-F238E27FC236}">
                <a16:creationId xmlns:a16="http://schemas.microsoft.com/office/drawing/2014/main" id="{D988DDB6-3F29-E92F-ED40-F758A4804B55}"/>
              </a:ext>
            </a:extLst>
          </p:cNvPr>
          <p:cNvSpPr txBox="1">
            <a:spLocks noChangeArrowheads="1"/>
          </p:cNvSpPr>
          <p:nvPr/>
        </p:nvSpPr>
        <p:spPr>
          <a:xfrm>
            <a:off x="7634224" y="2372391"/>
            <a:ext cx="4168992" cy="7628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2400" dirty="0"/>
              <a:t>What would this program print for file containing “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abcde</a:t>
            </a:r>
            <a:r>
              <a:rPr lang="en-US" sz="2400" dirty="0"/>
              <a:t>”?</a:t>
            </a:r>
          </a:p>
          <a:p>
            <a:pPr>
              <a:lnSpc>
                <a:spcPct val="120000"/>
              </a:lnSpc>
            </a:pPr>
            <a:endParaRPr lang="en-US" sz="2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C51ABB-E60C-63A7-881B-2EF245273E00}"/>
              </a:ext>
            </a:extLst>
          </p:cNvPr>
          <p:cNvSpPr txBox="1"/>
          <p:nvPr/>
        </p:nvSpPr>
        <p:spPr>
          <a:xfrm>
            <a:off x="7634224" y="3491073"/>
            <a:ext cx="4168993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milkshark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 ./ffiles2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abcde.txt</a:t>
            </a:r>
            <a:endParaRPr lang="en-US" sz="16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Parent: c1 = a, c2 = b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Child: c1 = a, c2 = c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AAE8B00-B611-C358-47A2-FF5ED87CFBEE}"/>
              </a:ext>
            </a:extLst>
          </p:cNvPr>
          <p:cNvGrpSpPr/>
          <p:nvPr/>
        </p:nvGrpSpPr>
        <p:grpSpPr>
          <a:xfrm>
            <a:off x="7634224" y="1478125"/>
            <a:ext cx="1784079" cy="678771"/>
            <a:chOff x="813349" y="1214405"/>
            <a:chExt cx="1784079" cy="678771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224900C-AC94-8CDF-99B6-C29C72D0E145}"/>
                </a:ext>
              </a:extLst>
            </p:cNvPr>
            <p:cNvGrpSpPr/>
            <p:nvPr/>
          </p:nvGrpSpPr>
          <p:grpSpPr>
            <a:xfrm>
              <a:off x="899126" y="1553513"/>
              <a:ext cx="1698302" cy="339663"/>
              <a:chOff x="895288" y="4161173"/>
              <a:chExt cx="1886460" cy="339663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EB0413B-3DF8-7B20-409C-4D5EF691BDF7}"/>
                  </a:ext>
                </a:extLst>
              </p:cNvPr>
              <p:cNvSpPr txBox="1"/>
              <p:nvPr/>
            </p:nvSpPr>
            <p:spPr>
              <a:xfrm>
                <a:off x="895288" y="4162282"/>
                <a:ext cx="329767" cy="3385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82658C1-92C1-0907-2631-AE8D41D0FB9B}"/>
                  </a:ext>
                </a:extLst>
              </p:cNvPr>
              <p:cNvSpPr txBox="1"/>
              <p:nvPr/>
            </p:nvSpPr>
            <p:spPr>
              <a:xfrm>
                <a:off x="1225057" y="4161173"/>
                <a:ext cx="1556691" cy="3385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abcde</a:t>
                </a:r>
                <a:endParaRPr lang="en-US" sz="1600" b="0" i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B0CBCD5-7418-A586-2F4B-6DF51E182DEF}"/>
                </a:ext>
              </a:extLst>
            </p:cNvPr>
            <p:cNvSpPr txBox="1"/>
            <p:nvPr/>
          </p:nvSpPr>
          <p:spPr>
            <a:xfrm>
              <a:off x="813349" y="121440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 err="1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abcde.txt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6C81BB6-205B-13B4-996D-2E7CC853E7B8}"/>
              </a:ext>
            </a:extLst>
          </p:cNvPr>
          <p:cNvSpPr txBox="1"/>
          <p:nvPr/>
        </p:nvSpPr>
        <p:spPr>
          <a:xfrm>
            <a:off x="7634224" y="4964376"/>
            <a:ext cx="4168993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milkshark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 ./ffiles2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abcde.txt</a:t>
            </a:r>
            <a:endParaRPr lang="en-US" sz="16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Child: c1 = a, c2 = b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Parent: c1 = a, c2 = c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2701C86-94DD-ABD5-F7B1-9E5981ECDC70}"/>
              </a:ext>
            </a:extLst>
          </p:cNvPr>
          <p:cNvSpPr txBox="1">
            <a:spLocks noChangeArrowheads="1"/>
          </p:cNvSpPr>
          <p:nvPr/>
        </p:nvSpPr>
        <p:spPr>
          <a:xfrm>
            <a:off x="7634224" y="4354154"/>
            <a:ext cx="4168992" cy="7628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2400" dirty="0"/>
              <a:t>OR</a:t>
            </a:r>
          </a:p>
          <a:p>
            <a:pPr>
              <a:lnSpc>
                <a:spcPct val="120000"/>
              </a:lnSpc>
            </a:pPr>
            <a:endParaRPr lang="en-US" sz="2400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CE524CB8-31A3-44A3-016E-F77F56E732B4}"/>
              </a:ext>
            </a:extLst>
          </p:cNvPr>
          <p:cNvSpPr txBox="1">
            <a:spLocks noChangeArrowheads="1"/>
          </p:cNvSpPr>
          <p:nvPr/>
        </p:nvSpPr>
        <p:spPr>
          <a:xfrm>
            <a:off x="7634224" y="6056250"/>
            <a:ext cx="4168992" cy="7628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Either output is possible!</a:t>
            </a:r>
          </a:p>
          <a:p>
            <a:pPr>
              <a:lnSpc>
                <a:spcPct val="120000"/>
              </a:lnSpc>
            </a:pPr>
            <a:endParaRPr lang="en-US" sz="24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8742549"/>
      </p:ext>
    </p:extLst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Shape 276"/>
          <p:cNvSpPr txBox="1">
            <a:spLocks noGrp="1"/>
          </p:cNvSpPr>
          <p:nvPr>
            <p:ph type="title"/>
          </p:nvPr>
        </p:nvSpPr>
        <p:spPr>
          <a:xfrm>
            <a:off x="1881019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Supplementary slides</a:t>
            </a:r>
            <a:endParaRPr sz="3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8347030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1881018" y="435678"/>
            <a:ext cx="8710782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The RIO Package 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(213/CS:APP Package)</a:t>
            </a:r>
          </a:p>
        </p:txBody>
      </p:sp>
      <p:sp>
        <p:nvSpPr>
          <p:cNvPr id="67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20876" y="1362075"/>
            <a:ext cx="8366125" cy="497205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RIO is a set of wrappers that provide efficient and robust I/O in apps, such as network programs that are subject to short counts</a:t>
            </a:r>
          </a:p>
          <a:p>
            <a:r>
              <a:rPr lang="en-US" dirty="0"/>
              <a:t>RIO provides two different kinds of functions</a:t>
            </a:r>
          </a:p>
          <a:p>
            <a:pPr lvl="1"/>
            <a:r>
              <a:rPr lang="en-US" dirty="0" err="1"/>
              <a:t>Unbuffered</a:t>
            </a:r>
            <a:r>
              <a:rPr lang="en-US" dirty="0"/>
              <a:t> input and output of binary data</a:t>
            </a:r>
          </a:p>
          <a:p>
            <a:pPr lvl="2"/>
            <a:r>
              <a:rPr lang="en-US" b="1" dirty="0" err="1">
                <a:latin typeface="Courier New"/>
                <a:cs typeface="Courier New"/>
              </a:rPr>
              <a:t>rio_readn</a:t>
            </a:r>
            <a:r>
              <a:rPr lang="en-US" dirty="0"/>
              <a:t> and </a:t>
            </a:r>
            <a:r>
              <a:rPr lang="en-US" b="1" dirty="0" err="1">
                <a:latin typeface="Courier New"/>
                <a:cs typeface="Courier New"/>
              </a:rPr>
              <a:t>rio_writen</a:t>
            </a:r>
            <a:endParaRPr lang="en-US" b="1" dirty="0">
              <a:latin typeface="Courier New"/>
              <a:cs typeface="Courier New"/>
            </a:endParaRPr>
          </a:p>
          <a:p>
            <a:pPr lvl="1"/>
            <a:r>
              <a:rPr lang="en-US" dirty="0"/>
              <a:t>Buffered input of text lines and binary data</a:t>
            </a:r>
          </a:p>
          <a:p>
            <a:pPr lvl="2"/>
            <a:r>
              <a:rPr lang="en-US" b="1" dirty="0" err="1">
                <a:latin typeface="Courier New"/>
                <a:cs typeface="Courier New"/>
              </a:rPr>
              <a:t>rio_readlineb</a:t>
            </a:r>
            <a:r>
              <a:rPr lang="en-US" dirty="0"/>
              <a:t> and </a:t>
            </a:r>
            <a:r>
              <a:rPr lang="en-US" b="1" dirty="0" err="1">
                <a:latin typeface="Courier New"/>
                <a:cs typeface="Courier New"/>
              </a:rPr>
              <a:t>rio_readnb</a:t>
            </a:r>
            <a:endParaRPr lang="en-US" b="1" dirty="0">
              <a:latin typeface="Courier New"/>
              <a:cs typeface="Courier New"/>
            </a:endParaRPr>
          </a:p>
          <a:p>
            <a:pPr lvl="2"/>
            <a:r>
              <a:rPr lang="en-US" dirty="0"/>
              <a:t>Buffered RIO routines are thread-safe and can be interleaved arbitrarily on the same descriptor</a:t>
            </a:r>
          </a:p>
          <a:p>
            <a:pPr lvl="2"/>
            <a:endParaRPr lang="en-US" dirty="0"/>
          </a:p>
          <a:p>
            <a:r>
              <a:rPr lang="en-US" dirty="0"/>
              <a:t>Download from </a:t>
            </a:r>
            <a:r>
              <a:rPr lang="en-US" dirty="0">
                <a:hlinkClick r:id="rId3"/>
              </a:rPr>
              <a:t>http://csapp.cs.cmu.edu/3e/code.html</a:t>
            </a:r>
            <a:r>
              <a:rPr lang="en-US" dirty="0"/>
              <a:t>  </a:t>
            </a:r>
          </a:p>
          <a:p>
            <a:pPr lvl="1">
              <a:buNone/>
            </a:pPr>
            <a:r>
              <a:rPr lang="en-US" dirty="0" err="1">
                <a:sym typeface="Wingdings"/>
              </a:rPr>
              <a:t></a:t>
            </a:r>
            <a:r>
              <a:rPr lang="en-US" dirty="0">
                <a:sym typeface="Wingdings"/>
              </a:rPr>
              <a:t>   </a:t>
            </a:r>
            <a:r>
              <a:rPr lang="en-US" b="1" dirty="0" err="1">
                <a:latin typeface="Courier New"/>
                <a:cs typeface="Courier New"/>
              </a:rPr>
              <a:t>src/csapp.c</a:t>
            </a: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dirty="0"/>
              <a:t>and </a:t>
            </a:r>
            <a:r>
              <a:rPr lang="en-US" b="1" dirty="0">
                <a:latin typeface="Courier New"/>
                <a:cs typeface="Courier New"/>
              </a:rPr>
              <a:t>include/</a:t>
            </a:r>
            <a:r>
              <a:rPr lang="en-US" b="1" dirty="0" err="1">
                <a:latin typeface="Courier New"/>
                <a:cs typeface="Courier New"/>
              </a:rPr>
              <a:t>csapp.h</a:t>
            </a:r>
            <a:endParaRPr lang="en-US" b="1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9561473"/>
      </p:ext>
    </p:extLst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Unbuffered RIO Input and Output</a:t>
            </a:r>
          </a:p>
        </p:txBody>
      </p:sp>
      <p:sp>
        <p:nvSpPr>
          <p:cNvPr id="75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90714" y="1220788"/>
            <a:ext cx="8701087" cy="518001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Same interface as Unix </a:t>
            </a:r>
            <a:r>
              <a:rPr lang="en-US" dirty="0">
                <a:latin typeface="Courier New" pitchFamily="49" charset="0"/>
              </a:rPr>
              <a:t>read</a:t>
            </a:r>
            <a:r>
              <a:rPr lang="en-US" dirty="0"/>
              <a:t> and </a:t>
            </a:r>
            <a:r>
              <a:rPr lang="en-US" dirty="0">
                <a:latin typeface="Courier New" pitchFamily="49" charset="0"/>
              </a:rPr>
              <a:t>write</a:t>
            </a:r>
          </a:p>
          <a:p>
            <a:r>
              <a:rPr lang="en-US" dirty="0"/>
              <a:t>Especially useful for transferring data on network sockets</a:t>
            </a:r>
          </a:p>
          <a:p>
            <a:pPr lvl="1"/>
            <a:endParaRPr lang="en-US" dirty="0">
              <a:latin typeface="Courier New" pitchFamily="49" charset="0"/>
            </a:endParaRPr>
          </a:p>
          <a:p>
            <a:pPr lvl="1"/>
            <a:endParaRPr lang="en-US" dirty="0">
              <a:latin typeface="Courier New" pitchFamily="49" charset="0"/>
            </a:endParaRPr>
          </a:p>
          <a:p>
            <a:pPr lvl="1"/>
            <a:endParaRPr lang="en-US" dirty="0">
              <a:latin typeface="Courier New" pitchFamily="49" charset="0"/>
            </a:endParaRPr>
          </a:p>
          <a:p>
            <a:pPr lvl="1"/>
            <a:endParaRPr lang="en-US" dirty="0">
              <a:latin typeface="Courier New" pitchFamily="49" charset="0"/>
            </a:endParaRPr>
          </a:p>
          <a:p>
            <a:pPr lvl="1"/>
            <a:endParaRPr lang="en-US" dirty="0">
              <a:latin typeface="Courier New" pitchFamily="49" charset="0"/>
            </a:endParaRPr>
          </a:p>
          <a:p>
            <a:pPr lvl="1"/>
            <a:endParaRPr lang="en-US" dirty="0">
              <a:latin typeface="Courier New" pitchFamily="49" charset="0"/>
            </a:endParaRPr>
          </a:p>
          <a:p>
            <a:pPr lvl="1"/>
            <a:r>
              <a:rPr lang="en-US" b="1" dirty="0" err="1">
                <a:latin typeface="Courier New" pitchFamily="49" charset="0"/>
              </a:rPr>
              <a:t>rio_readn</a:t>
            </a:r>
            <a:r>
              <a:rPr lang="en-US" dirty="0">
                <a:latin typeface="Courier New" pitchFamily="49" charset="0"/>
              </a:rPr>
              <a:t> </a:t>
            </a:r>
            <a:r>
              <a:rPr lang="en-US" dirty="0"/>
              <a:t>returns short count only if it encounters EOF</a:t>
            </a:r>
          </a:p>
          <a:p>
            <a:pPr lvl="2"/>
            <a:r>
              <a:rPr lang="en-US" dirty="0"/>
              <a:t>Only use it when you know how many bytes to read</a:t>
            </a:r>
          </a:p>
          <a:p>
            <a:pPr lvl="1"/>
            <a:r>
              <a:rPr lang="en-US" b="1" dirty="0" err="1">
                <a:latin typeface="Courier New" pitchFamily="49" charset="0"/>
              </a:rPr>
              <a:t>rio_writen</a:t>
            </a:r>
            <a:r>
              <a:rPr lang="en-US" b="1" dirty="0">
                <a:latin typeface="Courier New" pitchFamily="49" charset="0"/>
              </a:rPr>
              <a:t> </a:t>
            </a:r>
            <a:r>
              <a:rPr lang="en-US" dirty="0"/>
              <a:t>never returns a short count</a:t>
            </a:r>
          </a:p>
          <a:p>
            <a:pPr lvl="1"/>
            <a:r>
              <a:rPr lang="en-US" dirty="0"/>
              <a:t>Calls to </a:t>
            </a:r>
            <a:r>
              <a:rPr lang="en-US" b="1" dirty="0" err="1">
                <a:latin typeface="Courier New" pitchFamily="49" charset="0"/>
              </a:rPr>
              <a:t>rio_readn</a:t>
            </a:r>
            <a:r>
              <a:rPr lang="en-US" b="1" dirty="0"/>
              <a:t> </a:t>
            </a:r>
            <a:r>
              <a:rPr lang="en-US" dirty="0"/>
              <a:t>and </a:t>
            </a:r>
            <a:r>
              <a:rPr lang="en-US" b="1" dirty="0" err="1">
                <a:latin typeface="Courier New" pitchFamily="49" charset="0"/>
              </a:rPr>
              <a:t>rio_writen</a:t>
            </a:r>
            <a:r>
              <a:rPr lang="en-US" b="1" dirty="0"/>
              <a:t> </a:t>
            </a:r>
            <a:r>
              <a:rPr lang="en-US" dirty="0"/>
              <a:t>can be interleaved arbitrarily on the same descriptor</a:t>
            </a:r>
          </a:p>
        </p:txBody>
      </p:sp>
      <p:sp>
        <p:nvSpPr>
          <p:cNvPr id="758788" name="Text Box 4"/>
          <p:cNvSpPr txBox="1">
            <a:spLocks noChangeArrowheads="1"/>
          </p:cNvSpPr>
          <p:nvPr/>
        </p:nvSpPr>
        <p:spPr bwMode="auto">
          <a:xfrm>
            <a:off x="2342592" y="2316540"/>
            <a:ext cx="7478970" cy="156966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2"/>
            </a:solidFill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pPr algn="l"/>
            <a:r>
              <a:rPr lang="en-US" sz="1600" dirty="0">
                <a:latin typeface="Courier New" pitchFamily="49" charset="0"/>
              </a:rPr>
              <a:t>#include "</a:t>
            </a:r>
            <a:r>
              <a:rPr lang="en-US" sz="1600" dirty="0" err="1">
                <a:latin typeface="Courier New" pitchFamily="49" charset="0"/>
              </a:rPr>
              <a:t>csapp.h</a:t>
            </a:r>
            <a:r>
              <a:rPr lang="en-US" sz="1600" dirty="0">
                <a:latin typeface="Courier New" pitchFamily="49" charset="0"/>
              </a:rPr>
              <a:t>"</a:t>
            </a:r>
          </a:p>
          <a:p>
            <a:pPr algn="l"/>
            <a:endParaRPr lang="en-US" sz="1600" dirty="0">
              <a:latin typeface="Courier New" pitchFamily="49" charset="0"/>
            </a:endParaRPr>
          </a:p>
          <a:p>
            <a:pPr algn="l"/>
            <a:r>
              <a:rPr lang="en-US" sz="1600" dirty="0" err="1">
                <a:latin typeface="Courier New" pitchFamily="49" charset="0"/>
              </a:rPr>
              <a:t>ssize_t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rio_readn</a:t>
            </a:r>
            <a:r>
              <a:rPr lang="en-US" sz="1600" dirty="0">
                <a:latin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fd</a:t>
            </a:r>
            <a:r>
              <a:rPr lang="en-US" sz="1600" dirty="0">
                <a:latin typeface="Courier New" pitchFamily="49" charset="0"/>
              </a:rPr>
              <a:t>, void *</a:t>
            </a:r>
            <a:r>
              <a:rPr lang="en-US" sz="1600" dirty="0" err="1">
                <a:latin typeface="Courier New" pitchFamily="49" charset="0"/>
              </a:rPr>
              <a:t>usrbuf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</a:rPr>
              <a:t>size_t</a:t>
            </a:r>
            <a:r>
              <a:rPr lang="en-US" sz="1600" dirty="0">
                <a:latin typeface="Courier New" pitchFamily="49" charset="0"/>
              </a:rPr>
              <a:t> n);</a:t>
            </a:r>
          </a:p>
          <a:p>
            <a:pPr algn="l"/>
            <a:r>
              <a:rPr lang="en-US" sz="1600" dirty="0" err="1">
                <a:latin typeface="Courier New" pitchFamily="49" charset="0"/>
              </a:rPr>
              <a:t>ssize_t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rio_writen</a:t>
            </a:r>
            <a:r>
              <a:rPr lang="en-US" sz="1600" dirty="0">
                <a:latin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fd</a:t>
            </a:r>
            <a:r>
              <a:rPr lang="en-US" sz="1600" dirty="0">
                <a:latin typeface="Courier New" pitchFamily="49" charset="0"/>
              </a:rPr>
              <a:t>, void *</a:t>
            </a:r>
            <a:r>
              <a:rPr lang="en-US" sz="1600" dirty="0" err="1">
                <a:latin typeface="Courier New" pitchFamily="49" charset="0"/>
              </a:rPr>
              <a:t>usrbuf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</a:rPr>
              <a:t>size_t</a:t>
            </a:r>
            <a:r>
              <a:rPr lang="en-US" sz="1600" dirty="0">
                <a:latin typeface="Courier New" pitchFamily="49" charset="0"/>
              </a:rPr>
              <a:t> n);</a:t>
            </a:r>
          </a:p>
          <a:p>
            <a:pPr algn="l"/>
            <a:endParaRPr lang="en-US" sz="1600" dirty="0">
              <a:latin typeface="Courier New" pitchFamily="49" charset="0"/>
            </a:endParaRPr>
          </a:p>
          <a:p>
            <a:pPr algn="l"/>
            <a:r>
              <a:rPr lang="en-US" sz="1600" dirty="0">
                <a:latin typeface="Courier New" pitchFamily="49" charset="0"/>
              </a:rPr>
              <a:t>     </a:t>
            </a:r>
            <a:r>
              <a:rPr lang="en-US" sz="1600" dirty="0">
                <a:solidFill>
                  <a:srgbClr val="990000"/>
                </a:solidFill>
                <a:latin typeface="Calibri" pitchFamily="34" charset="0"/>
              </a:rPr>
              <a:t>Return: num. bytes transferred if OK,</a:t>
            </a:r>
            <a:r>
              <a:rPr lang="en-US" sz="1600" i="1" dirty="0">
                <a:solidFill>
                  <a:srgbClr val="990000"/>
                </a:solidFill>
                <a:latin typeface="Calibri" pitchFamily="34" charset="0"/>
              </a:rPr>
              <a:t>  </a:t>
            </a:r>
            <a:r>
              <a:rPr lang="en-US" sz="1600" dirty="0">
                <a:solidFill>
                  <a:srgbClr val="990000"/>
                </a:solidFill>
                <a:latin typeface="Calibri" pitchFamily="34" charset="0"/>
              </a:rPr>
              <a:t>0 on EOF (</a:t>
            </a:r>
            <a:r>
              <a:rPr lang="en-US" sz="1600" dirty="0" err="1">
                <a:solidFill>
                  <a:srgbClr val="990000"/>
                </a:solidFill>
                <a:latin typeface="Courier New" pitchFamily="49" charset="0"/>
              </a:rPr>
              <a:t>rio_readn</a:t>
            </a:r>
            <a:r>
              <a:rPr lang="en-US" sz="1600" dirty="0">
                <a:solidFill>
                  <a:srgbClr val="990000"/>
                </a:solidFill>
                <a:latin typeface="Calibri" pitchFamily="34" charset="0"/>
              </a:rPr>
              <a:t> only), -1 on error</a:t>
            </a:r>
            <a:r>
              <a:rPr lang="en-US" sz="1600" i="1" dirty="0">
                <a:solidFill>
                  <a:srgbClr val="990000"/>
                </a:solidFill>
                <a:latin typeface="Calibri" pitchFamily="34" charset="0"/>
              </a:rPr>
              <a:t> 	</a:t>
            </a:r>
          </a:p>
        </p:txBody>
      </p:sp>
    </p:spTree>
    <p:extLst>
      <p:ext uri="{BB962C8B-B14F-4D97-AF65-F5344CB8AC3E}">
        <p14:creationId xmlns:p14="http://schemas.microsoft.com/office/powerpoint/2010/main" val="2145424533"/>
      </p:ext>
    </p:extLst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Buffered RIO Input Functions</a:t>
            </a:r>
          </a:p>
        </p:txBody>
      </p:sp>
      <p:sp>
        <p:nvSpPr>
          <p:cNvPr id="766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86936" y="1219200"/>
            <a:ext cx="8307388" cy="5334000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Efficiently read text lines and binary data from a file partially cached in an internal memory buffer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dirty="0"/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dirty="0"/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dirty="0"/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dirty="0"/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dirty="0"/>
          </a:p>
          <a:p>
            <a:pPr lvl="1">
              <a:spcBef>
                <a:spcPct val="0"/>
              </a:spcBef>
            </a:pPr>
            <a:endParaRPr lang="en-US" dirty="0">
              <a:latin typeface="Courier New" pitchFamily="49" charset="0"/>
            </a:endParaRPr>
          </a:p>
          <a:p>
            <a:pPr lvl="1">
              <a:spcBef>
                <a:spcPct val="0"/>
              </a:spcBef>
            </a:pPr>
            <a:r>
              <a:rPr lang="en-US" b="1" dirty="0" err="1">
                <a:solidFill>
                  <a:srgbClr val="0070C0"/>
                </a:solidFill>
                <a:latin typeface="Courier New" pitchFamily="49" charset="0"/>
              </a:rPr>
              <a:t>rio_readlineb</a:t>
            </a:r>
            <a:r>
              <a:rPr lang="en-US" dirty="0"/>
              <a:t> reads a </a:t>
            </a:r>
            <a:r>
              <a:rPr lang="en-US" b="1" i="1" dirty="0">
                <a:solidFill>
                  <a:srgbClr val="0070C0"/>
                </a:solidFill>
              </a:rPr>
              <a:t>text line</a:t>
            </a:r>
            <a:r>
              <a:rPr lang="en-US" dirty="0"/>
              <a:t> of up to </a:t>
            </a:r>
            <a:r>
              <a:rPr lang="en-US" b="1" dirty="0" err="1">
                <a:latin typeface="Courier New" pitchFamily="49" charset="0"/>
              </a:rPr>
              <a:t>maxlen</a:t>
            </a:r>
            <a:r>
              <a:rPr lang="en-US" dirty="0"/>
              <a:t> bytes from file </a:t>
            </a:r>
            <a:r>
              <a:rPr lang="en-US" b="1" dirty="0" err="1">
                <a:latin typeface="Courier New" pitchFamily="49" charset="0"/>
              </a:rPr>
              <a:t>fd</a:t>
            </a:r>
            <a:r>
              <a:rPr lang="en-US" dirty="0"/>
              <a:t> and stores the line in </a:t>
            </a:r>
            <a:r>
              <a:rPr lang="en-US" b="1" dirty="0" err="1">
                <a:latin typeface="Courier New" pitchFamily="49" charset="0"/>
              </a:rPr>
              <a:t>usrbuf</a:t>
            </a:r>
            <a:endParaRPr lang="en-US" b="1" dirty="0"/>
          </a:p>
          <a:p>
            <a:pPr lvl="2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Especially useful for reading text lines from network sockets</a:t>
            </a:r>
          </a:p>
          <a:p>
            <a:pPr lvl="1">
              <a:spcBef>
                <a:spcPct val="0"/>
              </a:spcBef>
            </a:pPr>
            <a:r>
              <a:rPr lang="en-US" dirty="0"/>
              <a:t>Stopping conditions</a:t>
            </a:r>
          </a:p>
          <a:p>
            <a:pPr lvl="2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 </a:t>
            </a:r>
            <a:r>
              <a:rPr lang="en-US" b="1" dirty="0" err="1">
                <a:latin typeface="Courier New" pitchFamily="49" charset="0"/>
              </a:rPr>
              <a:t>maxlen</a:t>
            </a:r>
            <a:r>
              <a:rPr lang="en-US" dirty="0"/>
              <a:t> bytes read</a:t>
            </a:r>
          </a:p>
          <a:p>
            <a:pPr lvl="2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EOF encountered</a:t>
            </a:r>
          </a:p>
          <a:p>
            <a:pPr lvl="2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Newline (‘</a:t>
            </a:r>
            <a:r>
              <a:rPr lang="en-US" b="1" dirty="0">
                <a:latin typeface="Courier New" pitchFamily="49" charset="0"/>
              </a:rPr>
              <a:t>\n</a:t>
            </a:r>
            <a:r>
              <a:rPr lang="en-US" dirty="0"/>
              <a:t>’) encountered</a:t>
            </a:r>
          </a:p>
          <a:p>
            <a:pPr lvl="2">
              <a:lnSpc>
                <a:spcPct val="100000"/>
              </a:lnSpc>
              <a:spcBef>
                <a:spcPct val="0"/>
              </a:spcBef>
            </a:pPr>
            <a:endParaRPr lang="en-US" dirty="0"/>
          </a:p>
        </p:txBody>
      </p:sp>
      <p:sp>
        <p:nvSpPr>
          <p:cNvPr id="766980" name="Text Box 4"/>
          <p:cNvSpPr txBox="1">
            <a:spLocks noChangeArrowheads="1"/>
          </p:cNvSpPr>
          <p:nvPr/>
        </p:nvSpPr>
        <p:spPr bwMode="auto">
          <a:xfrm>
            <a:off x="1630363" y="4132264"/>
            <a:ext cx="92398" cy="461665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endParaRPr lang="en-US" sz="2400">
              <a:latin typeface="Courier New" pitchFamily="49" charset="0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2005915" y="2057401"/>
            <a:ext cx="7745069" cy="2062103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2"/>
            </a:solidFill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pPr algn="l"/>
            <a:r>
              <a:rPr lang="en-US" sz="1600" dirty="0">
                <a:latin typeface="Courier New" pitchFamily="49" charset="0"/>
              </a:rPr>
              <a:t>#include "</a:t>
            </a:r>
            <a:r>
              <a:rPr lang="en-US" sz="1600" dirty="0" err="1">
                <a:latin typeface="Courier New" pitchFamily="49" charset="0"/>
              </a:rPr>
              <a:t>csapp.h</a:t>
            </a:r>
            <a:r>
              <a:rPr lang="en-US" sz="1600" dirty="0">
                <a:latin typeface="Courier New" pitchFamily="49" charset="0"/>
              </a:rPr>
              <a:t>"</a:t>
            </a:r>
          </a:p>
          <a:p>
            <a:pPr algn="l"/>
            <a:endParaRPr lang="en-US" sz="1600" dirty="0">
              <a:latin typeface="Courier New" pitchFamily="49" charset="0"/>
            </a:endParaRPr>
          </a:p>
          <a:p>
            <a:pPr algn="l"/>
            <a:r>
              <a:rPr lang="en-US" sz="1600" dirty="0">
                <a:latin typeface="Courier New" pitchFamily="49" charset="0"/>
              </a:rPr>
              <a:t>void </a:t>
            </a:r>
            <a:r>
              <a:rPr lang="en-US" sz="1600" dirty="0" err="1">
                <a:latin typeface="Courier New" pitchFamily="49" charset="0"/>
              </a:rPr>
              <a:t>rio_readinitb</a:t>
            </a:r>
            <a:r>
              <a:rPr lang="en-US" sz="1600" dirty="0">
                <a:latin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</a:rPr>
              <a:t>rio_t</a:t>
            </a:r>
            <a:r>
              <a:rPr lang="en-US" sz="1600" dirty="0">
                <a:latin typeface="Courier New" pitchFamily="49" charset="0"/>
              </a:rPr>
              <a:t> *</a:t>
            </a:r>
            <a:r>
              <a:rPr lang="en-US" sz="1600" dirty="0" err="1">
                <a:latin typeface="Courier New" pitchFamily="49" charset="0"/>
              </a:rPr>
              <a:t>rp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fd</a:t>
            </a:r>
            <a:r>
              <a:rPr lang="en-US" sz="1600" dirty="0">
                <a:latin typeface="Courier New" pitchFamily="49" charset="0"/>
              </a:rPr>
              <a:t>);</a:t>
            </a:r>
          </a:p>
          <a:p>
            <a:pPr algn="l"/>
            <a:endParaRPr lang="en-US" sz="1600" dirty="0">
              <a:latin typeface="Courier New" pitchFamily="49" charset="0"/>
            </a:endParaRPr>
          </a:p>
          <a:p>
            <a:pPr algn="l"/>
            <a:r>
              <a:rPr lang="en-US" sz="1600" dirty="0" err="1">
                <a:latin typeface="Courier New" pitchFamily="49" charset="0"/>
              </a:rPr>
              <a:t>ssize_t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rio_readlineb</a:t>
            </a:r>
            <a:r>
              <a:rPr lang="en-US" sz="1600" dirty="0">
                <a:latin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</a:rPr>
              <a:t>rio_t</a:t>
            </a:r>
            <a:r>
              <a:rPr lang="en-US" sz="1600" dirty="0">
                <a:latin typeface="Courier New" pitchFamily="49" charset="0"/>
              </a:rPr>
              <a:t> *</a:t>
            </a:r>
            <a:r>
              <a:rPr lang="en-US" sz="1600" dirty="0" err="1">
                <a:latin typeface="Courier New" pitchFamily="49" charset="0"/>
              </a:rPr>
              <a:t>rp</a:t>
            </a:r>
            <a:r>
              <a:rPr lang="en-US" sz="1600" dirty="0">
                <a:latin typeface="Courier New" pitchFamily="49" charset="0"/>
              </a:rPr>
              <a:t>, void *</a:t>
            </a:r>
            <a:r>
              <a:rPr lang="en-US" sz="1600" dirty="0" err="1">
                <a:latin typeface="Courier New" pitchFamily="49" charset="0"/>
              </a:rPr>
              <a:t>usrbuf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</a:rPr>
              <a:t>size_t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maxlen</a:t>
            </a:r>
            <a:r>
              <a:rPr lang="en-US" sz="1600" dirty="0">
                <a:latin typeface="Courier New" pitchFamily="49" charset="0"/>
              </a:rPr>
              <a:t>);</a:t>
            </a:r>
          </a:p>
          <a:p>
            <a:pPr algn="l"/>
            <a:r>
              <a:rPr lang="en-US" sz="1600" dirty="0" err="1">
                <a:latin typeface="Courier New" pitchFamily="49" charset="0"/>
              </a:rPr>
              <a:t>ssize_t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rio_readnb</a:t>
            </a:r>
            <a:r>
              <a:rPr lang="en-US" sz="1600" dirty="0">
                <a:latin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</a:rPr>
              <a:t>rio_t</a:t>
            </a:r>
            <a:r>
              <a:rPr lang="en-US" sz="1600" dirty="0">
                <a:latin typeface="Courier New" pitchFamily="49" charset="0"/>
              </a:rPr>
              <a:t> *</a:t>
            </a:r>
            <a:r>
              <a:rPr lang="en-US" sz="1600" dirty="0" err="1">
                <a:latin typeface="Courier New" pitchFamily="49" charset="0"/>
              </a:rPr>
              <a:t>rp</a:t>
            </a:r>
            <a:r>
              <a:rPr lang="en-US" sz="1600" dirty="0">
                <a:latin typeface="Courier New" pitchFamily="49" charset="0"/>
              </a:rPr>
              <a:t>, void *</a:t>
            </a:r>
            <a:r>
              <a:rPr lang="en-US" sz="1600" dirty="0" err="1">
                <a:latin typeface="Courier New" pitchFamily="49" charset="0"/>
              </a:rPr>
              <a:t>usrbuf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</a:rPr>
              <a:t>size_t</a:t>
            </a:r>
            <a:r>
              <a:rPr lang="en-US" sz="1600" dirty="0">
                <a:latin typeface="Courier New" pitchFamily="49" charset="0"/>
              </a:rPr>
              <a:t> n);</a:t>
            </a:r>
          </a:p>
          <a:p>
            <a:pPr algn="l"/>
            <a:endParaRPr lang="en-US" sz="1600" dirty="0">
              <a:latin typeface="Courier New" pitchFamily="49" charset="0"/>
            </a:endParaRPr>
          </a:p>
          <a:p>
            <a:pPr algn="l"/>
            <a:r>
              <a:rPr lang="en-US" sz="1600" dirty="0">
                <a:latin typeface="Courier New" pitchFamily="49" charset="0"/>
              </a:rPr>
              <a:t>                          </a:t>
            </a:r>
            <a:r>
              <a:rPr lang="en-US" sz="1600" dirty="0">
                <a:solidFill>
                  <a:srgbClr val="990000"/>
                </a:solidFill>
                <a:latin typeface="Calibri" pitchFamily="34" charset="0"/>
              </a:rPr>
              <a:t>Return: num. bytes read if OK, 0 on EOF, -1 on error</a:t>
            </a:r>
            <a:endParaRPr lang="en-US" sz="1600" i="1" dirty="0">
              <a:solidFill>
                <a:srgbClr val="990000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4118798"/>
      </p:ext>
    </p:extLst>
  </p:cSld>
  <p:clrMapOvr>
    <a:masterClrMapping/>
  </p:clrMapOvr>
  <p:transition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Buffered RIO Input Functions (cont.)</a:t>
            </a:r>
          </a:p>
        </p:txBody>
      </p:sp>
      <p:sp>
        <p:nvSpPr>
          <p:cNvPr id="76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3429000"/>
            <a:ext cx="8307388" cy="2895600"/>
          </a:xfrm>
        </p:spPr>
        <p:txBody>
          <a:bodyPr>
            <a:normAutofit lnSpcReduction="10000"/>
          </a:bodyPr>
          <a:lstStyle/>
          <a:p>
            <a:pPr lvl="1">
              <a:lnSpc>
                <a:spcPct val="90000"/>
              </a:lnSpc>
              <a:buNone/>
            </a:pPr>
            <a:endParaRPr lang="en-US" dirty="0">
              <a:latin typeface="Courier New" pitchFamily="49" charset="0"/>
            </a:endParaRPr>
          </a:p>
          <a:p>
            <a:pPr lvl="1">
              <a:lnSpc>
                <a:spcPct val="90000"/>
              </a:lnSpc>
            </a:pPr>
            <a:r>
              <a:rPr lang="en-US" b="1" dirty="0" err="1">
                <a:solidFill>
                  <a:srgbClr val="0070C0"/>
                </a:solidFill>
                <a:latin typeface="Courier New" pitchFamily="49" charset="0"/>
              </a:rPr>
              <a:t>rio_readnb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reads up to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</a:rPr>
              <a:t>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b="1" i="1" dirty="0">
                <a:solidFill>
                  <a:srgbClr val="0070C0"/>
                </a:solidFill>
              </a:rPr>
              <a:t>bytes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from file </a:t>
            </a:r>
            <a:r>
              <a:rPr lang="en-US" b="1" dirty="0" err="1">
                <a:latin typeface="Courier New" pitchFamily="49" charset="0"/>
              </a:rPr>
              <a:t>fd</a:t>
            </a:r>
            <a:endParaRPr lang="en-US" b="1" dirty="0"/>
          </a:p>
          <a:p>
            <a:pPr lvl="1">
              <a:lnSpc>
                <a:spcPct val="90000"/>
              </a:lnSpc>
            </a:pPr>
            <a:r>
              <a:rPr lang="en-US" dirty="0"/>
              <a:t>Stopping conditions</a:t>
            </a:r>
          </a:p>
          <a:p>
            <a:pPr lvl="2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 </a:t>
            </a:r>
            <a:r>
              <a:rPr lang="en-US" b="1" dirty="0" err="1">
                <a:latin typeface="Courier New" pitchFamily="49" charset="0"/>
              </a:rPr>
              <a:t>maxlen</a:t>
            </a:r>
            <a:r>
              <a:rPr lang="en-US" dirty="0"/>
              <a:t> bytes read</a:t>
            </a:r>
          </a:p>
          <a:p>
            <a:pPr lvl="2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EOF encountered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Calls to </a:t>
            </a:r>
            <a:r>
              <a:rPr lang="en-US" b="1" dirty="0" err="1">
                <a:latin typeface="Courier New" pitchFamily="49" charset="0"/>
              </a:rPr>
              <a:t>rio_readlineb</a:t>
            </a:r>
            <a:r>
              <a:rPr lang="en-US" dirty="0"/>
              <a:t> and </a:t>
            </a:r>
            <a:r>
              <a:rPr lang="en-US" b="1" dirty="0" err="1">
                <a:latin typeface="Courier New" pitchFamily="49" charset="0"/>
              </a:rPr>
              <a:t>rio_readnb</a:t>
            </a:r>
            <a:r>
              <a:rPr lang="en-US" dirty="0"/>
              <a:t> can be interleaved arbitrarily on the same descriptor</a:t>
            </a:r>
          </a:p>
          <a:p>
            <a:pPr lvl="2">
              <a:lnSpc>
                <a:spcPct val="97000"/>
              </a:lnSpc>
            </a:pPr>
            <a:r>
              <a:rPr lang="en-US" b="1" kern="1200" dirty="0">
                <a:solidFill>
                  <a:srgbClr val="990000"/>
                </a:solidFill>
                <a:ea typeface="+mn-ea"/>
                <a:cs typeface="+mn-cs"/>
              </a:rPr>
              <a:t>Warning: </a:t>
            </a:r>
            <a:r>
              <a:rPr lang="en-US" dirty="0"/>
              <a:t>Don’t interleave with calls to </a:t>
            </a:r>
            <a:r>
              <a:rPr lang="en-US" b="1" dirty="0" err="1">
                <a:latin typeface="Courier New" pitchFamily="49" charset="0"/>
              </a:rPr>
              <a:t>rio_readn</a:t>
            </a:r>
            <a:endParaRPr lang="en-US" b="1" dirty="0">
              <a:latin typeface="Courier New" pitchFamily="49" charset="0"/>
            </a:endParaRPr>
          </a:p>
        </p:txBody>
      </p:sp>
      <p:sp>
        <p:nvSpPr>
          <p:cNvPr id="769028" name="Text Box 4"/>
          <p:cNvSpPr txBox="1">
            <a:spLocks noChangeArrowheads="1"/>
          </p:cNvSpPr>
          <p:nvPr/>
        </p:nvSpPr>
        <p:spPr bwMode="auto">
          <a:xfrm>
            <a:off x="1630363" y="4132264"/>
            <a:ext cx="92398" cy="461665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endParaRPr lang="en-US" sz="2400">
              <a:latin typeface="Courier New" pitchFamily="49" charset="0"/>
            </a:endParaRPr>
          </a:p>
        </p:txBody>
      </p:sp>
      <p:sp>
        <p:nvSpPr>
          <p:cNvPr id="769029" name="Text Box 5"/>
          <p:cNvSpPr txBox="1">
            <a:spLocks noChangeArrowheads="1"/>
          </p:cNvSpPr>
          <p:nvPr/>
        </p:nvSpPr>
        <p:spPr bwMode="auto">
          <a:xfrm>
            <a:off x="2057401" y="1366898"/>
            <a:ext cx="7745069" cy="2062103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2"/>
            </a:solidFill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pPr algn="l"/>
            <a:r>
              <a:rPr lang="en-US" sz="1600" dirty="0">
                <a:latin typeface="Courier New" pitchFamily="49" charset="0"/>
              </a:rPr>
              <a:t>#include "</a:t>
            </a:r>
            <a:r>
              <a:rPr lang="en-US" sz="1600" dirty="0" err="1">
                <a:latin typeface="Courier New" pitchFamily="49" charset="0"/>
              </a:rPr>
              <a:t>csapp.h</a:t>
            </a:r>
            <a:r>
              <a:rPr lang="en-US" sz="1600" dirty="0">
                <a:latin typeface="Courier New" pitchFamily="49" charset="0"/>
              </a:rPr>
              <a:t>"</a:t>
            </a:r>
          </a:p>
          <a:p>
            <a:pPr algn="l"/>
            <a:endParaRPr lang="en-US" sz="1600" dirty="0">
              <a:latin typeface="Courier New" pitchFamily="49" charset="0"/>
            </a:endParaRPr>
          </a:p>
          <a:p>
            <a:pPr algn="l"/>
            <a:r>
              <a:rPr lang="en-US" sz="1600" dirty="0">
                <a:latin typeface="Courier New" pitchFamily="49" charset="0"/>
              </a:rPr>
              <a:t>void </a:t>
            </a:r>
            <a:r>
              <a:rPr lang="en-US" sz="1600" dirty="0" err="1">
                <a:latin typeface="Courier New" pitchFamily="49" charset="0"/>
              </a:rPr>
              <a:t>rio_readinitb</a:t>
            </a:r>
            <a:r>
              <a:rPr lang="en-US" sz="1600" dirty="0">
                <a:latin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</a:rPr>
              <a:t>rio_t</a:t>
            </a:r>
            <a:r>
              <a:rPr lang="en-US" sz="1600" dirty="0">
                <a:latin typeface="Courier New" pitchFamily="49" charset="0"/>
              </a:rPr>
              <a:t> *</a:t>
            </a:r>
            <a:r>
              <a:rPr lang="en-US" sz="1600" dirty="0" err="1">
                <a:latin typeface="Courier New" pitchFamily="49" charset="0"/>
              </a:rPr>
              <a:t>rp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fd</a:t>
            </a:r>
            <a:r>
              <a:rPr lang="en-US" sz="1600" dirty="0">
                <a:latin typeface="Courier New" pitchFamily="49" charset="0"/>
              </a:rPr>
              <a:t>);</a:t>
            </a:r>
          </a:p>
          <a:p>
            <a:pPr algn="l"/>
            <a:endParaRPr lang="en-US" sz="1600" dirty="0">
              <a:latin typeface="Courier New" pitchFamily="49" charset="0"/>
            </a:endParaRPr>
          </a:p>
          <a:p>
            <a:pPr algn="l"/>
            <a:r>
              <a:rPr lang="en-US" sz="1600" dirty="0" err="1">
                <a:latin typeface="Courier New" pitchFamily="49" charset="0"/>
              </a:rPr>
              <a:t>ssize_t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rio_readlineb</a:t>
            </a:r>
            <a:r>
              <a:rPr lang="en-US" sz="1600" dirty="0">
                <a:latin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</a:rPr>
              <a:t>rio_t</a:t>
            </a:r>
            <a:r>
              <a:rPr lang="en-US" sz="1600" dirty="0">
                <a:latin typeface="Courier New" pitchFamily="49" charset="0"/>
              </a:rPr>
              <a:t> *</a:t>
            </a:r>
            <a:r>
              <a:rPr lang="en-US" sz="1600" dirty="0" err="1">
                <a:latin typeface="Courier New" pitchFamily="49" charset="0"/>
              </a:rPr>
              <a:t>rp</a:t>
            </a:r>
            <a:r>
              <a:rPr lang="en-US" sz="1600" dirty="0">
                <a:latin typeface="Courier New" pitchFamily="49" charset="0"/>
              </a:rPr>
              <a:t>, void *</a:t>
            </a:r>
            <a:r>
              <a:rPr lang="en-US" sz="1600" dirty="0" err="1">
                <a:latin typeface="Courier New" pitchFamily="49" charset="0"/>
              </a:rPr>
              <a:t>usrbuf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</a:rPr>
              <a:t>size_t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maxlen</a:t>
            </a:r>
            <a:r>
              <a:rPr lang="en-US" sz="1600" dirty="0">
                <a:latin typeface="Courier New" pitchFamily="49" charset="0"/>
              </a:rPr>
              <a:t>);</a:t>
            </a:r>
          </a:p>
          <a:p>
            <a:pPr algn="l"/>
            <a:r>
              <a:rPr lang="en-US" sz="1600" dirty="0" err="1">
                <a:latin typeface="Courier New" pitchFamily="49" charset="0"/>
              </a:rPr>
              <a:t>ssize_t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rio_readnb</a:t>
            </a:r>
            <a:r>
              <a:rPr lang="en-US" sz="1600" dirty="0">
                <a:latin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</a:rPr>
              <a:t>rio_t</a:t>
            </a:r>
            <a:r>
              <a:rPr lang="en-US" sz="1600" dirty="0">
                <a:latin typeface="Courier New" pitchFamily="49" charset="0"/>
              </a:rPr>
              <a:t> *</a:t>
            </a:r>
            <a:r>
              <a:rPr lang="en-US" sz="1600" dirty="0" err="1">
                <a:latin typeface="Courier New" pitchFamily="49" charset="0"/>
              </a:rPr>
              <a:t>rp</a:t>
            </a:r>
            <a:r>
              <a:rPr lang="en-US" sz="1600" dirty="0">
                <a:latin typeface="Courier New" pitchFamily="49" charset="0"/>
              </a:rPr>
              <a:t>, void *</a:t>
            </a:r>
            <a:r>
              <a:rPr lang="en-US" sz="1600" dirty="0" err="1">
                <a:latin typeface="Courier New" pitchFamily="49" charset="0"/>
              </a:rPr>
              <a:t>usrbuf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</a:rPr>
              <a:t>size_t</a:t>
            </a:r>
            <a:r>
              <a:rPr lang="en-US" sz="1600" dirty="0">
                <a:latin typeface="Courier New" pitchFamily="49" charset="0"/>
              </a:rPr>
              <a:t> n);</a:t>
            </a:r>
          </a:p>
          <a:p>
            <a:pPr algn="l"/>
            <a:endParaRPr lang="en-US" sz="1600" dirty="0">
              <a:latin typeface="Courier New" pitchFamily="49" charset="0"/>
            </a:endParaRPr>
          </a:p>
          <a:p>
            <a:pPr algn="l"/>
            <a:r>
              <a:rPr lang="en-US" sz="1600" dirty="0">
                <a:latin typeface="Courier New" pitchFamily="49" charset="0"/>
              </a:rPr>
              <a:t>                          </a:t>
            </a:r>
            <a:r>
              <a:rPr lang="en-US" sz="1600" dirty="0">
                <a:solidFill>
                  <a:srgbClr val="990000"/>
                </a:solidFill>
                <a:latin typeface="Calibri" pitchFamily="34" charset="0"/>
              </a:rPr>
              <a:t>Return: num. bytes read if OK, 0 on EOF, -1 on error</a:t>
            </a:r>
            <a:endParaRPr lang="en-US" sz="1600" i="1" dirty="0">
              <a:solidFill>
                <a:srgbClr val="990000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6245778"/>
      </p:ext>
    </p:extLst>
  </p:cSld>
  <p:clrMapOvr>
    <a:masterClrMapping/>
  </p:clrMapOvr>
  <p:transition/>
</p:sld>
</file>