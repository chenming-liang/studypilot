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7"/>
  </p:notesMasterIdLst>
  <p:sldIdLst>
    <p:sldId id="256" r:id="rId2"/>
    <p:sldId id="841" r:id="rId3"/>
    <p:sldId id="998" r:id="rId4"/>
    <p:sldId id="315" r:id="rId5"/>
    <p:sldId id="316" r:id="rId6"/>
    <p:sldId id="161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317" r:id="rId16"/>
    <p:sldId id="318" r:id="rId17"/>
    <p:sldId id="1616" r:id="rId18"/>
    <p:sldId id="268" r:id="rId19"/>
    <p:sldId id="269" r:id="rId20"/>
    <p:sldId id="270" r:id="rId21"/>
    <p:sldId id="271" r:id="rId22"/>
    <p:sldId id="319" r:id="rId23"/>
    <p:sldId id="272" r:id="rId24"/>
    <p:sldId id="1613" r:id="rId25"/>
    <p:sldId id="283" r:id="rId26"/>
    <p:sldId id="284" r:id="rId27"/>
    <p:sldId id="285" r:id="rId28"/>
    <p:sldId id="286" r:id="rId29"/>
    <p:sldId id="287" r:id="rId30"/>
    <p:sldId id="1617" r:id="rId31"/>
    <p:sldId id="1614" r:id="rId32"/>
    <p:sldId id="290" r:id="rId33"/>
    <p:sldId id="291" r:id="rId34"/>
    <p:sldId id="292" r:id="rId35"/>
    <p:sldId id="293" r:id="rId36"/>
    <p:sldId id="1615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1584" r:id="rId47"/>
    <p:sldId id="1585" r:id="rId48"/>
    <p:sldId id="1610" r:id="rId49"/>
    <p:sldId id="1611" r:id="rId50"/>
    <p:sldId id="1586" r:id="rId51"/>
    <p:sldId id="1587" r:id="rId52"/>
    <p:sldId id="1588" r:id="rId53"/>
    <p:sldId id="1591" r:id="rId54"/>
    <p:sldId id="1592" r:id="rId55"/>
    <p:sldId id="1589" r:id="rId56"/>
    <p:sldId id="1590" r:id="rId57"/>
    <p:sldId id="1593" r:id="rId58"/>
    <p:sldId id="1594" r:id="rId59"/>
    <p:sldId id="1595" r:id="rId60"/>
    <p:sldId id="1596" r:id="rId61"/>
    <p:sldId id="1597" r:id="rId62"/>
    <p:sldId id="1598" r:id="rId63"/>
    <p:sldId id="1601" r:id="rId64"/>
    <p:sldId id="1603" r:id="rId65"/>
    <p:sldId id="1606" r:id="rId66"/>
    <p:sldId id="1604" r:id="rId67"/>
    <p:sldId id="1605" r:id="rId68"/>
    <p:sldId id="1607" r:id="rId69"/>
    <p:sldId id="1608" r:id="rId70"/>
    <p:sldId id="1609" r:id="rId71"/>
    <p:sldId id="1583" r:id="rId72"/>
    <p:sldId id="1564" r:id="rId73"/>
    <p:sldId id="1570" r:id="rId74"/>
    <p:sldId id="1571" r:id="rId75"/>
    <p:sldId id="1572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D5A4-340E-8948-B151-C8D5A74421AF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88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A384C-203B-454E-9D15-1EFDF6282DB6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1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2C35-48C5-6747-A9C8-426338798E82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9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0A07-0993-5A44-A9EF-C7AD49A44E7B}" type="datetime1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45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6E2F-85A2-1548-979F-ED05539E3BDE}" type="datetime1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0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29CA-20BA-4845-976B-5F23A0145A89}" type="datetime1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34B8-2FD8-2548-8C4F-75D7275788D7}" type="datetime1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3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120B-5425-0740-B26F-FF228EE904C2}" type="datetime1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3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D2F6-8438-1542-A9A9-DC607A1B99E9}" type="datetime1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6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8BB9-66A7-504B-BC9F-736C3080A1DB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1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72A6-6DF7-A642-8048-5DC28BB90BC5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6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CE7E0-0F8D-5543-94EA-E16C7B39EA53}" type="datetime1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8FB5B-1F60-994B-8E33-8E782B4C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4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26Laj6DnFv6eCzDb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command.org/lc3_lts0090.php" TargetMode="External"/><Relationship Id="rId2" Type="http://schemas.openxmlformats.org/officeDocument/2006/relationships/hyperlink" Target="https://linuxfoundation.org/blog/classic-sysadmin-understanding-linux-file-permissi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connected.com/linux-file-permissions-complete-guide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csapp.cs.cmu.edu/public/code.html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9C7B43-04DF-BB87-FB96-840FD36B2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78592"/>
            <a:ext cx="10972800" cy="57008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76843-6500-3A7E-6D07-C21BB7BA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9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550D-EFC9-78B8-65CA-FE2B9013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B299-8368-CA65-A330-7C91191E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FB8D-C07E-9D51-31D1-96614DED8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malloc lab (final) due today</a:t>
            </a:r>
          </a:p>
          <a:p>
            <a:r>
              <a:rPr lang="en-US" dirty="0"/>
              <a:t>malloc lab (checkpoint) reflection due today</a:t>
            </a:r>
            <a:br>
              <a:rPr lang="en-US" dirty="0"/>
            </a:br>
            <a:r>
              <a:rPr lang="en-US" b="0" i="0" u="sng" dirty="0">
                <a:effectLst/>
                <a:hlinkClick r:id="rId2"/>
              </a:rPr>
              <a:t>https://forms.gle/26Laj6DnFv6eCzDb9</a:t>
            </a:r>
            <a:endParaRPr lang="en-US" dirty="0"/>
          </a:p>
          <a:p>
            <a:r>
              <a:rPr lang="en-US" dirty="0"/>
              <a:t>shell lab out today</a:t>
            </a:r>
          </a:p>
          <a:p>
            <a:pPr lvl="1"/>
            <a:r>
              <a:rPr lang="en-US" dirty="0"/>
              <a:t>start early! </a:t>
            </a:r>
          </a:p>
          <a:p>
            <a:r>
              <a:rPr lang="en-US" dirty="0"/>
              <a:t>SCS building facilities is looking into issues with HVAC in Rashid (we know it is too hot)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DBEC2-40BB-11B5-535C-AFF3C7A0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6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A44F-FF19-41A6-A3EA-69FA01C0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C37C-2F3E-A630-72D3-702838C2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F5DB-D459-316A-2A8D-FD452FB6A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E7314-7FC5-1075-CD81-60E9A0C6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9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BC72-1AC1-42CA-B198-A28D3728C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level: below standard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58761-8DC4-426D-868C-C6D206EE1110}"/>
              </a:ext>
            </a:extLst>
          </p:cNvPr>
          <p:cNvSpPr/>
          <p:nvPr/>
        </p:nvSpPr>
        <p:spPr>
          <a:xfrm>
            <a:off x="1026160" y="1540934"/>
            <a:ext cx="6019524" cy="4240106"/>
          </a:xfrm>
          <a:prstGeom prst="rect">
            <a:avLst/>
          </a:prstGeom>
          <a:solidFill>
            <a:schemeClr val="bg1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#include &lt;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stdio.h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int main(void)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FILE *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fopen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("output.txt", "w");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if (!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perror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("output.txt");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1;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fputs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("baby shark (do doo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dooo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)\n",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fclose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perror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("output.txt");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1;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return 0;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1C12965D-FA86-46B4-9AEF-0C92E43EA45A}"/>
              </a:ext>
            </a:extLst>
          </p:cNvPr>
          <p:cNvSpPr/>
          <p:nvPr/>
        </p:nvSpPr>
        <p:spPr>
          <a:xfrm>
            <a:off x="7653868" y="1261534"/>
            <a:ext cx="3266715" cy="1803399"/>
          </a:xfrm>
          <a:prstGeom prst="borderCallout2">
            <a:avLst>
              <a:gd name="adj1" fmla="val 4464"/>
              <a:gd name="adj2" fmla="val -5984"/>
              <a:gd name="adj3" fmla="val 4464"/>
              <a:gd name="adj4" fmla="val -12643"/>
              <a:gd name="adj5" fmla="val 59823"/>
              <a:gd name="adj6" fmla="val -3313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FILE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fopen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(const char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fname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const char *mode)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open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fname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__mode2flags(mode),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DEFFILEPERMS);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== -1)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NULL;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fdopen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 mode);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CA828583-646F-4F39-BE24-60A1EC3DFB32}"/>
              </a:ext>
            </a:extLst>
          </p:cNvPr>
          <p:cNvSpPr/>
          <p:nvPr/>
        </p:nvSpPr>
        <p:spPr>
          <a:xfrm>
            <a:off x="7653868" y="3234270"/>
            <a:ext cx="3266715" cy="1964267"/>
          </a:xfrm>
          <a:prstGeom prst="borderCallout2">
            <a:avLst>
              <a:gd name="adj1" fmla="val 6250"/>
              <a:gd name="adj2" fmla="val -5482"/>
              <a:gd name="adj3" fmla="val 6250"/>
              <a:gd name="adj4" fmla="val -12002"/>
              <a:gd name="adj5" fmla="val 8848"/>
              <a:gd name="adj6" fmla="val -21786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fputs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(const char *s, FILE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size_t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n =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strlen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while (n &gt; 0)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ssize_t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written =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write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, s, n);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if (written &lt; 0) return EOF;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n -= written;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 s += written;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return 0;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D0386703-8813-40BB-9757-E05ECEEFC449}"/>
              </a:ext>
            </a:extLst>
          </p:cNvPr>
          <p:cNvSpPr/>
          <p:nvPr/>
        </p:nvSpPr>
        <p:spPr>
          <a:xfrm>
            <a:off x="7653867" y="5367874"/>
            <a:ext cx="3266715" cy="973660"/>
          </a:xfrm>
          <a:prstGeom prst="borderCallout2">
            <a:avLst>
              <a:gd name="adj1" fmla="val 6250"/>
              <a:gd name="adj2" fmla="val -5482"/>
              <a:gd name="adj3" fmla="val 6250"/>
              <a:gd name="adj4" fmla="val -12002"/>
              <a:gd name="adj5" fmla="val -177120"/>
              <a:gd name="adj6" fmla="val -97466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fclose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(FILE *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int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rv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close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fd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__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ffree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fp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rv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4A3D42E7-BDFD-4D98-9751-1AEC93ED75C5}"/>
              </a:ext>
            </a:extLst>
          </p:cNvPr>
          <p:cNvSpPr/>
          <p:nvPr/>
        </p:nvSpPr>
        <p:spPr>
          <a:xfrm flipH="1">
            <a:off x="3107267" y="5317066"/>
            <a:ext cx="2650067" cy="1253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625"/>
              <a:gd name="adj6" fmla="val -8155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globl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close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close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mov $3, %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eax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syscall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cmp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$-4096, %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rax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jae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__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syscall_error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   ret</a:t>
            </a:r>
          </a:p>
        </p:txBody>
      </p:sp>
    </p:spTree>
    <p:extLst>
      <p:ext uri="{BB962C8B-B14F-4D97-AF65-F5344CB8AC3E}">
        <p14:creationId xmlns:p14="http://schemas.microsoft.com/office/powerpoint/2010/main" val="364186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4D172E1-0422-428E-956C-1F5A001A7916}"/>
              </a:ext>
            </a:extLst>
          </p:cNvPr>
          <p:cNvSpPr/>
          <p:nvPr/>
        </p:nvSpPr>
        <p:spPr>
          <a:xfrm>
            <a:off x="7312529" y="1215150"/>
            <a:ext cx="2178605" cy="2734035"/>
          </a:xfrm>
          <a:prstGeom prst="rect">
            <a:avLst/>
          </a:prstGeom>
          <a:solidFill>
            <a:srgbClr val="F5E1E1"/>
          </a:solidFill>
          <a:ln>
            <a:solidFill>
              <a:srgbClr val="F1C7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7E807-00B5-4D82-90C3-942FA841919D}"/>
              </a:ext>
            </a:extLst>
          </p:cNvPr>
          <p:cNvSpPr/>
          <p:nvPr/>
        </p:nvSpPr>
        <p:spPr>
          <a:xfrm>
            <a:off x="4902201" y="1059839"/>
            <a:ext cx="1507067" cy="50029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E5FA1B-7E2F-4D7A-AB41-61109D70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82"/>
            <a:ext cx="10515600" cy="1325563"/>
          </a:xfrm>
        </p:spPr>
        <p:txBody>
          <a:bodyPr/>
          <a:lstStyle/>
          <a:p>
            <a:r>
              <a:rPr lang="en-US" dirty="0"/>
              <a:t>Why do we have two sets?</a:t>
            </a:r>
          </a:p>
        </p:txBody>
      </p:sp>
      <p:sp>
        <p:nvSpPr>
          <p:cNvPr id="4" name="Shape 78">
            <a:extLst>
              <a:ext uri="{FF2B5EF4-FFF2-40B4-BE49-F238E27FC236}">
                <a16:creationId xmlns:a16="http://schemas.microsoft.com/office/drawing/2014/main" id="{C526A4DF-A5A5-4296-8A9D-29CF6EACC4FF}"/>
              </a:ext>
            </a:extLst>
          </p:cNvPr>
          <p:cNvSpPr txBox="1"/>
          <p:nvPr/>
        </p:nvSpPr>
        <p:spPr>
          <a:xfrm>
            <a:off x="1729362" y="1215149"/>
            <a:ext cx="1046716" cy="630766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fopen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fdopen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" name="Shape 79">
            <a:extLst>
              <a:ext uri="{FF2B5EF4-FFF2-40B4-BE49-F238E27FC236}">
                <a16:creationId xmlns:a16="http://schemas.microsoft.com/office/drawing/2014/main" id="{D526C274-C07D-42A1-9EBF-A4AA04BA6F5F}"/>
              </a:ext>
            </a:extLst>
          </p:cNvPr>
          <p:cNvSpPr txBox="1"/>
          <p:nvPr/>
        </p:nvSpPr>
        <p:spPr>
          <a:xfrm>
            <a:off x="5186406" y="5501194"/>
            <a:ext cx="908647" cy="33887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endParaRPr dirty="0"/>
          </a:p>
        </p:txBody>
      </p:sp>
      <p:sp>
        <p:nvSpPr>
          <p:cNvPr id="8" name="Shape 79">
            <a:extLst>
              <a:ext uri="{FF2B5EF4-FFF2-40B4-BE49-F238E27FC236}">
                <a16:creationId xmlns:a16="http://schemas.microsoft.com/office/drawing/2014/main" id="{17A6164C-88CA-46CA-84C2-E7E8562E2585}"/>
              </a:ext>
            </a:extLst>
          </p:cNvPr>
          <p:cNvSpPr txBox="1"/>
          <p:nvPr/>
        </p:nvSpPr>
        <p:spPr>
          <a:xfrm>
            <a:off x="5186406" y="4771930"/>
            <a:ext cx="908647" cy="31961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endParaRPr dirty="0"/>
          </a:p>
        </p:txBody>
      </p:sp>
      <p:sp>
        <p:nvSpPr>
          <p:cNvPr id="9" name="Shape 79">
            <a:extLst>
              <a:ext uri="{FF2B5EF4-FFF2-40B4-BE49-F238E27FC236}">
                <a16:creationId xmlns:a16="http://schemas.microsoft.com/office/drawing/2014/main" id="{BA8C552B-F83F-4F50-84CC-59570C2E8025}"/>
              </a:ext>
            </a:extLst>
          </p:cNvPr>
          <p:cNvSpPr txBox="1"/>
          <p:nvPr/>
        </p:nvSpPr>
        <p:spPr>
          <a:xfrm>
            <a:off x="5186407" y="3426332"/>
            <a:ext cx="908647" cy="33887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dirty="0"/>
          </a:p>
        </p:txBody>
      </p:sp>
      <p:sp>
        <p:nvSpPr>
          <p:cNvPr id="10" name="Shape 79">
            <a:extLst>
              <a:ext uri="{FF2B5EF4-FFF2-40B4-BE49-F238E27FC236}">
                <a16:creationId xmlns:a16="http://schemas.microsoft.com/office/drawing/2014/main" id="{B329CF7E-8B04-4F5B-A274-795801E886D3}"/>
              </a:ext>
            </a:extLst>
          </p:cNvPr>
          <p:cNvSpPr txBox="1"/>
          <p:nvPr/>
        </p:nvSpPr>
        <p:spPr>
          <a:xfrm>
            <a:off x="5186408" y="2222865"/>
            <a:ext cx="908647" cy="33887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dirty="0"/>
          </a:p>
        </p:txBody>
      </p:sp>
      <p:sp>
        <p:nvSpPr>
          <p:cNvPr id="11" name="Shape 79">
            <a:extLst>
              <a:ext uri="{FF2B5EF4-FFF2-40B4-BE49-F238E27FC236}">
                <a16:creationId xmlns:a16="http://schemas.microsoft.com/office/drawing/2014/main" id="{A4155A1F-6199-4C9A-8596-3E34BF1218B5}"/>
              </a:ext>
            </a:extLst>
          </p:cNvPr>
          <p:cNvSpPr txBox="1"/>
          <p:nvPr/>
        </p:nvSpPr>
        <p:spPr>
          <a:xfrm>
            <a:off x="5186408" y="1370724"/>
            <a:ext cx="909593" cy="31961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endParaRPr dirty="0"/>
          </a:p>
        </p:txBody>
      </p:sp>
      <p:sp>
        <p:nvSpPr>
          <p:cNvPr id="12" name="Shape 78">
            <a:extLst>
              <a:ext uri="{FF2B5EF4-FFF2-40B4-BE49-F238E27FC236}">
                <a16:creationId xmlns:a16="http://schemas.microsoft.com/office/drawing/2014/main" id="{22E418A4-6125-4F92-9C3C-04C51A0B73D4}"/>
              </a:ext>
            </a:extLst>
          </p:cNvPr>
          <p:cNvSpPr txBox="1"/>
          <p:nvPr/>
        </p:nvSpPr>
        <p:spPr>
          <a:xfrm>
            <a:off x="1729362" y="2940518"/>
            <a:ext cx="1046716" cy="1310501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fwrite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fprintf</a:t>
            </a:r>
            <a:b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fputs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fputc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fflush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974BC9B-063F-4A41-8B3E-4D85C91DFCE7}"/>
              </a:ext>
            </a:extLst>
          </p:cNvPr>
          <p:cNvSpPr txBox="1"/>
          <p:nvPr/>
        </p:nvSpPr>
        <p:spPr>
          <a:xfrm>
            <a:off x="1729362" y="4782910"/>
            <a:ext cx="1046716" cy="297659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fclose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" name="Shape 78">
            <a:extLst>
              <a:ext uri="{FF2B5EF4-FFF2-40B4-BE49-F238E27FC236}">
                <a16:creationId xmlns:a16="http://schemas.microsoft.com/office/drawing/2014/main" id="{82F9E52A-8A07-47EE-A250-8E3E12A37E38}"/>
              </a:ext>
            </a:extLst>
          </p:cNvPr>
          <p:cNvSpPr txBox="1"/>
          <p:nvPr/>
        </p:nvSpPr>
        <p:spPr>
          <a:xfrm>
            <a:off x="1729362" y="4251018"/>
            <a:ext cx="1046716" cy="542150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fseek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ftell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" name="Shape 79">
            <a:extLst>
              <a:ext uri="{FF2B5EF4-FFF2-40B4-BE49-F238E27FC236}">
                <a16:creationId xmlns:a16="http://schemas.microsoft.com/office/drawing/2014/main" id="{81CB0AF9-A7CD-4730-8315-7B39EAB8C28F}"/>
              </a:ext>
            </a:extLst>
          </p:cNvPr>
          <p:cNvSpPr txBox="1"/>
          <p:nvPr/>
        </p:nvSpPr>
        <p:spPr>
          <a:xfrm>
            <a:off x="5186407" y="4362285"/>
            <a:ext cx="909593" cy="31961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lseek</a:t>
            </a:r>
            <a:endParaRPr dirty="0"/>
          </a:p>
        </p:txBody>
      </p:sp>
      <p:sp>
        <p:nvSpPr>
          <p:cNvPr id="16" name="Shape 78">
            <a:extLst>
              <a:ext uri="{FF2B5EF4-FFF2-40B4-BE49-F238E27FC236}">
                <a16:creationId xmlns:a16="http://schemas.microsoft.com/office/drawing/2014/main" id="{DE3AE066-5FC0-42FB-91BE-EB6434D9D770}"/>
              </a:ext>
            </a:extLst>
          </p:cNvPr>
          <p:cNvSpPr txBox="1"/>
          <p:nvPr/>
        </p:nvSpPr>
        <p:spPr>
          <a:xfrm>
            <a:off x="1729362" y="1844083"/>
            <a:ext cx="1046716" cy="1096434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fread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fgetc</a:t>
            </a:r>
            <a:endParaRPr lang="en-US"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42CB01-06FE-410F-A507-7C6F0E9AAFA5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776079" y="1530532"/>
            <a:ext cx="24103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E417FB-47E6-4D44-B04A-B04B0FE01AE3}"/>
              </a:ext>
            </a:extLst>
          </p:cNvPr>
          <p:cNvCxnSpPr>
            <a:stCxn id="16" idx="3"/>
            <a:endCxn id="10" idx="1"/>
          </p:cNvCxnSpPr>
          <p:nvPr/>
        </p:nvCxnSpPr>
        <p:spPr>
          <a:xfrm>
            <a:off x="2776079" y="2392300"/>
            <a:ext cx="24103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A7BB8C-BE44-4A5A-8BAC-18B06453AD87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2776078" y="3595768"/>
            <a:ext cx="2410328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06037F-C268-47A2-AFDA-45CD4C114BC1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776078" y="4522093"/>
            <a:ext cx="24103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A63689-569B-4AE6-A2A2-2AEEFD8704FB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2776079" y="4931739"/>
            <a:ext cx="241032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Shape 81">
            <a:extLst>
              <a:ext uri="{FF2B5EF4-FFF2-40B4-BE49-F238E27FC236}">
                <a16:creationId xmlns:a16="http://schemas.microsoft.com/office/drawing/2014/main" id="{2E714666-4206-4B6D-AE90-0710D2461B2D}"/>
              </a:ext>
            </a:extLst>
          </p:cNvPr>
          <p:cNvSpPr txBox="1"/>
          <p:nvPr/>
        </p:nvSpPr>
        <p:spPr>
          <a:xfrm>
            <a:off x="7480765" y="1983640"/>
            <a:ext cx="1841500" cy="817318"/>
          </a:xfrm>
          <a:prstGeom prst="rect">
            <a:avLst/>
          </a:prstGeom>
          <a:solidFill>
            <a:srgbClr val="F1C7C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" name="Shape 81">
            <a:extLst>
              <a:ext uri="{FF2B5EF4-FFF2-40B4-BE49-F238E27FC236}">
                <a16:creationId xmlns:a16="http://schemas.microsoft.com/office/drawing/2014/main" id="{784E9020-E7C6-4203-AB10-5D3DAD9D1FD4}"/>
              </a:ext>
            </a:extLst>
          </p:cNvPr>
          <p:cNvSpPr txBox="1"/>
          <p:nvPr/>
        </p:nvSpPr>
        <p:spPr>
          <a:xfrm>
            <a:off x="7480765" y="3426331"/>
            <a:ext cx="1841500" cy="338871"/>
          </a:xfrm>
          <a:prstGeom prst="rect">
            <a:avLst/>
          </a:prstGeom>
          <a:solidFill>
            <a:srgbClr val="F1C7C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rio_writen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" name="Shape 81">
            <a:extLst>
              <a:ext uri="{FF2B5EF4-FFF2-40B4-BE49-F238E27FC236}">
                <a16:creationId xmlns:a16="http://schemas.microsoft.com/office/drawing/2014/main" id="{59D3A2D0-7886-4E8A-A803-2B0505CDD993}"/>
              </a:ext>
            </a:extLst>
          </p:cNvPr>
          <p:cNvSpPr txBox="1"/>
          <p:nvPr/>
        </p:nvSpPr>
        <p:spPr>
          <a:xfrm>
            <a:off x="7480765" y="1361097"/>
            <a:ext cx="1841500" cy="338871"/>
          </a:xfrm>
          <a:prstGeom prst="rect">
            <a:avLst/>
          </a:prstGeom>
          <a:solidFill>
            <a:srgbClr val="F1C7C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rio_readinitb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E3994C2-6D7F-48E2-9B92-647828CD8AB3}"/>
              </a:ext>
            </a:extLst>
          </p:cNvPr>
          <p:cNvCxnSpPr>
            <a:stCxn id="33" idx="1"/>
            <a:endCxn id="11" idx="3"/>
          </p:cNvCxnSpPr>
          <p:nvPr/>
        </p:nvCxnSpPr>
        <p:spPr>
          <a:xfrm flipH="1">
            <a:off x="6096001" y="1530532"/>
            <a:ext cx="138476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7C4AE9-0AAD-4340-9B66-26B232BEB3B0}"/>
              </a:ext>
            </a:extLst>
          </p:cNvPr>
          <p:cNvCxnSpPr>
            <a:stCxn id="31" idx="1"/>
            <a:endCxn id="10" idx="3"/>
          </p:cNvCxnSpPr>
          <p:nvPr/>
        </p:nvCxnSpPr>
        <p:spPr>
          <a:xfrm flipH="1">
            <a:off x="6095055" y="2392300"/>
            <a:ext cx="138571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FE5B58E-29A4-4FEB-A90C-9ECC45AB3839}"/>
              </a:ext>
            </a:extLst>
          </p:cNvPr>
          <p:cNvCxnSpPr>
            <a:stCxn id="32" idx="1"/>
            <a:endCxn id="9" idx="3"/>
          </p:cNvCxnSpPr>
          <p:nvPr/>
        </p:nvCxnSpPr>
        <p:spPr>
          <a:xfrm flipH="1">
            <a:off x="6095053" y="3595767"/>
            <a:ext cx="138571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9A6AE9C-B3D2-419D-8924-768DECCB2955}"/>
              </a:ext>
            </a:extLst>
          </p:cNvPr>
          <p:cNvSpPr txBox="1"/>
          <p:nvPr/>
        </p:nvSpPr>
        <p:spPr>
          <a:xfrm>
            <a:off x="6409268" y="5103674"/>
            <a:ext cx="32427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Maximum control</a:t>
            </a:r>
            <a:br>
              <a:rPr lang="en-US" dirty="0"/>
            </a:br>
            <a:r>
              <a:rPr lang="en-US" dirty="0"/>
              <a:t>Minimum convenience</a:t>
            </a:r>
          </a:p>
          <a:p>
            <a:r>
              <a:rPr lang="en-US" dirty="0"/>
              <a:t>Can be used from signal handlers</a:t>
            </a:r>
          </a:p>
          <a:p>
            <a:r>
              <a:rPr lang="en-US" dirty="0"/>
              <a:t>Can be used for network connections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26F308-0138-46C3-9A11-7696E29DE17E}"/>
              </a:ext>
            </a:extLst>
          </p:cNvPr>
          <p:cNvSpPr txBox="1"/>
          <p:nvPr/>
        </p:nvSpPr>
        <p:spPr>
          <a:xfrm>
            <a:off x="1502360" y="5103673"/>
            <a:ext cx="3242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control</a:t>
            </a:r>
            <a:br>
              <a:rPr lang="en-US" dirty="0"/>
            </a:br>
            <a:r>
              <a:rPr lang="en-US" dirty="0"/>
              <a:t>More convenience</a:t>
            </a:r>
          </a:p>
          <a:p>
            <a:r>
              <a:rPr lang="en-US" dirty="0"/>
              <a:t>Not safe in signal handlers</a:t>
            </a:r>
          </a:p>
          <a:p>
            <a:r>
              <a:rPr lang="en-US" dirty="0"/>
              <a:t>Not safe with network connections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0FD17F-BC67-4750-A6F8-E9637C6EF108}"/>
              </a:ext>
            </a:extLst>
          </p:cNvPr>
          <p:cNvSpPr txBox="1"/>
          <p:nvPr/>
        </p:nvSpPr>
        <p:spPr>
          <a:xfrm>
            <a:off x="6915106" y="3989408"/>
            <a:ext cx="3242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write your own set of high-level convenient functions if you want!</a:t>
            </a:r>
          </a:p>
        </p:txBody>
      </p:sp>
    </p:spTree>
    <p:extLst>
      <p:ext uri="{BB962C8B-B14F-4D97-AF65-F5344CB8AC3E}">
        <p14:creationId xmlns:p14="http://schemas.microsoft.com/office/powerpoint/2010/main" val="255867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" grpId="0" animBg="1"/>
      <p:bldP spid="12" grpId="0" animBg="1"/>
      <p:bldP spid="13" grpId="0" animBg="1"/>
      <p:bldP spid="14" grpId="0" animBg="1"/>
      <p:bldP spid="16" grpId="0" animBg="1"/>
      <p:bldP spid="31" grpId="0" animBg="1"/>
      <p:bldP spid="32" grpId="0" animBg="1"/>
      <p:bldP spid="33" grpId="0" animBg="1"/>
      <p:bldP spid="2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8A41-2F3A-3011-A0C8-00368755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31F4-4BC6-D5D0-C9B5-B840BEFE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3DC3A-1A7F-7832-9400-A65A8115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84BF2-ACD9-48C4-A5B9-674C69B3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7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1981200" y="569914"/>
            <a:ext cx="4953000" cy="573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Overview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86709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sequence of bytes: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.... , 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.... , B</a:t>
            </a:r>
            <a:r>
              <a:rPr lang="en-US" sz="2000" i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m-1</a:t>
            </a:r>
            <a:endParaRPr dirty="0"/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Cool fact: All I/O devices are represented as files: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/dev/sda2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(disk partition)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/dev/tty2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(terminal)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/dev/null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(discard all writes / read empty file)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Cool fact: Kernel data structures are exposed as files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 /proc/$$/status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b="1" dirty="0">
                <a:latin typeface="Courier New"/>
                <a:cs typeface="Courier New"/>
                <a:sym typeface="Courier New"/>
              </a:rPr>
              <a:t>ls -l /proc/$$/</a:t>
            </a:r>
            <a:r>
              <a:rPr lang="en-US" b="1" dirty="0" err="1">
                <a:latin typeface="Courier New"/>
                <a:cs typeface="Courier New"/>
                <a:sym typeface="Courier New"/>
              </a:rPr>
              <a:t>fd</a:t>
            </a:r>
            <a:r>
              <a:rPr lang="en-US" b="1" dirty="0">
                <a:latin typeface="Courier New"/>
                <a:cs typeface="Courier New"/>
                <a:sym typeface="Courier New"/>
              </a:rPr>
              <a:t>/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b="1" dirty="0">
                <a:latin typeface="Courier New"/>
                <a:cs typeface="Courier New"/>
                <a:sym typeface="Courier New"/>
              </a:rPr>
              <a:t>ls –RC /sys/devices | less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2027238" y="438150"/>
            <a:ext cx="8716963" cy="781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Overview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1905001" y="1327150"/>
            <a:ext cx="8307387" cy="49974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offers a set of basic operations for all files</a:t>
            </a:r>
            <a:endParaRPr sz="24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and closing files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open()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close()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a file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read()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up information about a file (size, type, last modification time, …)</a:t>
            </a:r>
          </a:p>
          <a:p>
            <a:pPr marL="1200150" lvl="2" indent="-285750">
              <a:buClr>
                <a:srgbClr val="990000"/>
              </a:buClr>
              <a:buSzPts val="2200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stat()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i="0" u="none" strike="noStrike" cap="none" dirty="0">
              <a:solidFill>
                <a:schemeClr val="dk1"/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Changing the </a:t>
            </a:r>
            <a:r>
              <a:rPr lang="en-US" sz="20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current file position</a:t>
            </a: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(seek)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next offset into file to read or write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lseek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4" name="Shape 104"/>
          <p:cNvGrpSpPr/>
          <p:nvPr/>
        </p:nvGrpSpPr>
        <p:grpSpPr>
          <a:xfrm>
            <a:off x="3123286" y="5064794"/>
            <a:ext cx="6285033" cy="1457076"/>
            <a:chOff x="3048000" y="5562600"/>
            <a:chExt cx="6285033" cy="1457076"/>
          </a:xfrm>
        </p:grpSpPr>
        <p:sp>
          <p:nvSpPr>
            <p:cNvPr id="105" name="Shape 105"/>
            <p:cNvSpPr/>
            <p:nvPr/>
          </p:nvSpPr>
          <p:spPr>
            <a:xfrm>
              <a:off x="3048000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348138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3914775" y="5562600"/>
              <a:ext cx="1319213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• •</a:t>
              </a: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>
              <a:off x="5233987" y="5562600"/>
              <a:ext cx="559787" cy="441325"/>
            </a:xfrm>
            <a:prstGeom prst="rect">
              <a:avLst/>
            </a:prstGeom>
            <a:solidFill>
              <a:srgbClr val="D5F1CF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k-1</a:t>
              </a:r>
              <a:endParaRPr dirty="0"/>
            </a:p>
          </p:txBody>
        </p:sp>
        <p:sp>
          <p:nvSpPr>
            <p:cNvPr id="109" name="Shape 109"/>
            <p:cNvSpPr/>
            <p:nvPr/>
          </p:nvSpPr>
          <p:spPr>
            <a:xfrm>
              <a:off x="5793773" y="5562600"/>
              <a:ext cx="559787" cy="441325"/>
            </a:xfrm>
            <a:prstGeom prst="rect">
              <a:avLst/>
            </a:prstGeom>
            <a:solidFill>
              <a:srgbClr val="E5E5E5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Shape 110"/>
            <p:cNvSpPr/>
            <p:nvPr/>
          </p:nvSpPr>
          <p:spPr>
            <a:xfrm>
              <a:off x="6353808" y="5562600"/>
              <a:ext cx="559788" cy="441325"/>
            </a:xfrm>
            <a:prstGeom prst="rect">
              <a:avLst/>
            </a:prstGeom>
            <a:solidFill>
              <a:srgbClr val="E5E5E5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b="1" baseline="-25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k+1</a:t>
              </a:r>
              <a:endParaRPr dirty="0"/>
            </a:p>
          </p:txBody>
        </p:sp>
        <p:sp>
          <p:nvSpPr>
            <p:cNvPr id="111" name="Shape 111"/>
            <p:cNvSpPr/>
            <p:nvPr/>
          </p:nvSpPr>
          <p:spPr>
            <a:xfrm>
              <a:off x="6913596" y="5562600"/>
              <a:ext cx="1319213" cy="441325"/>
            </a:xfrm>
            <a:prstGeom prst="rect">
              <a:avLst/>
            </a:prstGeom>
            <a:solidFill>
              <a:srgbClr val="E5E5E5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• •</a:t>
              </a:r>
              <a:endParaRPr/>
            </a:p>
          </p:txBody>
        </p:sp>
        <p:cxnSp>
          <p:nvCxnSpPr>
            <p:cNvPr id="112" name="Shape 112"/>
            <p:cNvCxnSpPr/>
            <p:nvPr/>
          </p:nvCxnSpPr>
          <p:spPr>
            <a:xfrm rot="10800000">
              <a:off x="5793774" y="6046866"/>
              <a:ext cx="0" cy="3810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3" name="Shape 113"/>
            <p:cNvSpPr txBox="1"/>
            <p:nvPr/>
          </p:nvSpPr>
          <p:spPr>
            <a:xfrm>
              <a:off x="5513880" y="6134678"/>
              <a:ext cx="3819153" cy="884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Current file position = k</a:t>
              </a:r>
            </a:p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(</a:t>
              </a:r>
              <a:r>
                <a:rPr lang="en-US" sz="2400" b="1" i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in between</a:t>
              </a:r>
              <a:r>
                <a:rPr lang="en-US" sz="2400" b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 bytes k-1 and k)</a:t>
              </a:r>
              <a:endParaRPr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Types	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file has a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indicating its role in the system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file: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Stores arbitrary data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Directory: 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 for a related group of files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communicating with a process on another machine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file types beyond our scope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pipes (FIFOs)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Symbolic links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 and block devices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Files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regular file contains arbitrary data</a:t>
            </a:r>
            <a:endParaRPr sz="222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44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often distinguish between </a:t>
            </a:r>
            <a:r>
              <a:rPr lang="en-US" sz="222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</a:t>
            </a: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22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files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files </a:t>
            </a:r>
            <a:r>
              <a:rPr lang="en-US" sz="1850" dirty="0"/>
              <a:t>contain human-readable text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files are everything else (object files, JPEG images, …)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doesn’t care! It’s all just bytes!</a:t>
            </a:r>
            <a:endParaRPr dirty="0"/>
          </a:p>
          <a:p>
            <a:pPr marL="342900" indent="-342900">
              <a:spcBef>
                <a:spcPts val="444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file is sequence of </a:t>
            </a:r>
            <a:r>
              <a:rPr lang="en-US" sz="222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lines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line is sequence of characters terminated (not separated!)</a:t>
            </a:r>
            <a:b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</a:t>
            </a:r>
            <a:r>
              <a:rPr lang="en-US" sz="185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line indicator</a:t>
            </a:r>
            <a:endParaRPr lang="en-US"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/>
              <a:t>Characters are defined by a </a:t>
            </a:r>
            <a:r>
              <a:rPr lang="en-US" sz="1850" i="1" dirty="0"/>
              <a:t>text encoding</a:t>
            </a:r>
            <a:r>
              <a:rPr lang="en-US" sz="1850" dirty="0"/>
              <a:t> (ASCII, UTF-8, EUC-JP, …)</a:t>
            </a:r>
            <a:endParaRPr lang="en-US" dirty="0"/>
          </a:p>
          <a:p>
            <a:pPr marL="342900" indent="-342900">
              <a:spcBef>
                <a:spcPts val="444"/>
              </a:spcBef>
              <a:buClr>
                <a:srgbClr val="990000"/>
              </a:buClr>
              <a:buSzPts val="1332"/>
              <a:buFont typeface="Noto Sans Symbols"/>
              <a:buChar char="⬛"/>
            </a:pPr>
            <a:r>
              <a:rPr lang="en-US" sz="222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line (EOL) indicators:</a:t>
            </a:r>
            <a:endParaRPr lang="en-US"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“Unix”: Single byte </a:t>
            </a:r>
            <a:r>
              <a:rPr lang="en-US" sz="18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0x0A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spcBef>
                <a:spcPts val="370"/>
              </a:spcBef>
              <a:buClr>
                <a:schemeClr val="dk1"/>
              </a:buClr>
              <a:buSzPts val="1480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feed (LF)</a:t>
            </a:r>
            <a:endParaRPr dirty="0"/>
          </a:p>
          <a:p>
            <a:pPr marL="742950" lvl="1" indent="-285750">
              <a:spcBef>
                <a:spcPts val="370"/>
              </a:spcBef>
              <a:buClr>
                <a:srgbClr val="990000"/>
              </a:buClr>
              <a:buSzPts val="2035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DOS, Windows: Two bytes </a:t>
            </a:r>
            <a:r>
              <a:rPr lang="en-US" sz="18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0x0D 0x0A</a:t>
            </a: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dirty="0"/>
          </a:p>
          <a:p>
            <a:pPr lvl="2">
              <a:spcBef>
                <a:spcPts val="370"/>
              </a:spcBef>
              <a:buClr>
                <a:schemeClr val="dk1"/>
              </a:buClr>
              <a:buSzPts val="1480"/>
              <a:buFont typeface="Noto Sans Symbols"/>
              <a:buChar char="▪"/>
            </a:pPr>
            <a:r>
              <a:rPr lang="en-US" sz="18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Carriage return (CR) followed by line feed (LF)</a:t>
            </a:r>
          </a:p>
          <a:p>
            <a:pPr lvl="2">
              <a:spcBef>
                <a:spcPts val="370"/>
              </a:spcBef>
              <a:buClr>
                <a:schemeClr val="dk1"/>
              </a:buClr>
              <a:buSzPts val="1480"/>
              <a:buFont typeface="Noto Sans Symbols"/>
              <a:buChar char="▪"/>
            </a:pPr>
            <a:r>
              <a:rPr lang="en-US" sz="1850" dirty="0"/>
              <a:t>Also used by many Internet protocols</a:t>
            </a:r>
            <a:endParaRPr lang="en-US" sz="1800" dirty="0"/>
          </a:p>
          <a:p>
            <a:pPr marL="742950" lvl="1" indent="-285750">
              <a:spcBef>
                <a:spcPts val="370"/>
              </a:spcBef>
              <a:buSzPts val="2035"/>
            </a:pPr>
            <a:r>
              <a:rPr lang="en-US" sz="1800" dirty="0"/>
              <a:t>C library translates to '\n'</a:t>
            </a:r>
            <a:endParaRPr lang="en-US"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Shape 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0" y="4707457"/>
            <a:ext cx="25908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Directories	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consists of an array of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(also called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 maps a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to a file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directory contains at least two entries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(dot) maps to the directory itself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(dot dot) maps to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directory</a:t>
            </a:r>
            <a:b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hierarchy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(next slide)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 for manipulating directories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create empty directory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view directory contents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delete empty directory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Hierarchy	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1752601" y="1362076"/>
            <a:ext cx="88995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files are organized as a hierarchy anchored by root directory named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(slash)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maintains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working directory (</a:t>
            </a:r>
            <a:r>
              <a:rPr lang="en-US" sz="24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cwd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process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 using the 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command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Shape 139"/>
          <p:cNvSpPr txBox="1"/>
          <p:nvPr/>
        </p:nvSpPr>
        <p:spPr>
          <a:xfrm>
            <a:off x="5486401" y="2209800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Shape 140"/>
          <p:cNvSpPr txBox="1"/>
          <p:nvPr/>
        </p:nvSpPr>
        <p:spPr>
          <a:xfrm>
            <a:off x="1698354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Shape 141"/>
          <p:cNvSpPr txBox="1"/>
          <p:nvPr/>
        </p:nvSpPr>
        <p:spPr>
          <a:xfrm>
            <a:off x="2667001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Shape 142"/>
          <p:cNvSpPr txBox="1"/>
          <p:nvPr/>
        </p:nvSpPr>
        <p:spPr>
          <a:xfrm>
            <a:off x="3900836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etc/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Shape 143"/>
          <p:cNvSpPr txBox="1"/>
          <p:nvPr/>
        </p:nvSpPr>
        <p:spPr>
          <a:xfrm>
            <a:off x="5981481" y="29337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Shape 144"/>
          <p:cNvSpPr txBox="1"/>
          <p:nvPr/>
        </p:nvSpPr>
        <p:spPr>
          <a:xfrm>
            <a:off x="8619212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usr/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Shape 145"/>
          <p:cNvSpPr txBox="1"/>
          <p:nvPr/>
        </p:nvSpPr>
        <p:spPr>
          <a:xfrm>
            <a:off x="1698354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2667001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tty1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Shape 147"/>
          <p:cNvSpPr txBox="1"/>
          <p:nvPr/>
        </p:nvSpPr>
        <p:spPr>
          <a:xfrm>
            <a:off x="3481515" y="35814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4258150" y="3581400"/>
            <a:ext cx="923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Shape 149"/>
          <p:cNvSpPr txBox="1"/>
          <p:nvPr/>
        </p:nvSpPr>
        <p:spPr>
          <a:xfrm>
            <a:off x="5553551" y="35814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Shape 150"/>
          <p:cNvSpPr txBox="1"/>
          <p:nvPr/>
        </p:nvSpPr>
        <p:spPr>
          <a:xfrm>
            <a:off x="6421020" y="35814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bryant/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Shape 151"/>
          <p:cNvSpPr txBox="1"/>
          <p:nvPr/>
        </p:nvSpPr>
        <p:spPr>
          <a:xfrm>
            <a:off x="7620001" y="3581400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9305012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" name="Shape 153"/>
          <p:cNvSpPr txBox="1"/>
          <p:nvPr/>
        </p:nvSpPr>
        <p:spPr>
          <a:xfrm>
            <a:off x="7162801" y="44196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9366576" y="4419600"/>
            <a:ext cx="55405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Shape 155"/>
          <p:cNvSpPr txBox="1"/>
          <p:nvPr/>
        </p:nvSpPr>
        <p:spPr>
          <a:xfrm>
            <a:off x="8399662" y="44196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" name="Shape 156"/>
          <p:cNvSpPr txBox="1"/>
          <p:nvPr/>
        </p:nvSpPr>
        <p:spPr>
          <a:xfrm>
            <a:off x="8153401" y="5300246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7" name="Shape 157"/>
          <p:cNvCxnSpPr>
            <a:stCxn id="139" idx="2"/>
            <a:endCxn id="140" idx="0"/>
          </p:cNvCxnSpPr>
          <p:nvPr/>
        </p:nvCxnSpPr>
        <p:spPr>
          <a:xfrm flipH="1">
            <a:off x="2036999" y="2548354"/>
            <a:ext cx="3603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Shape 158"/>
          <p:cNvCxnSpPr>
            <a:stCxn id="139" idx="2"/>
            <a:endCxn id="141" idx="0"/>
          </p:cNvCxnSpPr>
          <p:nvPr/>
        </p:nvCxnSpPr>
        <p:spPr>
          <a:xfrm flipH="1">
            <a:off x="3005699" y="2548354"/>
            <a:ext cx="26346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Shape 159"/>
          <p:cNvCxnSpPr>
            <a:stCxn id="139" idx="2"/>
            <a:endCxn id="142" idx="0"/>
          </p:cNvCxnSpPr>
          <p:nvPr/>
        </p:nvCxnSpPr>
        <p:spPr>
          <a:xfrm flipH="1">
            <a:off x="4239299" y="2548354"/>
            <a:ext cx="14010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Shape 160"/>
          <p:cNvCxnSpPr>
            <a:stCxn id="139" idx="2"/>
            <a:endCxn id="143" idx="0"/>
          </p:cNvCxnSpPr>
          <p:nvPr/>
        </p:nvCxnSpPr>
        <p:spPr>
          <a:xfrm>
            <a:off x="5640299" y="2548354"/>
            <a:ext cx="741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Shape 161"/>
          <p:cNvCxnSpPr>
            <a:stCxn id="139" idx="2"/>
            <a:endCxn id="144" idx="0"/>
          </p:cNvCxnSpPr>
          <p:nvPr/>
        </p:nvCxnSpPr>
        <p:spPr>
          <a:xfrm>
            <a:off x="5640299" y="2548354"/>
            <a:ext cx="33174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Shape 162"/>
          <p:cNvCxnSpPr>
            <a:stCxn id="143" idx="2"/>
            <a:endCxn id="149" idx="0"/>
          </p:cNvCxnSpPr>
          <p:nvPr/>
        </p:nvCxnSpPr>
        <p:spPr>
          <a:xfrm flipH="1">
            <a:off x="5953840" y="3272254"/>
            <a:ext cx="427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Shape 163"/>
          <p:cNvCxnSpPr>
            <a:stCxn id="143" idx="2"/>
            <a:endCxn id="150" idx="0"/>
          </p:cNvCxnSpPr>
          <p:nvPr/>
        </p:nvCxnSpPr>
        <p:spPr>
          <a:xfrm>
            <a:off x="6381640" y="3272254"/>
            <a:ext cx="562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Shape 164"/>
          <p:cNvCxnSpPr>
            <a:stCxn id="149" idx="2"/>
          </p:cNvCxnSpPr>
          <p:nvPr/>
        </p:nvCxnSpPr>
        <p:spPr>
          <a:xfrm>
            <a:off x="5953709" y="3919954"/>
            <a:ext cx="0" cy="537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Shape 165"/>
          <p:cNvCxnSpPr>
            <a:stCxn id="140" idx="2"/>
            <a:endCxn id="145" idx="0"/>
          </p:cNvCxnSpPr>
          <p:nvPr/>
        </p:nvCxnSpPr>
        <p:spPr>
          <a:xfrm>
            <a:off x="2036948" y="3272254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Shape 166"/>
          <p:cNvCxnSpPr>
            <a:stCxn id="141" idx="2"/>
            <a:endCxn id="146" idx="0"/>
          </p:cNvCxnSpPr>
          <p:nvPr/>
        </p:nvCxnSpPr>
        <p:spPr>
          <a:xfrm>
            <a:off x="3005595" y="3272254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Shape 167"/>
          <p:cNvCxnSpPr>
            <a:stCxn id="142" idx="2"/>
            <a:endCxn id="147" idx="0"/>
          </p:cNvCxnSpPr>
          <p:nvPr/>
        </p:nvCxnSpPr>
        <p:spPr>
          <a:xfrm flipH="1">
            <a:off x="3881529" y="3272254"/>
            <a:ext cx="3579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Shape 168"/>
          <p:cNvCxnSpPr>
            <a:stCxn id="142" idx="2"/>
            <a:endCxn id="148" idx="0"/>
          </p:cNvCxnSpPr>
          <p:nvPr/>
        </p:nvCxnSpPr>
        <p:spPr>
          <a:xfrm>
            <a:off x="4239429" y="3272254"/>
            <a:ext cx="4803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Shape 169"/>
          <p:cNvCxnSpPr>
            <a:stCxn id="144" idx="2"/>
            <a:endCxn id="151" idx="0"/>
          </p:cNvCxnSpPr>
          <p:nvPr/>
        </p:nvCxnSpPr>
        <p:spPr>
          <a:xfrm flipH="1">
            <a:off x="8204805" y="3272254"/>
            <a:ext cx="7530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" name="Shape 170"/>
          <p:cNvCxnSpPr>
            <a:stCxn id="144" idx="2"/>
            <a:endCxn id="152" idx="0"/>
          </p:cNvCxnSpPr>
          <p:nvPr/>
        </p:nvCxnSpPr>
        <p:spPr>
          <a:xfrm>
            <a:off x="8957805" y="3272254"/>
            <a:ext cx="685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Shape 171"/>
          <p:cNvCxnSpPr>
            <a:stCxn id="151" idx="2"/>
            <a:endCxn id="153" idx="0"/>
          </p:cNvCxnSpPr>
          <p:nvPr/>
        </p:nvCxnSpPr>
        <p:spPr>
          <a:xfrm flipH="1">
            <a:off x="7686155" y="3919954"/>
            <a:ext cx="5187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Shape 172"/>
          <p:cNvCxnSpPr>
            <a:stCxn id="151" idx="2"/>
            <a:endCxn id="155" idx="0"/>
          </p:cNvCxnSpPr>
          <p:nvPr/>
        </p:nvCxnSpPr>
        <p:spPr>
          <a:xfrm>
            <a:off x="8204855" y="3919954"/>
            <a:ext cx="5334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Shape 173"/>
          <p:cNvCxnSpPr>
            <a:stCxn id="152" idx="2"/>
            <a:endCxn id="154" idx="0"/>
          </p:cNvCxnSpPr>
          <p:nvPr/>
        </p:nvCxnSpPr>
        <p:spPr>
          <a:xfrm>
            <a:off x="9643605" y="3919954"/>
            <a:ext cx="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Shape 174"/>
          <p:cNvCxnSpPr>
            <a:stCxn id="155" idx="2"/>
            <a:endCxn id="156" idx="0"/>
          </p:cNvCxnSpPr>
          <p:nvPr/>
        </p:nvCxnSpPr>
        <p:spPr>
          <a:xfrm>
            <a:off x="8738255" y="4758154"/>
            <a:ext cx="0" cy="542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Shape 175"/>
          <p:cNvSpPr txBox="1"/>
          <p:nvPr/>
        </p:nvSpPr>
        <p:spPr>
          <a:xfrm>
            <a:off x="5430420" y="44196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Pathnames	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1920876" y="1362076"/>
            <a:ext cx="8518525" cy="19145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Locations of files in the hierarchy denoted by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pathnames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Absolute pathname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with ‘/’ and denotes path from root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pathname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denotes path from current working directory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Shape 182"/>
          <p:cNvSpPr txBox="1"/>
          <p:nvPr/>
        </p:nvSpPr>
        <p:spPr>
          <a:xfrm>
            <a:off x="5540646" y="3242846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Shape 183"/>
          <p:cNvSpPr txBox="1"/>
          <p:nvPr/>
        </p:nvSpPr>
        <p:spPr>
          <a:xfrm>
            <a:off x="1752599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Shape 184"/>
          <p:cNvSpPr txBox="1"/>
          <p:nvPr/>
        </p:nvSpPr>
        <p:spPr>
          <a:xfrm>
            <a:off x="2721246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Shape 185"/>
          <p:cNvSpPr txBox="1"/>
          <p:nvPr/>
        </p:nvSpPr>
        <p:spPr>
          <a:xfrm>
            <a:off x="3955081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etc/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" name="Shape 186"/>
          <p:cNvSpPr txBox="1"/>
          <p:nvPr/>
        </p:nvSpPr>
        <p:spPr>
          <a:xfrm>
            <a:off x="6035726" y="3966746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Shape 187"/>
          <p:cNvSpPr txBox="1"/>
          <p:nvPr/>
        </p:nvSpPr>
        <p:spPr>
          <a:xfrm>
            <a:off x="8673457" y="39667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usr/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" name="Shape 188"/>
          <p:cNvSpPr txBox="1"/>
          <p:nvPr/>
        </p:nvSpPr>
        <p:spPr>
          <a:xfrm>
            <a:off x="1752599" y="46144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Shape 189"/>
          <p:cNvSpPr txBox="1"/>
          <p:nvPr/>
        </p:nvSpPr>
        <p:spPr>
          <a:xfrm>
            <a:off x="2721246" y="46144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tty1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Shape 190"/>
          <p:cNvSpPr txBox="1"/>
          <p:nvPr/>
        </p:nvSpPr>
        <p:spPr>
          <a:xfrm>
            <a:off x="3535760" y="4614446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Shape 191"/>
          <p:cNvSpPr txBox="1"/>
          <p:nvPr/>
        </p:nvSpPr>
        <p:spPr>
          <a:xfrm>
            <a:off x="4312395" y="4614446"/>
            <a:ext cx="923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Shape 192"/>
          <p:cNvSpPr txBox="1"/>
          <p:nvPr/>
        </p:nvSpPr>
        <p:spPr>
          <a:xfrm>
            <a:off x="5607796" y="4614446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3" name="Shape 193"/>
          <p:cNvSpPr txBox="1"/>
          <p:nvPr/>
        </p:nvSpPr>
        <p:spPr>
          <a:xfrm>
            <a:off x="6475265" y="4614446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bryant/</a:t>
            </a:r>
            <a:endParaRPr sz="1600" b="1">
              <a:solidFill>
                <a:srgbClr val="3333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7674246" y="4614446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include/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Shape 195"/>
          <p:cNvSpPr txBox="1"/>
          <p:nvPr/>
        </p:nvSpPr>
        <p:spPr>
          <a:xfrm>
            <a:off x="9359257" y="46144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Shape 196"/>
          <p:cNvSpPr txBox="1"/>
          <p:nvPr/>
        </p:nvSpPr>
        <p:spPr>
          <a:xfrm>
            <a:off x="7217046" y="5452646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Shape 197"/>
          <p:cNvSpPr txBox="1"/>
          <p:nvPr/>
        </p:nvSpPr>
        <p:spPr>
          <a:xfrm>
            <a:off x="9420821" y="5452646"/>
            <a:ext cx="55405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Shape 198"/>
          <p:cNvSpPr txBox="1"/>
          <p:nvPr/>
        </p:nvSpPr>
        <p:spPr>
          <a:xfrm>
            <a:off x="8453907" y="545264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sys/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" name="Shape 199"/>
          <p:cNvSpPr txBox="1"/>
          <p:nvPr/>
        </p:nvSpPr>
        <p:spPr>
          <a:xfrm>
            <a:off x="8207646" y="6333292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00" name="Shape 200"/>
          <p:cNvCxnSpPr>
            <a:stCxn id="182" idx="2"/>
            <a:endCxn id="183" idx="0"/>
          </p:cNvCxnSpPr>
          <p:nvPr/>
        </p:nvCxnSpPr>
        <p:spPr>
          <a:xfrm flipH="1">
            <a:off x="2091244" y="3581400"/>
            <a:ext cx="3603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Shape 201"/>
          <p:cNvCxnSpPr>
            <a:stCxn id="182" idx="2"/>
            <a:endCxn id="184" idx="0"/>
          </p:cNvCxnSpPr>
          <p:nvPr/>
        </p:nvCxnSpPr>
        <p:spPr>
          <a:xfrm flipH="1">
            <a:off x="3059944" y="3581400"/>
            <a:ext cx="26346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Shape 202"/>
          <p:cNvCxnSpPr>
            <a:stCxn id="182" idx="2"/>
            <a:endCxn id="185" idx="0"/>
          </p:cNvCxnSpPr>
          <p:nvPr/>
        </p:nvCxnSpPr>
        <p:spPr>
          <a:xfrm flipH="1">
            <a:off x="4293544" y="3581400"/>
            <a:ext cx="14010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Shape 203"/>
          <p:cNvCxnSpPr>
            <a:stCxn id="182" idx="2"/>
            <a:endCxn id="186" idx="0"/>
          </p:cNvCxnSpPr>
          <p:nvPr/>
        </p:nvCxnSpPr>
        <p:spPr>
          <a:xfrm>
            <a:off x="5694544" y="3581400"/>
            <a:ext cx="7413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Shape 204"/>
          <p:cNvCxnSpPr>
            <a:stCxn id="182" idx="2"/>
            <a:endCxn id="187" idx="0"/>
          </p:cNvCxnSpPr>
          <p:nvPr/>
        </p:nvCxnSpPr>
        <p:spPr>
          <a:xfrm>
            <a:off x="5694544" y="3581400"/>
            <a:ext cx="3317400" cy="385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Shape 205"/>
          <p:cNvCxnSpPr>
            <a:stCxn id="186" idx="2"/>
            <a:endCxn id="192" idx="0"/>
          </p:cNvCxnSpPr>
          <p:nvPr/>
        </p:nvCxnSpPr>
        <p:spPr>
          <a:xfrm flipH="1">
            <a:off x="6008085" y="4305300"/>
            <a:ext cx="427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Shape 206"/>
          <p:cNvCxnSpPr>
            <a:stCxn id="186" idx="2"/>
            <a:endCxn id="193" idx="0"/>
          </p:cNvCxnSpPr>
          <p:nvPr/>
        </p:nvCxnSpPr>
        <p:spPr>
          <a:xfrm>
            <a:off x="6435885" y="4305300"/>
            <a:ext cx="562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Shape 207"/>
          <p:cNvCxnSpPr>
            <a:stCxn id="192" idx="2"/>
          </p:cNvCxnSpPr>
          <p:nvPr/>
        </p:nvCxnSpPr>
        <p:spPr>
          <a:xfrm>
            <a:off x="6007954" y="4953000"/>
            <a:ext cx="0" cy="537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Shape 208"/>
          <p:cNvCxnSpPr>
            <a:stCxn id="183" idx="2"/>
            <a:endCxn id="188" idx="0"/>
          </p:cNvCxnSpPr>
          <p:nvPr/>
        </p:nvCxnSpPr>
        <p:spPr>
          <a:xfrm>
            <a:off x="2091193" y="4305300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Shape 209"/>
          <p:cNvCxnSpPr>
            <a:stCxn id="184" idx="2"/>
            <a:endCxn id="189" idx="0"/>
          </p:cNvCxnSpPr>
          <p:nvPr/>
        </p:nvCxnSpPr>
        <p:spPr>
          <a:xfrm>
            <a:off x="3059840" y="4305300"/>
            <a:ext cx="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Shape 210"/>
          <p:cNvCxnSpPr>
            <a:stCxn id="185" idx="2"/>
            <a:endCxn id="190" idx="0"/>
          </p:cNvCxnSpPr>
          <p:nvPr/>
        </p:nvCxnSpPr>
        <p:spPr>
          <a:xfrm flipH="1">
            <a:off x="3935774" y="4305300"/>
            <a:ext cx="3579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Shape 211"/>
          <p:cNvCxnSpPr>
            <a:stCxn id="185" idx="2"/>
            <a:endCxn id="191" idx="0"/>
          </p:cNvCxnSpPr>
          <p:nvPr/>
        </p:nvCxnSpPr>
        <p:spPr>
          <a:xfrm>
            <a:off x="4293674" y="4305300"/>
            <a:ext cx="4803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Shape 212"/>
          <p:cNvCxnSpPr>
            <a:stCxn id="187" idx="2"/>
            <a:endCxn id="194" idx="0"/>
          </p:cNvCxnSpPr>
          <p:nvPr/>
        </p:nvCxnSpPr>
        <p:spPr>
          <a:xfrm flipH="1">
            <a:off x="8259050" y="4305300"/>
            <a:ext cx="7530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Shape 213"/>
          <p:cNvCxnSpPr>
            <a:stCxn id="187" idx="2"/>
            <a:endCxn id="195" idx="0"/>
          </p:cNvCxnSpPr>
          <p:nvPr/>
        </p:nvCxnSpPr>
        <p:spPr>
          <a:xfrm>
            <a:off x="9012050" y="4305300"/>
            <a:ext cx="685800" cy="309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Shape 214"/>
          <p:cNvCxnSpPr>
            <a:stCxn id="194" idx="2"/>
            <a:endCxn id="196" idx="0"/>
          </p:cNvCxnSpPr>
          <p:nvPr/>
        </p:nvCxnSpPr>
        <p:spPr>
          <a:xfrm flipH="1">
            <a:off x="7740400" y="4953000"/>
            <a:ext cx="5187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Shape 215"/>
          <p:cNvCxnSpPr>
            <a:stCxn id="194" idx="2"/>
            <a:endCxn id="198" idx="0"/>
          </p:cNvCxnSpPr>
          <p:nvPr/>
        </p:nvCxnSpPr>
        <p:spPr>
          <a:xfrm>
            <a:off x="8259100" y="4953000"/>
            <a:ext cx="53340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Shape 216"/>
          <p:cNvCxnSpPr>
            <a:stCxn id="195" idx="2"/>
            <a:endCxn id="197" idx="0"/>
          </p:cNvCxnSpPr>
          <p:nvPr/>
        </p:nvCxnSpPr>
        <p:spPr>
          <a:xfrm>
            <a:off x="9697850" y="4953000"/>
            <a:ext cx="0" cy="499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Shape 217"/>
          <p:cNvCxnSpPr>
            <a:stCxn id="198" idx="2"/>
            <a:endCxn id="199" idx="0"/>
          </p:cNvCxnSpPr>
          <p:nvPr/>
        </p:nvCxnSpPr>
        <p:spPr>
          <a:xfrm>
            <a:off x="8792500" y="5791200"/>
            <a:ext cx="0" cy="542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Shape 218"/>
          <p:cNvSpPr txBox="1"/>
          <p:nvPr/>
        </p:nvSpPr>
        <p:spPr>
          <a:xfrm>
            <a:off x="5484665" y="5452646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sz="16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Shape 219"/>
          <p:cNvSpPr txBox="1"/>
          <p:nvPr/>
        </p:nvSpPr>
        <p:spPr>
          <a:xfrm>
            <a:off x="7805751" y="3212068"/>
            <a:ext cx="2441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cwd:</a:t>
            </a: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/home/bryant</a:t>
            </a:r>
            <a:endParaRPr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title"/>
          </p:nvPr>
        </p:nvSpPr>
        <p:spPr>
          <a:xfrm>
            <a:off x="1880286" y="493712"/>
            <a:ext cx="6496050" cy="57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Files</a:t>
            </a:r>
            <a:endParaRPr/>
          </a:p>
        </p:txBody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1890714" y="1296988"/>
            <a:ext cx="8624887" cy="5256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5000"/>
              </a:lnSpc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a file informs the kernel that you are getting ready to access that file</a:t>
            </a:r>
            <a:endParaRPr dirty="0"/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a small identifying integer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file descriptor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== -1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that an error occurred</a:t>
            </a:r>
            <a:endParaRPr dirty="0"/>
          </a:p>
          <a:p>
            <a:pPr marL="342900" indent="-342900">
              <a:lnSpc>
                <a:spcPct val="85000"/>
              </a:lnSpc>
              <a:spcBef>
                <a:spcPts val="120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begins life with three open files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 standard input (stdin)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standard output (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standard error (stderr)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These could be files, pipes, your terminal, or even a network connection!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067D24-FEBD-E4FD-A271-CC21CEC08869}"/>
              </a:ext>
            </a:extLst>
          </p:cNvPr>
          <p:cNvGrpSpPr/>
          <p:nvPr/>
        </p:nvGrpSpPr>
        <p:grpSpPr>
          <a:xfrm>
            <a:off x="2121082" y="2146619"/>
            <a:ext cx="6773884" cy="1570769"/>
            <a:chOff x="895288" y="4161173"/>
            <a:chExt cx="7524376" cy="15707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1E2A24-7E02-453E-8318-F2178E2A4B12}"/>
                </a:ext>
              </a:extLst>
            </p:cNvPr>
            <p:cNvSpPr txBox="1"/>
            <p:nvPr/>
          </p:nvSpPr>
          <p:spPr>
            <a:xfrm>
              <a:off x="895288" y="4162282"/>
              <a:ext cx="329767" cy="156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2BE7EB-1021-2C83-34A0-48DB5D87DDD2}"/>
                </a:ext>
              </a:extLst>
            </p:cNvPr>
            <p:cNvSpPr txBox="1"/>
            <p:nvPr/>
          </p:nvSpPr>
          <p:spPr>
            <a:xfrm>
              <a:off x="1225056" y="4161173"/>
              <a:ext cx="7194608" cy="1569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</a:t>
              </a:r>
              <a:r>
                <a:rPr lang="en-US" sz="1600" dirty="0">
                  <a:solidFill>
                    <a:srgbClr val="99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file descriptor */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= open("/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etc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/hosts", O_RDONLY)) &lt; 0) 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("open");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B0EA-BA10-4C8A-A654-6688A7A2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68"/>
            <a:ext cx="10515600" cy="1325563"/>
          </a:xfrm>
        </p:spPr>
        <p:txBody>
          <a:bodyPr/>
          <a:lstStyle/>
          <a:p>
            <a:r>
              <a:rPr lang="en-US" dirty="0"/>
              <a:t>Lots of ways to 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3D405-7CA7-477B-B151-BD1D76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3" y="1774012"/>
            <a:ext cx="4040188" cy="447675"/>
          </a:xfrm>
        </p:spPr>
        <p:txBody>
          <a:bodyPr>
            <a:noAutofit/>
          </a:bodyPr>
          <a:lstStyle/>
          <a:p>
            <a:pPr marL="137160"/>
            <a:r>
              <a:rPr lang="en-US" dirty="0"/>
              <a:t>Open an existing file:</a:t>
            </a:r>
          </a:p>
          <a:p>
            <a:pPr marL="13716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open(path, flags)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8D61F-3536-4B99-9578-9E0A939AA8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1991" y="2337435"/>
            <a:ext cx="5054600" cy="4408487"/>
          </a:xfrm>
        </p:spPr>
        <p:txBody>
          <a:bodyPr>
            <a:normAutofit fontScale="92500" lnSpcReduction="10000"/>
          </a:bodyPr>
          <a:lstStyle/>
          <a:p>
            <a:pPr marL="13716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en-US" sz="1800" dirty="0"/>
              <a:t> must include exactly one of: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r>
              <a:rPr lang="en-US" sz="1800" dirty="0"/>
              <a:t>Flags may also include (use | to combine)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r>
              <a:rPr lang="en-US" sz="1800" dirty="0"/>
              <a:t>(and many more… consult the open() </a:t>
            </a:r>
            <a:r>
              <a:rPr lang="en-US" sz="1800" dirty="0" err="1"/>
              <a:t>manpage</a:t>
            </a:r>
            <a:r>
              <a:rPr lang="en-US" sz="1800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FC4574-EF89-4F7A-AB1D-DA32827D852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527534" y="2366961"/>
            <a:ext cx="4041775" cy="3951288"/>
          </a:xfrm>
        </p:spPr>
        <p:txBody>
          <a:bodyPr/>
          <a:lstStyle/>
          <a:p>
            <a:pPr marL="13716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en-US" sz="1800" dirty="0"/>
              <a:t> must include 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r>
              <a:rPr lang="en-US" sz="1800" dirty="0"/>
              <a:t>and exactly one of:</a:t>
            </a:r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endParaRPr lang="en-US" sz="1800" dirty="0"/>
          </a:p>
          <a:p>
            <a:pPr marL="137160" indent="0">
              <a:buNone/>
            </a:pPr>
            <a:br>
              <a:rPr lang="en-US" sz="1800" dirty="0"/>
            </a:br>
            <a:r>
              <a:rPr lang="en-US" sz="1800" dirty="0"/>
              <a:t>and maybe also some of: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69F2156-47E4-46E1-994D-C7E6F07B7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54861"/>
              </p:ext>
            </p:extLst>
          </p:nvPr>
        </p:nvGraphicFramePr>
        <p:xfrm>
          <a:off x="732311" y="2743359"/>
          <a:ext cx="5184564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50703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733861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O_RDONLY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want to read from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O_WRONLY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want to write to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O_RDWR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Want to do both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53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7BAAD1-042D-4D90-A255-B957716D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213370"/>
              </p:ext>
            </p:extLst>
          </p:nvPr>
        </p:nvGraphicFramePr>
        <p:xfrm>
          <a:off x="6631251" y="2776352"/>
          <a:ext cx="4978928" cy="3708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48440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530488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O_CREAT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the file if it doesn’t exist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A62EE8BA-20DA-4E6C-B851-A1A5E0C67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84168"/>
              </p:ext>
            </p:extLst>
          </p:nvPr>
        </p:nvGraphicFramePr>
        <p:xfrm>
          <a:off x="732311" y="4516041"/>
          <a:ext cx="5560272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61609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4098663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O_APPEND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writes go to the very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O_TRUNC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existing contents if 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O_CLOEXEC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 this file if </a:t>
                      </a:r>
                      <a:r>
                        <a:rPr lang="en-US" dirty="0" err="1"/>
                        <a:t>execve</a:t>
                      </a:r>
                      <a:r>
                        <a:rPr lang="en-US" dirty="0"/>
                        <a:t>() is called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18416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4556BB-F1D7-4125-B26F-15D34DD86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499990"/>
              </p:ext>
            </p:extLst>
          </p:nvPr>
        </p:nvGraphicFramePr>
        <p:xfrm>
          <a:off x="6641145" y="3578867"/>
          <a:ext cx="4976549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50948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525601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O_WRONLY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want to write to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O_RDWR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Want to write and 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5311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5521F7CA-E006-494F-BA1B-9C33AC0E3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006497"/>
              </p:ext>
            </p:extLst>
          </p:nvPr>
        </p:nvGraphicFramePr>
        <p:xfrm>
          <a:off x="6631251" y="4875213"/>
          <a:ext cx="4976549" cy="14833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490509">
                  <a:extLst>
                    <a:ext uri="{9D8B030D-6E8A-4147-A177-3AD203B41FA5}">
                      <a16:colId xmlns:a16="http://schemas.microsoft.com/office/drawing/2014/main" val="54354380"/>
                    </a:ext>
                  </a:extLst>
                </a:gridCol>
                <a:gridCol w="3486040">
                  <a:extLst>
                    <a:ext uri="{9D8B030D-6E8A-4147-A177-3AD203B41FA5}">
                      <a16:colId xmlns:a16="http://schemas.microsoft.com/office/drawing/2014/main" val="383197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O_EXCL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 if file does exist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22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O_APPEND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writes go to the very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O_TRUNC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existing contents if 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O_CLOEXEC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 this file if </a:t>
                      </a:r>
                      <a:r>
                        <a:rPr lang="en-US" dirty="0" err="1"/>
                        <a:t>execve</a:t>
                      </a:r>
                      <a:r>
                        <a:rPr lang="en-US" dirty="0"/>
                        <a:t>() is called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184162"/>
                  </a:ext>
                </a:extLst>
              </a:tr>
            </a:tbl>
          </a:graphicData>
        </a:graphic>
      </p:graphicFrame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FA11353-D3F5-40B7-7D65-1120D4DB8C8C}"/>
              </a:ext>
            </a:extLst>
          </p:cNvPr>
          <p:cNvSpPr txBox="1">
            <a:spLocks/>
          </p:cNvSpPr>
          <p:nvPr/>
        </p:nvSpPr>
        <p:spPr>
          <a:xfrm>
            <a:off x="6411911" y="1774011"/>
            <a:ext cx="4825840" cy="447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/>
            <a:r>
              <a:rPr lang="en-US" dirty="0"/>
              <a:t>Open an existing file:</a:t>
            </a:r>
          </a:p>
          <a:p>
            <a:pPr marL="13716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open(path, flags, mode)</a:t>
            </a:r>
          </a:p>
        </p:txBody>
      </p:sp>
    </p:spTree>
    <p:extLst>
      <p:ext uri="{BB962C8B-B14F-4D97-AF65-F5344CB8AC3E}">
        <p14:creationId xmlns:p14="http://schemas.microsoft.com/office/powerpoint/2010/main" val="91429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12F92F-9B46-40E0-9A1C-241B84924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third argument to open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010650-B0F9-44DE-A3F5-C61AF98E3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Yes, open takes either two or three arguments</a:t>
            </a:r>
          </a:p>
          <a:p>
            <a:pPr lvl="1"/>
            <a:r>
              <a:rPr lang="en-US" dirty="0"/>
              <a:t>Bet you thought you couldn’t do that in C</a:t>
            </a:r>
          </a:p>
          <a:p>
            <a:pPr lvl="1"/>
            <a:r>
              <a:rPr lang="en-US" dirty="0"/>
              <a:t>Look through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usr</a:t>
            </a:r>
            <a:r>
              <a:rPr lang="en-US" dirty="0">
                <a:latin typeface="Consolas" panose="020B0609020204030204" pitchFamily="49" charset="0"/>
              </a:rPr>
              <a:t>/include/</a:t>
            </a:r>
            <a:r>
              <a:rPr lang="en-US" dirty="0" err="1">
                <a:latin typeface="Consolas" panose="020B0609020204030204" pitchFamily="49" charset="0"/>
              </a:rPr>
              <a:t>fcntl.h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and try to figure out how it’s done</a:t>
            </a:r>
          </a:p>
          <a:p>
            <a:pPr lvl="1"/>
            <a:r>
              <a:rPr lang="en-US" dirty="0"/>
              <a:t>Third argument must be present when O_CREAT appears in second argument; ignored otherwise</a:t>
            </a:r>
          </a:p>
          <a:p>
            <a:r>
              <a:rPr lang="en-US" dirty="0"/>
              <a:t>Third argument gives </a:t>
            </a:r>
            <a:r>
              <a:rPr lang="en-US" i="1" dirty="0"/>
              <a:t>default access permissions</a:t>
            </a:r>
            <a:br>
              <a:rPr lang="en-US" i="1" dirty="0"/>
            </a:br>
            <a:r>
              <a:rPr lang="en-US" dirty="0"/>
              <a:t>for newly created files</a:t>
            </a:r>
          </a:p>
          <a:p>
            <a:pPr lvl="1"/>
            <a:r>
              <a:rPr lang="en-US" dirty="0"/>
              <a:t>Modified by </a:t>
            </a:r>
            <a:r>
              <a:rPr lang="en-US" i="1" dirty="0" err="1"/>
              <a:t>umask</a:t>
            </a:r>
            <a:r>
              <a:rPr lang="en-US" dirty="0"/>
              <a:t> setting (see </a:t>
            </a:r>
            <a:r>
              <a:rPr lang="en-US" dirty="0">
                <a:latin typeface="Consolas" panose="020B0609020204030204" pitchFamily="49" charset="0"/>
              </a:rPr>
              <a:t>man </a:t>
            </a:r>
            <a:r>
              <a:rPr lang="en-US" dirty="0" err="1">
                <a:latin typeface="Consolas" panose="020B0609020204030204" pitchFamily="49" charset="0"/>
              </a:rPr>
              <a:t>umask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 DEFFILEMODE (from </a:t>
            </a:r>
            <a:r>
              <a:rPr lang="en-US" dirty="0">
                <a:latin typeface="Consolas" panose="020B0609020204030204" pitchFamily="49" charset="0"/>
              </a:rPr>
              <a:t>sys/</a:t>
            </a:r>
            <a:r>
              <a:rPr lang="en-US" dirty="0" err="1">
                <a:latin typeface="Consolas" panose="020B0609020204030204" pitchFamily="49" charset="0"/>
              </a:rPr>
              <a:t>stat.h</a:t>
            </a:r>
            <a:r>
              <a:rPr lang="en-US" dirty="0"/>
              <a:t>) unless you have a specific reason to want something else</a:t>
            </a:r>
          </a:p>
          <a:p>
            <a:pPr lvl="1"/>
            <a:r>
              <a:rPr lang="en-US" dirty="0"/>
              <a:t>More explanation:</a:t>
            </a:r>
          </a:p>
          <a:p>
            <a:pPr lvl="2"/>
            <a:r>
              <a:rPr lang="en-US" sz="1800" dirty="0">
                <a:hlinkClick r:id="rId2"/>
              </a:rPr>
              <a:t>https://linuxfoundation.org/blog/classic-sysadmin-understanding-linux-file-permissions/</a:t>
            </a:r>
            <a:endParaRPr lang="en-US" sz="1800" dirty="0"/>
          </a:p>
          <a:p>
            <a:pPr lvl="2"/>
            <a:r>
              <a:rPr lang="en-US" sz="1800" dirty="0">
                <a:hlinkClick r:id="rId3"/>
              </a:rPr>
              <a:t>https://linuxcommand.org/lc3_lts0090.php</a:t>
            </a:r>
            <a:endParaRPr lang="en-US" sz="1800" dirty="0"/>
          </a:p>
          <a:p>
            <a:pPr lvl="2"/>
            <a:r>
              <a:rPr lang="en-US" sz="1700" dirty="0">
                <a:hlinkClick r:id="rId4"/>
              </a:rPr>
              <a:t>https://devconnected.com/linux-file-permissions-complete-guide/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6626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AC8AF83E-77D7-5CFD-2E2F-1F3968B2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>
            <a:extLst>
              <a:ext uri="{FF2B5EF4-FFF2-40B4-BE49-F238E27FC236}">
                <a16:creationId xmlns:a16="http://schemas.microsoft.com/office/drawing/2014/main" id="{05A43F72-D8E2-CAB0-38C6-157B0B1CB4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1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Closing Files</a:t>
            </a:r>
            <a:endParaRPr/>
          </a:p>
        </p:txBody>
      </p:sp>
      <p:sp>
        <p:nvSpPr>
          <p:cNvPr id="232" name="Shape 232">
            <a:extLst>
              <a:ext uri="{FF2B5EF4-FFF2-40B4-BE49-F238E27FC236}">
                <a16:creationId xmlns:a16="http://schemas.microsoft.com/office/drawing/2014/main" id="{D23DAB77-9F02-5EFB-5EA0-23B3031EC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20875" y="127063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Closing a file informs the kernel that you are finished accessing that file</a:t>
            </a:r>
            <a:endParaRPr lang="en-US" dirty="0"/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dirty="0"/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dirty="0"/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care not to close any file more than once</a:t>
            </a:r>
          </a:p>
          <a:p>
            <a:pPr marL="800100" lvl="1" indent="-342900">
              <a:spcBef>
                <a:spcPts val="0"/>
              </a:spcBef>
              <a:buSzPts val="1440"/>
              <a:buFont typeface="Wingdings" panose="05000000000000000000" pitchFamily="2" charset="2"/>
              <a:buChar char="§"/>
            </a:pPr>
            <a:r>
              <a:rPr lang="en-US" dirty="0"/>
              <a:t>Same as not calling free() twice on the same pointer</a:t>
            </a:r>
            <a:endParaRPr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Closing a file can fail!</a:t>
            </a:r>
          </a:p>
          <a:p>
            <a:pPr marL="800100" lvl="1" indent="-342900">
              <a:spcBef>
                <a:spcPts val="480"/>
              </a:spcBef>
              <a:buSzPts val="1440"/>
              <a:buFont typeface="Wingdings" panose="05000000000000000000" pitchFamily="2" charset="2"/>
              <a:buChar char="§"/>
            </a:pPr>
            <a:r>
              <a:rPr lang="en-US" dirty="0"/>
              <a:t>You might silently lose data if you don’t check!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B1AA2E-31E7-DD9B-26FC-F6AEF20771CE}"/>
              </a:ext>
            </a:extLst>
          </p:cNvPr>
          <p:cNvGrpSpPr/>
          <p:nvPr/>
        </p:nvGrpSpPr>
        <p:grpSpPr>
          <a:xfrm>
            <a:off x="2314105" y="2238059"/>
            <a:ext cx="6773884" cy="1324548"/>
            <a:chOff x="895288" y="4161173"/>
            <a:chExt cx="7524376" cy="132454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E365242-E15E-99D8-1BE0-77BD89967415}"/>
                </a:ext>
              </a:extLst>
            </p:cNvPr>
            <p:cNvSpPr txBox="1"/>
            <p:nvPr/>
          </p:nvSpPr>
          <p:spPr>
            <a:xfrm>
              <a:off x="895288" y="4162282"/>
              <a:ext cx="329767" cy="13234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C64CB6-4C80-C9A0-5B17-C38EDFA6D5AA}"/>
                </a:ext>
              </a:extLst>
            </p:cNvPr>
            <p:cNvSpPr txBox="1"/>
            <p:nvPr/>
          </p:nvSpPr>
          <p:spPr>
            <a:xfrm>
              <a:off x="1225055" y="4161173"/>
              <a:ext cx="7194609" cy="13234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(close(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 &lt; 0) {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(stderr, "%s: write error: %s",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       filename,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strerror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errno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 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6640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title"/>
          </p:nvPr>
        </p:nvSpPr>
        <p:spPr>
          <a:xfrm>
            <a:off x="1905000" y="457201"/>
            <a:ext cx="6496050" cy="573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Files</a:t>
            </a:r>
            <a:endParaRPr/>
          </a:p>
        </p:txBody>
      </p:sp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1903414" y="1219200"/>
            <a:ext cx="83073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5000"/>
              </a:lnSpc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 file copies bytes from the current file position to memory, and then updates file position</a:t>
            </a:r>
            <a:endParaRPr dirty="0"/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85000"/>
              </a:lnSpc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number of bytes read from file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sz="24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type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signed integer</a:t>
            </a:r>
            <a:endParaRPr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nbytes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0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that an error occurred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Short counts</a:t>
            </a: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nbytes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are possible</a:t>
            </a:r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are not errors!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8F9027-7031-9749-39CD-A821BF3468F1}"/>
              </a:ext>
            </a:extLst>
          </p:cNvPr>
          <p:cNvGrpSpPr/>
          <p:nvPr/>
        </p:nvGrpSpPr>
        <p:grpSpPr>
          <a:xfrm>
            <a:off x="2273014" y="2151173"/>
            <a:ext cx="6362986" cy="2555654"/>
            <a:chOff x="770645" y="4161173"/>
            <a:chExt cx="7067954" cy="25556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0CF49FD-5376-A3F8-DAA2-DB04F1734BE8}"/>
                </a:ext>
              </a:extLst>
            </p:cNvPr>
            <p:cNvSpPr txBox="1"/>
            <p:nvPr/>
          </p:nvSpPr>
          <p:spPr>
            <a:xfrm>
              <a:off x="770645" y="4162282"/>
              <a:ext cx="454411" cy="2554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A85B97-D44B-21CB-7CBD-733A9BAC0EAE}"/>
                </a:ext>
              </a:extLst>
            </p:cNvPr>
            <p:cNvSpPr txBox="1"/>
            <p:nvPr/>
          </p:nvSpPr>
          <p:spPr>
            <a:xfrm>
              <a:off x="1225056" y="4161173"/>
              <a:ext cx="6613543" cy="255454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[512];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 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file descriptor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number of bytes read */</a:t>
              </a:r>
            </a:p>
            <a:p>
              <a:endPara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Open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...  */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Then read up to 512 bytes from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= read(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sizeof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))) &lt; 0) {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("read");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title"/>
          </p:nvPr>
        </p:nvSpPr>
        <p:spPr>
          <a:xfrm>
            <a:off x="1905001" y="457200"/>
            <a:ext cx="6634163" cy="57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Files</a:t>
            </a:r>
            <a:endParaRPr/>
          </a:p>
        </p:txBody>
      </p:sp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1905001" y="1143000"/>
            <a:ext cx="8548687" cy="5562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a file copies bytes from memory to the current file position, and then updates current file position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number of bytes written from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file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nbytes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0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that an error occurred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with reads, short counts are possible and are not errors!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910EA3-A42C-2237-6DE5-44A18B49D241}"/>
              </a:ext>
            </a:extLst>
          </p:cNvPr>
          <p:cNvGrpSpPr/>
          <p:nvPr/>
        </p:nvGrpSpPr>
        <p:grpSpPr>
          <a:xfrm>
            <a:off x="1905001" y="2028062"/>
            <a:ext cx="6558214" cy="2801876"/>
            <a:chOff x="770646" y="4161173"/>
            <a:chExt cx="7284812" cy="28018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78C651C-4A2B-8207-0C3D-6CF12A074AEC}"/>
                </a:ext>
              </a:extLst>
            </p:cNvPr>
            <p:cNvSpPr txBox="1"/>
            <p:nvPr/>
          </p:nvSpPr>
          <p:spPr>
            <a:xfrm>
              <a:off x="770646" y="4162282"/>
              <a:ext cx="454409" cy="28007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59C870-2C0B-1396-1B36-AC2F7BDF07ED}"/>
                </a:ext>
              </a:extLst>
            </p:cNvPr>
            <p:cNvSpPr txBox="1"/>
            <p:nvPr/>
          </p:nvSpPr>
          <p:spPr>
            <a:xfrm>
              <a:off x="1225056" y="4161173"/>
              <a:ext cx="6830402" cy="28007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[512];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 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file descriptor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   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number of bytes read */</a:t>
              </a:r>
            </a:p>
            <a:p>
              <a:endPara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Open the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... */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/* Then write up to 512 bytes from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to file </a:t>
              </a:r>
              <a:r>
                <a:rPr lang="en-US" sz="1600" dirty="0" err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*/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if ((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nbytes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= write(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fd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,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sizeof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buf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)) &lt; 0) {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("write");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exit(1);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Unix I/O example</a:t>
            </a:r>
            <a:endParaRPr/>
          </a:p>
        </p:txBody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Copying stdin to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one byte at a time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Shape 255"/>
          <p:cNvGrpSpPr/>
          <p:nvPr/>
        </p:nvGrpSpPr>
        <p:grpSpPr>
          <a:xfrm>
            <a:off x="3824220" y="2670038"/>
            <a:ext cx="6386580" cy="2477218"/>
            <a:chOff x="2317173" y="3067972"/>
            <a:chExt cx="6386580" cy="2477218"/>
          </a:xfrm>
        </p:grpSpPr>
        <p:sp>
          <p:nvSpPr>
            <p:cNvPr id="256" name="Shape 256"/>
            <p:cNvSpPr/>
            <p:nvPr/>
          </p:nvSpPr>
          <p:spPr>
            <a:xfrm>
              <a:off x="2317173" y="3067972"/>
              <a:ext cx="457200" cy="685800"/>
            </a:xfrm>
            <a:prstGeom prst="noSmoking">
              <a:avLst>
                <a:gd name="adj" fmla="val 18750"/>
              </a:avLst>
            </a:prstGeom>
            <a:solidFill>
              <a:srgbClr val="FF00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Shape 257"/>
            <p:cNvSpPr txBox="1"/>
            <p:nvPr/>
          </p:nvSpPr>
          <p:spPr>
            <a:xfrm>
              <a:off x="2774373" y="5083525"/>
              <a:ext cx="592938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Always check return codes from system calls!</a:t>
              </a:r>
              <a:endParaRPr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E327AA5-E6E1-C77C-4166-21C043BE03A7}"/>
              </a:ext>
            </a:extLst>
          </p:cNvPr>
          <p:cNvGrpSpPr/>
          <p:nvPr/>
        </p:nvGrpSpPr>
        <p:grpSpPr>
          <a:xfrm>
            <a:off x="2539980" y="1718733"/>
            <a:ext cx="6446004" cy="2063212"/>
            <a:chOff x="895288" y="4161173"/>
            <a:chExt cx="7160170" cy="20632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C9CABE-A4C9-2A97-CAD4-1A341DFDD1BD}"/>
                </a:ext>
              </a:extLst>
            </p:cNvPr>
            <p:cNvSpPr txBox="1"/>
            <p:nvPr/>
          </p:nvSpPr>
          <p:spPr>
            <a:xfrm>
              <a:off x="895288" y="4162282"/>
              <a:ext cx="329768" cy="20621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113A02-6E9E-A80A-36C5-71EA802539A8}"/>
                </a:ext>
              </a:extLst>
            </p:cNvPr>
            <p:cNvSpPr txBox="1"/>
            <p:nvPr/>
          </p:nvSpPr>
          <p:spPr>
            <a:xfrm>
              <a:off x="1225055" y="4161173"/>
              <a:ext cx="6830403" cy="20621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&lt;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unistd.h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4A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main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void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</a:t>
              </a:r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C2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while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(read(STDIN_FILENO, &amp;c, 1) != 0)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    write(STDOUT_FILENO, &amp;c, 1);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return 0;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  <p:sp>
        <p:nvSpPr>
          <p:cNvPr id="8" name="&quot;No&quot; Symbol 7">
            <a:extLst>
              <a:ext uri="{FF2B5EF4-FFF2-40B4-BE49-F238E27FC236}">
                <a16:creationId xmlns:a16="http://schemas.microsoft.com/office/drawing/2014/main" id="{F06EE075-1440-FD60-F61A-2481D465D1D0}"/>
              </a:ext>
            </a:extLst>
          </p:cNvPr>
          <p:cNvSpPr/>
          <p:nvPr/>
        </p:nvSpPr>
        <p:spPr>
          <a:xfrm>
            <a:off x="4731938" y="2503839"/>
            <a:ext cx="914400" cy="914400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Unix I/O example</a:t>
            </a:r>
            <a:endParaRPr/>
          </a:p>
        </p:txBody>
      </p:sp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Copying stdin to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one byte at a time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DFC45-218F-1B37-2E5A-7135A6C16CB8}"/>
              </a:ext>
            </a:extLst>
          </p:cNvPr>
          <p:cNvGrpSpPr/>
          <p:nvPr/>
        </p:nvGrpSpPr>
        <p:grpSpPr>
          <a:xfrm>
            <a:off x="1881019" y="1781554"/>
            <a:ext cx="6363050" cy="4771646"/>
            <a:chOff x="770574" y="4161173"/>
            <a:chExt cx="7068025" cy="477164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6FDA3DC-4F57-DC0B-0D9B-F184544965EF}"/>
                </a:ext>
              </a:extLst>
            </p:cNvPr>
            <p:cNvSpPr txBox="1"/>
            <p:nvPr/>
          </p:nvSpPr>
          <p:spPr>
            <a:xfrm>
              <a:off x="770574" y="4162282"/>
              <a:ext cx="454482" cy="4770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6EADBE-F33F-5772-02A9-CADADFF15A6D}"/>
                </a:ext>
              </a:extLst>
            </p:cNvPr>
            <p:cNvSpPr txBox="1"/>
            <p:nvPr/>
          </p:nvSpPr>
          <p:spPr>
            <a:xfrm>
              <a:off x="1225056" y="4161173"/>
              <a:ext cx="6613543" cy="477053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&lt;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unistd.h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&lt;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stdio.h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4A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main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void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</a:t>
              </a:r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for (;;) {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</a:t>
              </a:r>
              <a:r>
                <a:rPr lang="en-US" sz="1600" dirty="0" err="1">
                  <a:solidFill>
                    <a:srgbClr val="2D961E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ssize_t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 err="1">
                  <a:solidFill>
                    <a:srgbClr val="C1651C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nread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= read(STDIN_FILENO, &amp;c, 1);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if (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nread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== 0) {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return 0;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} else if (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nread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&lt; 0) {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("stdin");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return 1;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}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if (write(STDOUT_FILENO, &amp;c, 1) &lt; 1) 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perror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("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stdout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: write error");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    return 1;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    }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}</a:t>
              </a:r>
            </a:p>
            <a:p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Unix I/O example</a:t>
            </a:r>
            <a:endParaRPr/>
          </a:p>
        </p:txBody>
      </p:sp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Copying stdin to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one byte at a time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816A9-8C9A-4547-9089-B28F8DC92D02}"/>
              </a:ext>
            </a:extLst>
          </p:cNvPr>
          <p:cNvSpPr txBox="1"/>
          <p:nvPr/>
        </p:nvSpPr>
        <p:spPr>
          <a:xfrm>
            <a:off x="3039533" y="4986868"/>
            <a:ext cx="6798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“Stevens wrappers” make things shorter…</a:t>
            </a:r>
          </a:p>
          <a:p>
            <a:r>
              <a: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but they don’t let you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recover</a:t>
            </a:r>
            <a:r>
              <a: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from errors</a:t>
            </a:r>
            <a:r>
              <a:rPr lang="en-US" sz="2800" b="1" i="1" dirty="0"/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19A7AA6-CC69-BCC2-4AF1-4E372BB2C98E}"/>
              </a:ext>
            </a:extLst>
          </p:cNvPr>
          <p:cNvGrpSpPr/>
          <p:nvPr/>
        </p:nvGrpSpPr>
        <p:grpSpPr>
          <a:xfrm>
            <a:off x="2438915" y="1819406"/>
            <a:ext cx="6250775" cy="2309433"/>
            <a:chOff x="895288" y="4161173"/>
            <a:chExt cx="6943311" cy="23094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FEC69F-CC67-F555-CFA6-8E0D4625C75E}"/>
                </a:ext>
              </a:extLst>
            </p:cNvPr>
            <p:cNvSpPr txBox="1"/>
            <p:nvPr/>
          </p:nvSpPr>
          <p:spPr>
            <a:xfrm>
              <a:off x="895288" y="4162282"/>
              <a:ext cx="329767" cy="2308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EDBE8A-63FF-1D59-DC8A-B95C0D37D1AB}"/>
                </a:ext>
              </a:extLst>
            </p:cNvPr>
            <p:cNvSpPr txBox="1"/>
            <p:nvPr/>
          </p:nvSpPr>
          <p:spPr>
            <a:xfrm>
              <a:off x="1225056" y="4161173"/>
              <a:ext cx="6613543" cy="23083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rgbClr val="926492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"</a:t>
              </a:r>
              <a:r>
                <a:rPr lang="en-US" sz="1600" dirty="0" err="1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csapp.h</a:t>
              </a:r>
              <a:r>
                <a:rPr lang="en-US" sz="1600" dirty="0">
                  <a:solidFill>
                    <a:srgbClr val="9D206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"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endParaRPr>
            </a:p>
            <a:p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4A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main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void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</a:t>
              </a:r>
              <a:r>
                <a:rPr lang="en-US" sz="1600" dirty="0"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2D961E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char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</a:t>
              </a:r>
              <a:r>
                <a:rPr lang="en-US" sz="1600" dirty="0">
                  <a:solidFill>
                    <a:srgbClr val="C1651C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c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>
                  <a:solidFill>
                    <a:srgbClr val="C200FF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while 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(Read(STDIN_FILENO, &amp;c, 1) != 0) 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    Write(STDOUT_FILENO, &amp;c, 1);</a:t>
              </a:r>
            </a:p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  <a:sym typeface="Courier New"/>
                </a:rPr>
                <a:t>    }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return 0;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5752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>
            <a:spLocks noGrp="1"/>
          </p:cNvSpPr>
          <p:nvPr>
            <p:ph type="title"/>
          </p:nvPr>
        </p:nvSpPr>
        <p:spPr>
          <a:xfrm>
            <a:off x="1905001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Short Counts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1912638" y="12954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counts can occur in these situations: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Encountering (end-of-file) EOF on reads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text lines from a terminal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network sockets, pipes, etc.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counts never occur in these situations: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from disk files (except for EOF)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to disk files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 is to always allow for short counts. 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9A65-DB00-FE82-9868-49A2DA1C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6C7A-610B-8AA6-DE4E-BCB50FBA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4B0B3-EC1B-50F3-CBAA-06580DCBF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b="1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0378C-4815-168E-32D3-40749460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3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title"/>
          </p:nvPr>
        </p:nvSpPr>
        <p:spPr>
          <a:xfrm>
            <a:off x="1908194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Functions</a:t>
            </a:r>
            <a:endParaRPr/>
          </a:p>
        </p:txBody>
      </p:sp>
      <p:sp>
        <p:nvSpPr>
          <p:cNvPr id="382" name="Shape 382"/>
          <p:cNvSpPr txBox="1">
            <a:spLocks noGrp="1"/>
          </p:cNvSpPr>
          <p:nvPr>
            <p:ph type="body" idx="1"/>
          </p:nvPr>
        </p:nvSpPr>
        <p:spPr>
          <a:xfrm>
            <a:off x="1908862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 standard library (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libc.so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contains a collection of higher-level </a:t>
            </a: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standard I/O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Documented in Appendix B of K&amp;R</a:t>
            </a:r>
            <a:endParaRPr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standard I/O functions: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Opening and closing files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fopen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fclose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bytes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fread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fwrite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and writing text lines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fputs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Formatted reading and writing (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fprintf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Streams</a:t>
            </a:r>
            <a:endParaRPr/>
          </a:p>
        </p:txBody>
      </p:sp>
      <p:sp>
        <p:nvSpPr>
          <p:cNvPr id="388" name="Shape 388"/>
          <p:cNvSpPr txBox="1">
            <a:spLocks noGrp="1"/>
          </p:cNvSpPr>
          <p:nvPr>
            <p:ph type="body" idx="1"/>
          </p:nvPr>
        </p:nvSpPr>
        <p:spPr>
          <a:xfrm>
            <a:off x="1886938" y="1220788"/>
            <a:ext cx="8307387" cy="2970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models open files as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streams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 for a file descriptor and a buffer in memory</a:t>
            </a:r>
            <a:endParaRPr dirty="0"/>
          </a:p>
          <a:p>
            <a:pPr marL="742950" lvl="1" indent="-1460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programs begin life with three open streams </a:t>
            </a:r>
            <a:b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(defined in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(standard input)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(standard output)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(standard error)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548F4D-92F9-69C1-19BF-C1823AA1FE2D}"/>
              </a:ext>
            </a:extLst>
          </p:cNvPr>
          <p:cNvGrpSpPr/>
          <p:nvPr/>
        </p:nvGrpSpPr>
        <p:grpSpPr>
          <a:xfrm>
            <a:off x="1672102" y="4359110"/>
            <a:ext cx="7801010" cy="2063212"/>
            <a:chOff x="895288" y="4161173"/>
            <a:chExt cx="8665300" cy="20632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7B4231-1A12-C737-B2F5-2C25678685D8}"/>
                </a:ext>
              </a:extLst>
            </p:cNvPr>
            <p:cNvSpPr txBox="1"/>
            <p:nvPr/>
          </p:nvSpPr>
          <p:spPr>
            <a:xfrm>
              <a:off x="895288" y="4162282"/>
              <a:ext cx="329768" cy="20621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9C9A8F-F51F-69E7-0123-90B11953DB21}"/>
                </a:ext>
              </a:extLst>
            </p:cNvPr>
            <p:cNvSpPr txBox="1"/>
            <p:nvPr/>
          </p:nvSpPr>
          <p:spPr>
            <a:xfrm>
              <a:off x="1225055" y="4161173"/>
              <a:ext cx="8335533" cy="20621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&lt;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stdio.h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lang="en-US" sz="1600" dirty="0"/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extern FILE *stdin;  </a:t>
              </a:r>
              <a:r>
                <a:rPr lang="en-US" sz="1600" b="1" dirty="0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standard input  (descriptor 0) */</a:t>
              </a:r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extern FILE *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stdout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lang="en-US" sz="1600" b="1" dirty="0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standard output (descriptor 1) */</a:t>
              </a:r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extern FILE *stderr; </a:t>
              </a:r>
              <a:r>
                <a:rPr lang="en-US" sz="1600" b="1" dirty="0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standard error  (descriptor 2) */</a:t>
              </a:r>
            </a:p>
            <a:p>
              <a:endPara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main() {</a:t>
              </a:r>
              <a:endParaRPr lang="en-US" sz="1600" dirty="0"/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fprintf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600" b="1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stdout</a:t>
              </a:r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"Hello, world\n");</a:t>
              </a:r>
              <a:endParaRPr lang="en-US" sz="1600" dirty="0"/>
            </a:p>
            <a:p>
              <a:r>
                <a:rPr lang="en-US" sz="16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Buffered I/O: Motivation</a:t>
            </a:r>
            <a:endParaRPr/>
          </a:p>
        </p:txBody>
      </p:sp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1886938" y="1220788"/>
            <a:ext cx="8307387" cy="43418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often read/write one character at a time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getc, putc, ungetc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gets, fgets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line of text one character at a time, stopping at newline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Implementing as Unix I/O calls expensive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require Unix kernel calls</a:t>
            </a:r>
            <a:endParaRPr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10,000 clock cycles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Buffered read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Unix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grab block of bytes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input functions take one byte at a time from buffer</a:t>
            </a:r>
            <a:endParaRPr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Refill buffer when empty</a:t>
            </a:r>
            <a:endParaRPr/>
          </a:p>
        </p:txBody>
      </p:sp>
      <p:sp>
        <p:nvSpPr>
          <p:cNvPr id="396" name="Shape 396"/>
          <p:cNvSpPr/>
          <p:nvPr/>
        </p:nvSpPr>
        <p:spPr>
          <a:xfrm>
            <a:off x="5350476" y="5807076"/>
            <a:ext cx="2362200" cy="441325"/>
          </a:xfrm>
          <a:prstGeom prst="rect">
            <a:avLst/>
          </a:prstGeom>
          <a:solidFill>
            <a:srgbClr val="F1C7C7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unread</a:t>
            </a:r>
            <a:endParaRPr/>
          </a:p>
        </p:txBody>
      </p:sp>
      <p:sp>
        <p:nvSpPr>
          <p:cNvPr id="397" name="Shape 397"/>
          <p:cNvSpPr/>
          <p:nvPr/>
        </p:nvSpPr>
        <p:spPr>
          <a:xfrm>
            <a:off x="2988276" y="5807076"/>
            <a:ext cx="2362200" cy="441325"/>
          </a:xfrm>
          <a:prstGeom prst="rect">
            <a:avLst/>
          </a:prstGeom>
          <a:solidFill>
            <a:srgbClr val="D5F1CF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already read</a:t>
            </a:r>
            <a:endParaRPr/>
          </a:p>
        </p:txBody>
      </p:sp>
      <p:sp>
        <p:nvSpPr>
          <p:cNvPr id="398" name="Shape 398"/>
          <p:cNvSpPr/>
          <p:nvPr/>
        </p:nvSpPr>
        <p:spPr>
          <a:xfrm>
            <a:off x="2988276" y="5807076"/>
            <a:ext cx="6096000" cy="44132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Shape 399"/>
          <p:cNvSpPr txBox="1"/>
          <p:nvPr/>
        </p:nvSpPr>
        <p:spPr>
          <a:xfrm>
            <a:off x="2133600" y="5831299"/>
            <a:ext cx="84234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>
            <a:spLocks noGrp="1"/>
          </p:cNvSpPr>
          <p:nvPr>
            <p:ph type="title"/>
          </p:nvPr>
        </p:nvSpPr>
        <p:spPr>
          <a:xfrm>
            <a:off x="1905001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Buffering in Standard I/O</a:t>
            </a:r>
            <a:endParaRPr dirty="0"/>
          </a:p>
        </p:txBody>
      </p:sp>
      <p:sp>
        <p:nvSpPr>
          <p:cNvPr id="405" name="Shape 405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functions use buffered I/O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 flushed to output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“\n”, call to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fflush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exit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return from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 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Shape 406"/>
          <p:cNvSpPr txBox="1"/>
          <p:nvPr/>
        </p:nvSpPr>
        <p:spPr>
          <a:xfrm>
            <a:off x="4068762" y="1905000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printf("h");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Shape 407"/>
          <p:cNvSpPr/>
          <p:nvPr/>
        </p:nvSpPr>
        <p:spPr>
          <a:xfrm>
            <a:off x="41449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408" name="Shape 408"/>
          <p:cNvSpPr/>
          <p:nvPr/>
        </p:nvSpPr>
        <p:spPr>
          <a:xfrm>
            <a:off x="46021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409" name="Shape 409"/>
          <p:cNvSpPr/>
          <p:nvPr/>
        </p:nvSpPr>
        <p:spPr>
          <a:xfrm>
            <a:off x="49831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410" name="Shape 410"/>
          <p:cNvSpPr/>
          <p:nvPr/>
        </p:nvSpPr>
        <p:spPr>
          <a:xfrm>
            <a:off x="54403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411" name="Shape 411"/>
          <p:cNvSpPr/>
          <p:nvPr/>
        </p:nvSpPr>
        <p:spPr>
          <a:xfrm>
            <a:off x="58975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412" name="Shape 412"/>
          <p:cNvSpPr/>
          <p:nvPr/>
        </p:nvSpPr>
        <p:spPr>
          <a:xfrm>
            <a:off x="63547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\n</a:t>
            </a:r>
            <a:endParaRPr/>
          </a:p>
        </p:txBody>
      </p:sp>
      <p:sp>
        <p:nvSpPr>
          <p:cNvPr id="413" name="Shape 413"/>
          <p:cNvSpPr/>
          <p:nvPr/>
        </p:nvSpPr>
        <p:spPr>
          <a:xfrm>
            <a:off x="68119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4" name="Shape 414"/>
          <p:cNvSpPr/>
          <p:nvPr/>
        </p:nvSpPr>
        <p:spPr>
          <a:xfrm>
            <a:off x="7269162" y="3995737"/>
            <a:ext cx="457200" cy="228600"/>
          </a:xfrm>
          <a:prstGeom prst="rect">
            <a:avLst/>
          </a:prstGeom>
          <a:solidFill>
            <a:srgbClr val="D5D5F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cxnSp>
        <p:nvCxnSpPr>
          <p:cNvPr id="415" name="Shape 415"/>
          <p:cNvCxnSpPr/>
          <p:nvPr/>
        </p:nvCxnSpPr>
        <p:spPr>
          <a:xfrm>
            <a:off x="4373562" y="2319337"/>
            <a:ext cx="0" cy="1676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6" name="Shape 416"/>
          <p:cNvSpPr txBox="1"/>
          <p:nvPr/>
        </p:nvSpPr>
        <p:spPr>
          <a:xfrm>
            <a:off x="4525962" y="2133600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printf("e");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Shape 417"/>
          <p:cNvCxnSpPr/>
          <p:nvPr/>
        </p:nvCxnSpPr>
        <p:spPr>
          <a:xfrm>
            <a:off x="4830762" y="2471737"/>
            <a:ext cx="0" cy="1524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8" name="Shape 418"/>
          <p:cNvSpPr txBox="1"/>
          <p:nvPr/>
        </p:nvSpPr>
        <p:spPr>
          <a:xfrm>
            <a:off x="4906962" y="236378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printf("l");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Shape 419"/>
          <p:cNvCxnSpPr/>
          <p:nvPr/>
        </p:nvCxnSpPr>
        <p:spPr>
          <a:xfrm>
            <a:off x="6583362" y="3462337"/>
            <a:ext cx="0" cy="533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0" name="Shape 420"/>
          <p:cNvSpPr txBox="1"/>
          <p:nvPr/>
        </p:nvSpPr>
        <p:spPr>
          <a:xfrm>
            <a:off x="5283200" y="262413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printf("l");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Shape 421"/>
          <p:cNvCxnSpPr/>
          <p:nvPr/>
        </p:nvCxnSpPr>
        <p:spPr>
          <a:xfrm>
            <a:off x="6049962" y="3233737"/>
            <a:ext cx="0" cy="762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2" name="Shape 422"/>
          <p:cNvSpPr txBox="1"/>
          <p:nvPr/>
        </p:nvSpPr>
        <p:spPr>
          <a:xfrm>
            <a:off x="5664200" y="289718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printf("o");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Shape 423"/>
          <p:cNvSpPr txBox="1"/>
          <p:nvPr/>
        </p:nvSpPr>
        <p:spPr>
          <a:xfrm>
            <a:off x="6151562" y="3157537"/>
            <a:ext cx="17732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printf("\n");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Shape 424"/>
          <p:cNvCxnSpPr/>
          <p:nvPr/>
        </p:nvCxnSpPr>
        <p:spPr>
          <a:xfrm>
            <a:off x="5211762" y="2700337"/>
            <a:ext cx="0" cy="1295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" name="Shape 425"/>
          <p:cNvCxnSpPr/>
          <p:nvPr/>
        </p:nvCxnSpPr>
        <p:spPr>
          <a:xfrm>
            <a:off x="5668962" y="2928937"/>
            <a:ext cx="0" cy="1066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Shape 426"/>
          <p:cNvCxnSpPr/>
          <p:nvPr/>
        </p:nvCxnSpPr>
        <p:spPr>
          <a:xfrm>
            <a:off x="5440362" y="4300537"/>
            <a:ext cx="0" cy="82296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7" name="Shape 427"/>
          <p:cNvSpPr txBox="1"/>
          <p:nvPr/>
        </p:nvSpPr>
        <p:spPr>
          <a:xfrm>
            <a:off x="5516563" y="4510088"/>
            <a:ext cx="223202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fflush(stdout);</a:t>
            </a:r>
            <a:endParaRPr/>
          </a:p>
        </p:txBody>
      </p:sp>
      <p:sp>
        <p:nvSpPr>
          <p:cNvPr id="428" name="Shape 428"/>
          <p:cNvSpPr txBox="1"/>
          <p:nvPr/>
        </p:nvSpPr>
        <p:spPr>
          <a:xfrm>
            <a:off x="3154363" y="3076575"/>
            <a:ext cx="59372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/>
          </a:p>
        </p:txBody>
      </p:sp>
      <p:cxnSp>
        <p:nvCxnSpPr>
          <p:cNvPr id="429" name="Shape 429"/>
          <p:cNvCxnSpPr/>
          <p:nvPr/>
        </p:nvCxnSpPr>
        <p:spPr>
          <a:xfrm>
            <a:off x="3459162" y="3394075"/>
            <a:ext cx="685800" cy="60166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0" name="Shape 430"/>
          <p:cNvSpPr txBox="1"/>
          <p:nvPr/>
        </p:nvSpPr>
        <p:spPr>
          <a:xfrm>
            <a:off x="4183400" y="5195887"/>
            <a:ext cx="25282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buf, 6);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title"/>
          </p:nvPr>
        </p:nvSpPr>
        <p:spPr>
          <a:xfrm>
            <a:off x="1881019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Buffering in Action</a:t>
            </a:r>
            <a:endParaRPr dirty="0"/>
          </a:p>
        </p:txBody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1880287" y="12954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see this buffering in action for yourself, using the always fascinating Linux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strace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program:</a:t>
            </a:r>
            <a:endParaRPr/>
          </a:p>
        </p:txBody>
      </p:sp>
      <p:sp>
        <p:nvSpPr>
          <p:cNvPr id="437" name="Shape 437"/>
          <p:cNvSpPr/>
          <p:nvPr/>
        </p:nvSpPr>
        <p:spPr>
          <a:xfrm>
            <a:off x="4800600" y="2438400"/>
            <a:ext cx="5638800" cy="18158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strace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./hello</a:t>
            </a:r>
            <a:endParaRPr dirty="0"/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execve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("./hello", ["hello"], [/* ... */]).</a:t>
            </a:r>
            <a:endParaRPr dirty="0"/>
          </a:p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dirty="0"/>
          </a:p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"hello\n", 6)               = 6</a:t>
            </a:r>
            <a:endParaRPr dirty="0"/>
          </a:p>
          <a:p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exit_group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(0)                        = ?</a:t>
            </a:r>
            <a:endParaRPr dirty="0"/>
          </a:p>
          <a:p>
            <a:endParaRPr sz="16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CEEB0-51BB-9215-DCE3-C8C4EAA3DEE0}"/>
              </a:ext>
            </a:extLst>
          </p:cNvPr>
          <p:cNvGrpSpPr/>
          <p:nvPr/>
        </p:nvGrpSpPr>
        <p:grpSpPr>
          <a:xfrm>
            <a:off x="1217399" y="2438400"/>
            <a:ext cx="3352690" cy="3048097"/>
            <a:chOff x="770574" y="4161173"/>
            <a:chExt cx="3724141" cy="30480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F34130-6A07-56A9-391D-6DB4ACE1B135}"/>
                </a:ext>
              </a:extLst>
            </p:cNvPr>
            <p:cNvSpPr txBox="1"/>
            <p:nvPr/>
          </p:nvSpPr>
          <p:spPr>
            <a:xfrm>
              <a:off x="770574" y="4162282"/>
              <a:ext cx="454482" cy="30469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  <a:p>
              <a:pPr algn="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9B5FEB-F8B5-8952-C42E-90CE9D411FEA}"/>
                </a:ext>
              </a:extLst>
            </p:cNvPr>
            <p:cNvSpPr txBox="1"/>
            <p:nvPr/>
          </p:nvSpPr>
          <p:spPr>
            <a:xfrm>
              <a:off x="1225056" y="4161173"/>
              <a:ext cx="3269659" cy="30469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#include &lt;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stdio.h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&gt;</a:t>
              </a: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int main()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{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("h");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("e");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("l");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("l");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("o");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printf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("\n");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fflush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(</a:t>
              </a:r>
              <a:r>
                <a:rPr lang="en-US" sz="1600" dirty="0" err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stdout</a:t>
              </a:r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    exit(0);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nsolas" panose="020B0609020204030204" pitchFamily="49" charset="0"/>
                  <a:sym typeface="Courier New"/>
                </a:rPr>
                <a:t>}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I/O buffering">
            <a:extLst>
              <a:ext uri="{FF2B5EF4-FFF2-40B4-BE49-F238E27FC236}">
                <a16:creationId xmlns:a16="http://schemas.microsoft.com/office/drawing/2014/main" id="{89AFD3BC-6CDD-8FEE-6B95-9A59F41E5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990"/>
          <a:stretch/>
        </p:blipFill>
        <p:spPr>
          <a:xfrm>
            <a:off x="3125325" y="548322"/>
            <a:ext cx="6583398" cy="55578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4141-D6A2-D107-AD6D-F512A402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30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368908-FE88-706D-69E2-057E4F968C70}"/>
              </a:ext>
            </a:extLst>
          </p:cNvPr>
          <p:cNvSpPr/>
          <p:nvPr/>
        </p:nvSpPr>
        <p:spPr>
          <a:xfrm>
            <a:off x="3900878" y="3281680"/>
            <a:ext cx="1402080" cy="136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2575F-9030-2D9D-1D7D-0681483A1C5B}"/>
              </a:ext>
            </a:extLst>
          </p:cNvPr>
          <p:cNvSpPr/>
          <p:nvPr/>
        </p:nvSpPr>
        <p:spPr>
          <a:xfrm>
            <a:off x="7208520" y="1615440"/>
            <a:ext cx="2595880" cy="163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2C881-5D86-FDE1-7001-765716DF6AB7}"/>
              </a:ext>
            </a:extLst>
          </p:cNvPr>
          <p:cNvSpPr/>
          <p:nvPr/>
        </p:nvSpPr>
        <p:spPr>
          <a:xfrm>
            <a:off x="7208520" y="3281680"/>
            <a:ext cx="2500203" cy="163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EB29362-1808-92FB-C9E3-BED3EC1D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278" y="2068082"/>
            <a:ext cx="259588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There is </a:t>
            </a:r>
            <a:br>
              <a:rPr lang="en-US" dirty="0"/>
            </a:br>
            <a:r>
              <a:rPr lang="en-US" dirty="0"/>
              <a:t>also a kernel </a:t>
            </a:r>
            <a:br>
              <a:rPr lang="en-US" dirty="0"/>
            </a:br>
            <a:r>
              <a:rPr lang="en-US" dirty="0"/>
              <a:t>buffer!</a:t>
            </a:r>
          </a:p>
        </p:txBody>
      </p:sp>
    </p:spTree>
    <p:extLst>
      <p:ext uri="{BB962C8B-B14F-4D97-AF65-F5344CB8AC3E}">
        <p14:creationId xmlns:p14="http://schemas.microsoft.com/office/powerpoint/2010/main" val="3097557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B204-5DCC-4576-858E-38156650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1A5F-536F-C960-0AD7-A2BE41E2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482D-6557-AAC3-E49D-B0AB757AE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b="1" dirty="0"/>
              <a:t>Which I/O when</a:t>
            </a:r>
          </a:p>
          <a:p>
            <a:r>
              <a:rPr lang="en-US" sz="4000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3142A-A0AC-812B-CC82-938F4D6E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68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 txBox="1">
            <a:spLocks noGrp="1"/>
          </p:cNvSpPr>
          <p:nvPr>
            <p:ph type="title"/>
          </p:nvPr>
        </p:nvSpPr>
        <p:spPr>
          <a:xfrm>
            <a:off x="1913971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 and Cons of Unix I/O</a:t>
            </a:r>
            <a:endParaRPr/>
          </a:p>
        </p:txBody>
      </p:sp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85185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is the most general form of I/O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other I/O packages are implemented using Unix I/O functions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provides functions for accessing file metadata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functions are async-signal-safe and can be used safely in signal handlers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Dealing with short counts is tricky and error prone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reading of text lines requires some form of buffering, also tricky and error prone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title"/>
          </p:nvPr>
        </p:nvSpPr>
        <p:spPr>
          <a:xfrm>
            <a:off x="1899956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 and Cons of Standard I/O</a:t>
            </a:r>
            <a:endParaRPr/>
          </a:p>
        </p:txBody>
      </p:sp>
      <p:sp>
        <p:nvSpPr>
          <p:cNvPr id="474" name="Shape 474"/>
          <p:cNvSpPr txBox="1">
            <a:spLocks noGrp="1"/>
          </p:cNvSpPr>
          <p:nvPr>
            <p:ph type="body" idx="1"/>
          </p:nvPr>
        </p:nvSpPr>
        <p:spPr>
          <a:xfrm>
            <a:off x="1752601" y="1362075"/>
            <a:ext cx="8458200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Buffering increases efficiency by decreasing the number of 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 calls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counts are handled automatically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no function for accessing file metadata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functions are not async-signal-safe, and not appropriate for signal handlers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I/O is not appropriate for input and output on network sockets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poorly documented restrictions on streams that interact badly with restrictions on sockets (CS:APP3e, Sec 10.11)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1905000" y="533401"/>
            <a:ext cx="6878638" cy="573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Choosing I/O Functions</a:t>
            </a:r>
            <a:endParaRPr/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1905001" y="1252538"/>
            <a:ext cx="8472487" cy="52244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rule: use the highest-level I/O functions you can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C programmers are able to do all of their work using</a:t>
            </a:r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standard I/O functions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But, be sure to understand the functions you use!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use standard I/O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dirty="0"/>
              <a:t>When working with “ordinary” files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use raw Unix I/O 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Inside signal handlers, because Unix I/O is async-signal-safe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When you are reading and writing network sockets</a:t>
            </a:r>
          </a:p>
          <a:p>
            <a:pPr marL="1200150" lvl="2" indent="-285750">
              <a:buClr>
                <a:srgbClr val="990000"/>
              </a:buClr>
              <a:buSzPts val="2200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Libraries dedicated to buffered network I/O make this easier</a:t>
            </a:r>
          </a:p>
          <a:p>
            <a:pPr marL="1200150" lvl="2" indent="-285750">
              <a:buClr>
                <a:srgbClr val="990000"/>
              </a:buClr>
              <a:buSzPts val="2200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CS:APP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rio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_*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functions;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libevent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libuv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…</a:t>
            </a: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rare cases when you need absolute highest performance</a:t>
            </a:r>
            <a:endParaRPr dirty="0"/>
          </a:p>
        </p:txBody>
      </p:sp>
      <p:sp>
        <p:nvSpPr>
          <p:cNvPr id="481" name="Shape 481"/>
          <p:cNvSpPr txBox="1"/>
          <p:nvPr/>
        </p:nvSpPr>
        <p:spPr>
          <a:xfrm>
            <a:off x="-304249" y="3082544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title"/>
          </p:nvPr>
        </p:nvSpPr>
        <p:spPr>
          <a:xfrm>
            <a:off x="1920876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Aside: Working with Binary Files</a:t>
            </a:r>
            <a:endParaRPr/>
          </a:p>
        </p:txBody>
      </p:sp>
      <p:sp>
        <p:nvSpPr>
          <p:cNvPr id="487" name="Shape 487"/>
          <p:cNvSpPr txBox="1">
            <a:spLocks noGrp="1"/>
          </p:cNvSpPr>
          <p:nvPr>
            <p:ph type="body" idx="1"/>
          </p:nvPr>
        </p:nvSpPr>
        <p:spPr>
          <a:xfrm>
            <a:off x="1752600" y="1362075"/>
            <a:ext cx="9067800" cy="54959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Functions you should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never</a:t>
            </a:r>
            <a:r>
              <a:rPr lang="en-US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use on binary files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Text-oriented I/O:</a:t>
            </a:r>
            <a:r>
              <a:rPr lang="en-US" sz="20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as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scanf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endParaRPr sz="2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 EOL characters. 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functions like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instead</a:t>
            </a:r>
            <a:endParaRPr dirty="0"/>
          </a:p>
          <a:p>
            <a:pPr lvl="3" indent="-101600">
              <a:spcBef>
                <a:spcPts val="400"/>
              </a:spcBef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String functions</a:t>
            </a:r>
            <a:endParaRPr dirty="0"/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strcpy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strcat</a:t>
            </a: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2">
              <a:spcBef>
                <a:spcPts val="400"/>
              </a:spcBef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Interprets byte value 0 (end of string) as special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36A7-489A-2EA9-2A4F-95DE9698F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2C2B-8B2E-ACD7-B931-C10DE4AE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How does systems I/O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1FD2C-D018-C89C-4BB7-2BC65A8D7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Unix I/O</a:t>
            </a:r>
          </a:p>
          <a:p>
            <a:r>
              <a:rPr lang="en-US" sz="4000" dirty="0"/>
              <a:t>Standard I/O</a:t>
            </a:r>
          </a:p>
          <a:p>
            <a:r>
              <a:rPr lang="en-US" sz="4000" dirty="0"/>
              <a:t>Which I/O when</a:t>
            </a:r>
          </a:p>
          <a:p>
            <a:r>
              <a:rPr lang="en-US" sz="4000" b="1" dirty="0"/>
              <a:t>Metadata, sharing, and redirection</a:t>
            </a:r>
          </a:p>
          <a:p>
            <a:endParaRPr lang="en-US" sz="40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FAC7-7BAC-37FC-9BBD-36BE6FA3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FB5B-1F60-994B-8E33-8E782B4CF04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5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Metadata</a:t>
            </a:r>
            <a:endParaRPr sz="3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0" name="Shape 500"/>
          <p:cNvSpPr txBox="1">
            <a:spLocks noGrp="1"/>
          </p:cNvSpPr>
          <p:nvPr>
            <p:ph type="body" idx="1"/>
          </p:nvPr>
        </p:nvSpPr>
        <p:spPr>
          <a:xfrm>
            <a:off x="1896162" y="112395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data about data, in this case file data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Per-file metadata maintained by kernel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accessed by users with the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fstat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</a:t>
            </a:r>
            <a:endParaRPr/>
          </a:p>
        </p:txBody>
      </p:sp>
      <p:sp>
        <p:nvSpPr>
          <p:cNvPr id="501" name="Shape 501"/>
          <p:cNvSpPr/>
          <p:nvPr/>
        </p:nvSpPr>
        <p:spPr>
          <a:xfrm>
            <a:off x="1997762" y="2590801"/>
            <a:ext cx="8264525" cy="4016375"/>
          </a:xfrm>
          <a:prstGeom prst="rect">
            <a:avLst/>
          </a:prstGeom>
          <a:solidFill>
            <a:srgbClr val="F6F5BD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Metadata returned by the stat and fstat functions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stat {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dev_t         st_dev;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Device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ino_t         st_ino;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inode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mode_t        st_mode;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Protection and file type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nlink_t       st_nlink;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hard links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uid_t         st_uid;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User ID of owner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gid_t         st_gid; 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Group ID of owner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dev_t         st_rdev;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Device type (if inode device)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off_t         st_size; 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Total size, in bytes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unsigned long st_blksize;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Blocksize for filesystem I/O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unsigned long st_blocks;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blocks allocated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st_atime;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access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st_mtime;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modification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st_ctime;    </a:t>
            </a:r>
            <a:r>
              <a:rPr lang="en-US" sz="1600" b="1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change */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>
            <a:spLocks noGrp="1"/>
          </p:cNvSpPr>
          <p:nvPr>
            <p:ph type="title"/>
          </p:nvPr>
        </p:nvSpPr>
        <p:spPr>
          <a:xfrm>
            <a:off x="1856708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Accessing File Metadata</a:t>
            </a:r>
            <a:endParaRPr/>
          </a:p>
        </p:txBody>
      </p:sp>
      <p:sp>
        <p:nvSpPr>
          <p:cNvPr id="507" name="Shape 507"/>
          <p:cNvSpPr txBox="1"/>
          <p:nvPr/>
        </p:nvSpPr>
        <p:spPr>
          <a:xfrm>
            <a:off x="1676400" y="1371601"/>
            <a:ext cx="8153400" cy="5016759"/>
          </a:xfrm>
          <a:prstGeom prst="rect">
            <a:avLst/>
          </a:prstGeom>
          <a:solidFill>
            <a:srgbClr val="F6F5BD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4A00FF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**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lang="en-US" sz="1600" b="1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readok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Stat(argv[1], &amp;stat);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(S_ISREG(stat.st_mode))     </a:t>
            </a:r>
            <a:r>
              <a:rPr lang="en-US" sz="1600" b="1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Determine file type */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type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"regular"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(S_ISDIR(stat.st_mode))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type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"directory"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type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"other"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((stat.st_mode &amp; S_IRUSR)) </a:t>
            </a:r>
            <a:r>
              <a:rPr lang="en-US" sz="1600" b="1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Check read access */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readok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readok = 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endParaRPr sz="16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</a:t>
            </a:r>
            <a:r>
              <a:rPr lang="en-US" sz="1600" b="1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"type: %s, read: %s\n"</a:t>
            </a:r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type, readok);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/>
          </a:p>
          <a:p>
            <a:r>
              <a:rPr lang="en-US" sz="1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508" name="Shape 508"/>
          <p:cNvSpPr txBox="1"/>
          <p:nvPr/>
        </p:nvSpPr>
        <p:spPr>
          <a:xfrm>
            <a:off x="6400801" y="1143000"/>
            <a:ext cx="4114800" cy="18158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statcheck.c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regular, read: yes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chmod 000 statcheck.c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statcheck.c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regular, read: no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..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directory, read: yes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9" name="Shape 509"/>
          <p:cNvSpPr txBox="1"/>
          <p:nvPr/>
        </p:nvSpPr>
        <p:spPr>
          <a:xfrm>
            <a:off x="8077200" y="6019800"/>
            <a:ext cx="17084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b="1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statcheck.c</a:t>
            </a:r>
            <a:endParaRPr b="1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514"/>
          <p:cNvSpPr txBox="1">
            <a:spLocks noGrp="1"/>
          </p:cNvSpPr>
          <p:nvPr>
            <p:ph type="title"/>
          </p:nvPr>
        </p:nvSpPr>
        <p:spPr>
          <a:xfrm>
            <a:off x="1881018" y="435678"/>
            <a:ext cx="8710782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Unix Kernel Represents Open Files</a:t>
            </a:r>
            <a:endParaRPr/>
          </a:p>
        </p:txBody>
      </p:sp>
      <p:sp>
        <p:nvSpPr>
          <p:cNvPr id="515" name="Shape 515"/>
          <p:cNvSpPr txBox="1">
            <a:spLocks noGrp="1"/>
          </p:cNvSpPr>
          <p:nvPr>
            <p:ph type="body" idx="1"/>
          </p:nvPr>
        </p:nvSpPr>
        <p:spPr>
          <a:xfrm>
            <a:off x="1886938" y="12954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descriptors referencing two distinct open files. Descriptor 1 (stdout) points to terminal, and descriptor 4 points to open disk file</a:t>
            </a:r>
            <a:endParaRPr/>
          </a:p>
        </p:txBody>
      </p:sp>
      <p:sp>
        <p:nvSpPr>
          <p:cNvPr id="516" name="Shape 516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Shape 517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Shape 518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Shape 519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Shape 520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Shape 521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522" name="Shape 522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523" name="Shape 523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524" name="Shape 524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525" name="Shape 525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526" name="Shape 526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527" name="Shape 527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dirty="0"/>
          </a:p>
          <a:p>
            <a:pPr algn="ctr"/>
            <a:r>
              <a:rPr lang="en-US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dirty="0"/>
          </a:p>
        </p:txBody>
      </p:sp>
      <p:sp>
        <p:nvSpPr>
          <p:cNvPr id="528" name="Shape 528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dirty="0"/>
          </a:p>
          <a:p>
            <a:pPr algn="ctr"/>
            <a:r>
              <a:rPr lang="en-US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dirty="0"/>
          </a:p>
        </p:txBody>
      </p:sp>
      <p:sp>
        <p:nvSpPr>
          <p:cNvPr id="529" name="Shape 529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30" name="Shape 530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31" name="Shape 531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532" name="Shape 532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3" name="Shape 533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Shape 534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35" name="Shape 535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36" name="Shape 536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37" name="Shape 537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Shape 538"/>
          <p:cNvCxnSpPr/>
          <p:nvPr/>
        </p:nvCxnSpPr>
        <p:spPr>
          <a:xfrm>
            <a:off x="3352800" y="4683125"/>
            <a:ext cx="2057400" cy="698500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9" name="Shape 539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540" name="Shape 540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541" name="Shape 541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542" name="Shape 542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43" name="Shape 543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544" name="Shape 544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45" name="Shape 545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546" name="Shape 546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547" name="Shape 547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548" name="Shape 548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49" name="Shape 549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550" name="Shape 550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551" name="Shape 551"/>
          <p:cNvSpPr txBox="1"/>
          <p:nvPr/>
        </p:nvSpPr>
        <p:spPr>
          <a:xfrm>
            <a:off x="5282515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Shape 552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Shape 553"/>
          <p:cNvSpPr txBox="1"/>
          <p:nvPr/>
        </p:nvSpPr>
        <p:spPr>
          <a:xfrm>
            <a:off x="9499600" y="3886201"/>
            <a:ext cx="914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in </a:t>
            </a:r>
            <a:endParaRPr/>
          </a:p>
          <a:p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 sz="16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struct</a:t>
            </a:r>
            <a:endParaRPr sz="16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Shape 554"/>
          <p:cNvSpPr/>
          <p:nvPr/>
        </p:nvSpPr>
        <p:spPr>
          <a:xfrm>
            <a:off x="9135076" y="3649361"/>
            <a:ext cx="366418" cy="1188720"/>
          </a:xfrm>
          <a:prstGeom prst="rightBrace">
            <a:avLst>
              <a:gd name="adj1" fmla="val 133333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Shape 555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56" name="Shape 556"/>
          <p:cNvSpPr txBox="1"/>
          <p:nvPr/>
        </p:nvSpPr>
        <p:spPr>
          <a:xfrm>
            <a:off x="1600201" y="6248400"/>
            <a:ext cx="35177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pos is maintained per open file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" grpId="0"/>
      <p:bldP spid="528" grpId="0"/>
      <p:bldP spid="529" grpId="0" animBg="1"/>
      <p:bldP spid="530" grpId="0" animBg="1"/>
      <p:bldP spid="531" grpId="0" animBg="1"/>
      <p:bldP spid="533" grpId="0" animBg="1"/>
      <p:bldP spid="534" grpId="0" animBg="1"/>
      <p:bldP spid="535" grpId="0" animBg="1"/>
      <p:bldP spid="536" grpId="0" animBg="1"/>
      <p:bldP spid="537" grpId="0" animBg="1"/>
      <p:bldP spid="543" grpId="0" animBg="1"/>
      <p:bldP spid="544" grpId="0" animBg="1"/>
      <p:bldP spid="545" grpId="0" animBg="1"/>
      <p:bldP spid="546" grpId="0" animBg="1"/>
      <p:bldP spid="547" grpId="0" animBg="1"/>
      <p:bldP spid="548" grpId="0" animBg="1"/>
      <p:bldP spid="549" grpId="0" animBg="1"/>
      <p:bldP spid="550" grpId="0" animBg="1"/>
      <p:bldP spid="551" grpId="0"/>
      <p:bldP spid="552" grpId="0"/>
      <p:bldP spid="553" grpId="0"/>
      <p:bldP spid="554" grpId="0" animBg="1"/>
      <p:bldP spid="55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Sharing</a:t>
            </a:r>
            <a:endParaRPr/>
          </a:p>
        </p:txBody>
      </p:sp>
      <p:sp>
        <p:nvSpPr>
          <p:cNvPr id="562" name="Shape 562"/>
          <p:cNvSpPr txBox="1">
            <a:spLocks noGrp="1"/>
          </p:cNvSpPr>
          <p:nvPr>
            <p:ph type="body" idx="1"/>
          </p:nvPr>
        </p:nvSpPr>
        <p:spPr>
          <a:xfrm>
            <a:off x="1895176" y="1220788"/>
            <a:ext cx="8307387" cy="1141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5000"/>
              </a:lnSpc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distinct descriptors sharing the same disk file through two distinct open file table entries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Calling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twice with the same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3" name="Shape 563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Shape 564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Shape 565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Shape 566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Shape 567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Shape 568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569" name="Shape 569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570" name="Shape 570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571" name="Shape 571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572" name="Shape 572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573" name="Shape 573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574" name="Shape 574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575" name="Shape 575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576" name="Shape 576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77" name="Shape 577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78" name="Shape 578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579" name="Shape 579"/>
          <p:cNvCxnSpPr/>
          <p:nvPr/>
        </p:nvCxnSpPr>
        <p:spPr>
          <a:xfrm rot="10800000" flipH="1">
            <a:off x="3640138" y="3657596"/>
            <a:ext cx="1752600" cy="733429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80" name="Shape 580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Shape 581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582" name="Shape 582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583" name="Shape 583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84" name="Shape 584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Shape 585"/>
          <p:cNvCxnSpPr/>
          <p:nvPr/>
        </p:nvCxnSpPr>
        <p:spPr>
          <a:xfrm>
            <a:off x="3640138" y="4683125"/>
            <a:ext cx="1770062" cy="698500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86" name="Shape 586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587" name="Shape 587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588" name="Shape 588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589" name="Shape 589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90" name="Shape 590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591" name="Shape 591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592" name="Shape 592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593" name="Shape 593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594" name="Shape 594"/>
          <p:cNvSpPr txBox="1"/>
          <p:nvPr/>
        </p:nvSpPr>
        <p:spPr>
          <a:xfrm>
            <a:off x="5282515" y="3352800"/>
            <a:ext cx="116870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(disk)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Shape 595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/>
          </a:p>
        </p:txBody>
      </p:sp>
      <p:cxnSp>
        <p:nvCxnSpPr>
          <p:cNvPr id="596" name="Shape 596"/>
          <p:cNvCxnSpPr/>
          <p:nvPr/>
        </p:nvCxnSpPr>
        <p:spPr>
          <a:xfrm rot="10800000" flipH="1">
            <a:off x="6230938" y="3641725"/>
            <a:ext cx="1770062" cy="1844674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97" name="Shape 597"/>
          <p:cNvSpPr txBox="1"/>
          <p:nvPr/>
        </p:nvSpPr>
        <p:spPr>
          <a:xfrm>
            <a:off x="6615798" y="6203484"/>
            <a:ext cx="38372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Different logical but same physical file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Processes Share Files: </a:t>
            </a:r>
            <a:r>
              <a:rPr lang="en-US" sz="3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endParaRPr sz="3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1903414" y="11430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child process inherits its parent’s open files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situation unchanged by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(use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fcntl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change)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call:</a:t>
            </a:r>
            <a:endParaRPr/>
          </a:p>
        </p:txBody>
      </p:sp>
      <p:sp>
        <p:nvSpPr>
          <p:cNvPr id="604" name="Shape 604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Shape 605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Shape 606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Shape 607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Shape 608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Shape 609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610" name="Shape 610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611" name="Shape 611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612" name="Shape 612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613" name="Shape 613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614" name="Shape 614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615" name="Shape 615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16" name="Shape 616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17" name="Shape 617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18" name="Shape 618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619" name="Shape 619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620" name="Shape 620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21" name="Shape 621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Shape 622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624" name="Shape 624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25" name="Shape 625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Shape 626"/>
          <p:cNvCxnSpPr/>
          <p:nvPr/>
        </p:nvCxnSpPr>
        <p:spPr>
          <a:xfrm>
            <a:off x="3352800" y="4683125"/>
            <a:ext cx="2057400" cy="698500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27" name="Shape 627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628" name="Shape 628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629" name="Shape 629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630" name="Shape 630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31" name="Shape 631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32" name="Shape 632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33" name="Shape 633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34" name="Shape 634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35" name="Shape 635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36" name="Shape 636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37" name="Shape 637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38" name="Shape 638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39" name="Shape 639"/>
          <p:cNvSpPr txBox="1"/>
          <p:nvPr/>
        </p:nvSpPr>
        <p:spPr>
          <a:xfrm>
            <a:off x="5282515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/>
          </a:p>
        </p:txBody>
      </p:sp>
      <p:sp>
        <p:nvSpPr>
          <p:cNvPr id="640" name="Shape 640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/>
          </a:p>
        </p:txBody>
      </p:sp>
      <p:cxnSp>
        <p:nvCxnSpPr>
          <p:cNvPr id="641" name="Shape 641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xfrm>
            <a:off x="1796984" y="3810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Processes Share Files: </a:t>
            </a: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endParaRPr sz="3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7" name="Shape 647"/>
          <p:cNvSpPr txBox="1">
            <a:spLocks noGrp="1"/>
          </p:cNvSpPr>
          <p:nvPr>
            <p:ph type="body" idx="1"/>
          </p:nvPr>
        </p:nvSpPr>
        <p:spPr>
          <a:xfrm>
            <a:off x="1814514" y="10668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child process inherits its parent’s open files</a:t>
            </a:r>
            <a:endParaRPr/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Child’s table same as parent’s, and +1 to each refcnt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Shape 648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Shape 649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Shape 650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Shape 651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Shape 652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Shape 653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654" name="Shape 654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655" name="Shape 655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656" name="Shape 656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657" name="Shape 657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658" name="Shape 658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659" name="Shape 659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60" name="Shape 660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661" name="Shape 661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62" name="Shape 662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Shape 663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664" name="Shape 664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65" name="Shape 665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Shape 666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667" name="Shape 667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8" name="Shape 668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69" name="Shape 669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Shape 670"/>
          <p:cNvCxnSpPr/>
          <p:nvPr/>
        </p:nvCxnSpPr>
        <p:spPr>
          <a:xfrm>
            <a:off x="3352800" y="4683126"/>
            <a:ext cx="2057400" cy="650875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71" name="Shape 671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72" name="Shape 672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73" name="Shape 673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74" name="Shape 674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75" name="Shape 675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76" name="Shape 676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677" name="Shape 677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78" name="Shape 678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679" name="Shape 679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680" name="Shape 680"/>
          <p:cNvSpPr txBox="1"/>
          <p:nvPr/>
        </p:nvSpPr>
        <p:spPr>
          <a:xfrm>
            <a:off x="5282515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/>
          </a:p>
        </p:txBody>
      </p:sp>
      <p:sp>
        <p:nvSpPr>
          <p:cNvPr id="681" name="Shape 681"/>
          <p:cNvSpPr txBox="1"/>
          <p:nvPr/>
        </p:nvSpPr>
        <p:spPr>
          <a:xfrm>
            <a:off x="5290753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/>
          </a:p>
        </p:txBody>
      </p:sp>
      <p:cxnSp>
        <p:nvCxnSpPr>
          <p:cNvPr id="682" name="Shape 682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83" name="Shape 683"/>
          <p:cNvSpPr/>
          <p:nvPr/>
        </p:nvSpPr>
        <p:spPr>
          <a:xfrm>
            <a:off x="3031524" y="54102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Shape 684"/>
          <p:cNvSpPr/>
          <p:nvPr/>
        </p:nvSpPr>
        <p:spPr>
          <a:xfrm>
            <a:off x="3031524" y="56388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Shape 685"/>
          <p:cNvSpPr/>
          <p:nvPr/>
        </p:nvSpPr>
        <p:spPr>
          <a:xfrm>
            <a:off x="3031524" y="58674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Shape 686"/>
          <p:cNvSpPr/>
          <p:nvPr/>
        </p:nvSpPr>
        <p:spPr>
          <a:xfrm>
            <a:off x="3031524" y="60960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Shape 687"/>
          <p:cNvSpPr/>
          <p:nvPr/>
        </p:nvSpPr>
        <p:spPr>
          <a:xfrm>
            <a:off x="3031524" y="63246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Shape 688"/>
          <p:cNvSpPr/>
          <p:nvPr/>
        </p:nvSpPr>
        <p:spPr>
          <a:xfrm>
            <a:off x="2421924" y="54102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689" name="Shape 689"/>
          <p:cNvSpPr/>
          <p:nvPr/>
        </p:nvSpPr>
        <p:spPr>
          <a:xfrm>
            <a:off x="2421924" y="56388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690" name="Shape 690"/>
          <p:cNvSpPr/>
          <p:nvPr/>
        </p:nvSpPr>
        <p:spPr>
          <a:xfrm>
            <a:off x="2421924" y="5867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691" name="Shape 691"/>
          <p:cNvSpPr/>
          <p:nvPr/>
        </p:nvSpPr>
        <p:spPr>
          <a:xfrm>
            <a:off x="2421924" y="60960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692" name="Shape 692"/>
          <p:cNvSpPr/>
          <p:nvPr/>
        </p:nvSpPr>
        <p:spPr>
          <a:xfrm>
            <a:off x="2421924" y="63246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693" name="Shape 693"/>
          <p:cNvSpPr txBox="1"/>
          <p:nvPr/>
        </p:nvSpPr>
        <p:spPr>
          <a:xfrm>
            <a:off x="2921559" y="3352800"/>
            <a:ext cx="8194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Shape 694"/>
          <p:cNvSpPr txBox="1"/>
          <p:nvPr/>
        </p:nvSpPr>
        <p:spPr>
          <a:xfrm>
            <a:off x="2913743" y="5105400"/>
            <a:ext cx="61427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5" name="Shape 695"/>
          <p:cNvCxnSpPr/>
          <p:nvPr/>
        </p:nvCxnSpPr>
        <p:spPr>
          <a:xfrm rot="-5400000">
            <a:off x="3332070" y="3695608"/>
            <a:ext cx="2064922" cy="2056414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6" name="Shape 696"/>
          <p:cNvCxnSpPr/>
          <p:nvPr/>
        </p:nvCxnSpPr>
        <p:spPr>
          <a:xfrm rot="10800000" flipH="1">
            <a:off x="3336324" y="5334000"/>
            <a:ext cx="2073876" cy="1107990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97" name="Shape 697"/>
          <p:cNvSpPr txBox="1"/>
          <p:nvPr/>
        </p:nvSpPr>
        <p:spPr>
          <a:xfrm>
            <a:off x="6742758" y="6452779"/>
            <a:ext cx="32832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File is shared between processes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702"/>
          <p:cNvSpPr txBox="1">
            <a:spLocks noGrp="1"/>
          </p:cNvSpPr>
          <p:nvPr>
            <p:ph type="title"/>
          </p:nvPr>
        </p:nvSpPr>
        <p:spPr>
          <a:xfrm>
            <a:off x="1888525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Redirection</a:t>
            </a:r>
            <a:endParaRPr/>
          </a:p>
        </p:txBody>
      </p:sp>
      <p:sp>
        <p:nvSpPr>
          <p:cNvPr id="703" name="Shape 703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8305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How does a shell implement I/O redirection?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None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ls &gt;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foo.txt</a:t>
            </a:r>
            <a:endParaRPr dirty="0"/>
          </a:p>
          <a:p>
            <a:pPr marL="342900" indent="-251459">
              <a:spcBef>
                <a:spcPts val="480"/>
              </a:spcBef>
              <a:buClr>
                <a:srgbClr val="990000"/>
              </a:buClr>
              <a:buSzPts val="1440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48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By calling the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dup2(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oldfd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newfd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dirty="0"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Copies (per-process) descriptor table entry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oldfd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to entry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newfd</a:t>
            </a:r>
            <a:endParaRPr sz="2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04" name="Shape 704"/>
          <p:cNvGrpSpPr/>
          <p:nvPr/>
        </p:nvGrpSpPr>
        <p:grpSpPr>
          <a:xfrm>
            <a:off x="2397211" y="4602162"/>
            <a:ext cx="1838325" cy="1722438"/>
            <a:chOff x="906162" y="4221162"/>
            <a:chExt cx="1838325" cy="1722438"/>
          </a:xfrm>
        </p:grpSpPr>
        <p:sp>
          <p:nvSpPr>
            <p:cNvPr id="705" name="Shape 705"/>
            <p:cNvSpPr/>
            <p:nvPr/>
          </p:nvSpPr>
          <p:spPr>
            <a:xfrm>
              <a:off x="1825324" y="4221162"/>
              <a:ext cx="919163" cy="344488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Shape 706"/>
            <p:cNvSpPr/>
            <p:nvPr/>
          </p:nvSpPr>
          <p:spPr>
            <a:xfrm>
              <a:off x="1825324" y="4565650"/>
              <a:ext cx="919163" cy="344487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1825324" y="4910137"/>
              <a:ext cx="919163" cy="344488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Shape 708"/>
            <p:cNvSpPr/>
            <p:nvPr/>
          </p:nvSpPr>
          <p:spPr>
            <a:xfrm>
              <a:off x="1825324" y="5254625"/>
              <a:ext cx="919163" cy="344487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9" name="Shape 709"/>
            <p:cNvSpPr/>
            <p:nvPr/>
          </p:nvSpPr>
          <p:spPr>
            <a:xfrm>
              <a:off x="1825324" y="5599112"/>
              <a:ext cx="919163" cy="344488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/>
            </a:p>
          </p:txBody>
        </p:sp>
        <p:sp>
          <p:nvSpPr>
            <p:cNvPr id="710" name="Shape 710"/>
            <p:cNvSpPr/>
            <p:nvPr/>
          </p:nvSpPr>
          <p:spPr>
            <a:xfrm>
              <a:off x="906162" y="4221162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0</a:t>
              </a:r>
              <a:endParaRPr/>
            </a:p>
          </p:txBody>
        </p:sp>
        <p:sp>
          <p:nvSpPr>
            <p:cNvPr id="711" name="Shape 711"/>
            <p:cNvSpPr/>
            <p:nvPr/>
          </p:nvSpPr>
          <p:spPr>
            <a:xfrm>
              <a:off x="906162" y="4565650"/>
              <a:ext cx="919162" cy="344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1</a:t>
              </a: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>
              <a:off x="906162" y="4910137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2</a:t>
              </a: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906162" y="5254625"/>
              <a:ext cx="919162" cy="344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3</a:t>
              </a:r>
              <a:endParaRPr/>
            </a:p>
          </p:txBody>
        </p:sp>
        <p:sp>
          <p:nvSpPr>
            <p:cNvPr id="714" name="Shape 714"/>
            <p:cNvSpPr/>
            <p:nvPr/>
          </p:nvSpPr>
          <p:spPr>
            <a:xfrm>
              <a:off x="906162" y="5599112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r"/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4</a:t>
              </a:r>
              <a:endParaRPr/>
            </a:p>
          </p:txBody>
        </p:sp>
      </p:grpSp>
      <p:sp>
        <p:nvSpPr>
          <p:cNvPr id="715" name="Shape 715"/>
          <p:cNvSpPr txBox="1"/>
          <p:nvPr/>
        </p:nvSpPr>
        <p:spPr>
          <a:xfrm>
            <a:off x="2665799" y="3611563"/>
            <a:ext cx="27503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dirty="0"/>
          </a:p>
          <a:p>
            <a:r>
              <a:rPr lang="en-US" sz="2400" b="1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dup2(4,1)</a:t>
            </a:r>
            <a:endParaRPr dirty="0"/>
          </a:p>
        </p:txBody>
      </p:sp>
      <p:grpSp>
        <p:nvGrpSpPr>
          <p:cNvPr id="716" name="Shape 716"/>
          <p:cNvGrpSpPr/>
          <p:nvPr/>
        </p:nvGrpSpPr>
        <p:grpSpPr>
          <a:xfrm>
            <a:off x="5148648" y="3611562"/>
            <a:ext cx="4367544" cy="2713038"/>
            <a:chOff x="3624648" y="3611562"/>
            <a:chExt cx="4367544" cy="2713038"/>
          </a:xfrm>
        </p:grpSpPr>
        <p:grpSp>
          <p:nvGrpSpPr>
            <p:cNvPr id="717" name="Shape 717"/>
            <p:cNvGrpSpPr/>
            <p:nvPr/>
          </p:nvGrpSpPr>
          <p:grpSpPr>
            <a:xfrm>
              <a:off x="5208673" y="4602162"/>
              <a:ext cx="1836737" cy="1722438"/>
              <a:chOff x="5241625" y="4267200"/>
              <a:chExt cx="1836737" cy="1722438"/>
            </a:xfrm>
          </p:grpSpPr>
          <p:sp>
            <p:nvSpPr>
              <p:cNvPr id="718" name="Shape 718"/>
              <p:cNvSpPr/>
              <p:nvPr/>
            </p:nvSpPr>
            <p:spPr>
              <a:xfrm>
                <a:off x="6159200" y="4267200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Shape 719"/>
              <p:cNvSpPr/>
              <p:nvPr/>
            </p:nvSpPr>
            <p:spPr>
              <a:xfrm>
                <a:off x="6159200" y="4611688"/>
                <a:ext cx="919162" cy="344487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US" sz="2400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/>
              </a:p>
            </p:txBody>
          </p:sp>
          <p:sp>
            <p:nvSpPr>
              <p:cNvPr id="720" name="Shape 720"/>
              <p:cNvSpPr/>
              <p:nvPr/>
            </p:nvSpPr>
            <p:spPr>
              <a:xfrm>
                <a:off x="6159200" y="4956175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Shape 721"/>
              <p:cNvSpPr/>
              <p:nvPr/>
            </p:nvSpPr>
            <p:spPr>
              <a:xfrm>
                <a:off x="6159200" y="5300663"/>
                <a:ext cx="919162" cy="344487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22" name="Shape 722"/>
              <p:cNvSpPr/>
              <p:nvPr/>
            </p:nvSpPr>
            <p:spPr>
              <a:xfrm>
                <a:off x="6159200" y="5645150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US" sz="2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/>
              </a:p>
            </p:txBody>
          </p:sp>
          <p:sp>
            <p:nvSpPr>
              <p:cNvPr id="723" name="Shape 723"/>
              <p:cNvSpPr/>
              <p:nvPr/>
            </p:nvSpPr>
            <p:spPr>
              <a:xfrm>
                <a:off x="5241625" y="4267200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0</a:t>
                </a:r>
                <a:endParaRPr/>
              </a:p>
            </p:txBody>
          </p:sp>
          <p:sp>
            <p:nvSpPr>
              <p:cNvPr id="724" name="Shape 724"/>
              <p:cNvSpPr/>
              <p:nvPr/>
            </p:nvSpPr>
            <p:spPr>
              <a:xfrm>
                <a:off x="5241625" y="4611688"/>
                <a:ext cx="917575" cy="344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1</a:t>
                </a:r>
                <a:endParaRPr/>
              </a:p>
            </p:txBody>
          </p:sp>
          <p:sp>
            <p:nvSpPr>
              <p:cNvPr id="725" name="Shape 725"/>
              <p:cNvSpPr/>
              <p:nvPr/>
            </p:nvSpPr>
            <p:spPr>
              <a:xfrm>
                <a:off x="5241625" y="4956175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2</a:t>
                </a:r>
                <a:endParaRPr/>
              </a:p>
            </p:txBody>
          </p:sp>
          <p:sp>
            <p:nvSpPr>
              <p:cNvPr id="726" name="Shape 726"/>
              <p:cNvSpPr/>
              <p:nvPr/>
            </p:nvSpPr>
            <p:spPr>
              <a:xfrm>
                <a:off x="5241625" y="5300663"/>
                <a:ext cx="917575" cy="344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3</a:t>
                </a:r>
                <a:endParaRPr/>
              </a:p>
            </p:txBody>
          </p:sp>
          <p:sp>
            <p:nvSpPr>
              <p:cNvPr id="727" name="Shape 727"/>
              <p:cNvSpPr/>
              <p:nvPr/>
            </p:nvSpPr>
            <p:spPr>
              <a:xfrm>
                <a:off x="5241625" y="5645150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r"/>
                <a:r>
                  <a:rPr lang="en-US" sz="2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4</a:t>
                </a:r>
                <a:endParaRPr/>
              </a:p>
            </p:txBody>
          </p:sp>
        </p:grpSp>
        <p:sp>
          <p:nvSpPr>
            <p:cNvPr id="728" name="Shape 728"/>
            <p:cNvSpPr txBox="1"/>
            <p:nvPr/>
          </p:nvSpPr>
          <p:spPr>
            <a:xfrm>
              <a:off x="5462973" y="3611562"/>
              <a:ext cx="25292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Descriptor table</a:t>
              </a:r>
              <a:endParaRPr/>
            </a:p>
            <a:p>
              <a:r>
                <a:rPr lang="en-US" sz="2400" b="1" i="1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after</a:t>
              </a: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dup2(4,1)</a:t>
              </a:r>
              <a:endParaRPr/>
            </a:p>
          </p:txBody>
        </p:sp>
        <p:sp>
          <p:nvSpPr>
            <p:cNvPr id="729" name="Shape 729"/>
            <p:cNvSpPr/>
            <p:nvPr/>
          </p:nvSpPr>
          <p:spPr>
            <a:xfrm>
              <a:off x="3624648" y="5059362"/>
              <a:ext cx="1295400" cy="59213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" grpId="0" build="p"/>
      <p:bldP spid="7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734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Redirection Example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Shape 735"/>
          <p:cNvSpPr txBox="1">
            <a:spLocks noGrp="1"/>
          </p:cNvSpPr>
          <p:nvPr>
            <p:ph type="body" idx="1"/>
          </p:nvPr>
        </p:nvSpPr>
        <p:spPr>
          <a:xfrm>
            <a:off x="1874238" y="1296988"/>
            <a:ext cx="8548687" cy="9890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 #1: open file to which stdout should be redirected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Happens in child executing shell code, before </a:t>
            </a: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6" name="Shape 736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Shape 737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Shape 738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Shape 739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Shape 740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Shape 741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742" name="Shape 742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743" name="Shape 743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744" name="Shape 744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745" name="Shape 745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746" name="Shape 746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747" name="Shape 747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48" name="Shape 748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49" name="Shape 749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750" name="Shape 750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/>
          </a:p>
        </p:txBody>
      </p:sp>
      <p:sp>
        <p:nvSpPr>
          <p:cNvPr id="751" name="Shape 751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752" name="Shape 752"/>
          <p:cNvCxnSpPr/>
          <p:nvPr/>
        </p:nvCxnSpPr>
        <p:spPr>
          <a:xfrm rot="10800000" flipH="1">
            <a:off x="3352800" y="3657600"/>
            <a:ext cx="2039938" cy="35242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53" name="Shape 753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Shape 754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755" name="Shape 755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756" name="Shape 756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757" name="Shape 757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58" name="Shape 758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759" name="Shape 759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760" name="Shape 760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761" name="Shape 761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762" name="Shape 762"/>
          <p:cNvSpPr txBox="1"/>
          <p:nvPr/>
        </p:nvSpPr>
        <p:spPr>
          <a:xfrm>
            <a:off x="5282515" y="3352800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3" name="Shape 763"/>
          <p:cNvGrpSpPr/>
          <p:nvPr/>
        </p:nvGrpSpPr>
        <p:grpSpPr>
          <a:xfrm>
            <a:off x="3352800" y="4683126"/>
            <a:ext cx="5715000" cy="1870075"/>
            <a:chOff x="1828800" y="4683125"/>
            <a:chExt cx="5715000" cy="1870075"/>
          </a:xfrm>
        </p:grpSpPr>
        <p:sp>
          <p:nvSpPr>
            <p:cNvPr id="764" name="Shape 764"/>
            <p:cNvSpPr/>
            <p:nvPr/>
          </p:nvSpPr>
          <p:spPr>
            <a:xfrm>
              <a:off x="3868738" y="5638800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pos</a:t>
              </a:r>
              <a:endParaRPr/>
            </a:p>
          </p:txBody>
        </p:sp>
        <p:sp>
          <p:nvSpPr>
            <p:cNvPr id="765" name="Shape 765"/>
            <p:cNvSpPr/>
            <p:nvPr/>
          </p:nvSpPr>
          <p:spPr>
            <a:xfrm>
              <a:off x="3868738" y="5943600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refcnt=1</a:t>
              </a:r>
              <a:endParaRPr/>
            </a:p>
          </p:txBody>
        </p:sp>
        <p:sp>
          <p:nvSpPr>
            <p:cNvPr id="766" name="Shape 766"/>
            <p:cNvSpPr/>
            <p:nvPr/>
          </p:nvSpPr>
          <p:spPr>
            <a:xfrm rot="5400000">
              <a:off x="4249738" y="5867400"/>
              <a:ext cx="304800" cy="1066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  <p:sp>
          <p:nvSpPr>
            <p:cNvPr id="767" name="Shape 767"/>
            <p:cNvSpPr/>
            <p:nvPr/>
          </p:nvSpPr>
          <p:spPr>
            <a:xfrm>
              <a:off x="3868738" y="5334000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8" name="Shape 768"/>
            <p:cNvCxnSpPr/>
            <p:nvPr/>
          </p:nvCxnSpPr>
          <p:spPr>
            <a:xfrm>
              <a:off x="1828800" y="4683125"/>
              <a:ext cx="2057400" cy="698500"/>
            </a:xfrm>
            <a:prstGeom prst="straightConnector1">
              <a:avLst/>
            </a:prstGeom>
            <a:noFill/>
            <a:ln w="25400" cap="flat" cmpd="sng">
              <a:solidFill>
                <a:srgbClr val="60606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769" name="Shape 769"/>
            <p:cNvSpPr/>
            <p:nvPr/>
          </p:nvSpPr>
          <p:spPr>
            <a:xfrm>
              <a:off x="6477000" y="5229225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access</a:t>
              </a:r>
              <a:endParaRPr/>
            </a:p>
          </p:txBody>
        </p:sp>
        <p:sp>
          <p:nvSpPr>
            <p:cNvPr id="770" name="Shape 770"/>
            <p:cNvSpPr/>
            <p:nvPr/>
          </p:nvSpPr>
          <p:spPr>
            <a:xfrm rot="5400000">
              <a:off x="6858000" y="5762625"/>
              <a:ext cx="304800" cy="1066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  <p:sp>
          <p:nvSpPr>
            <p:cNvPr id="771" name="Shape 771"/>
            <p:cNvSpPr/>
            <p:nvPr/>
          </p:nvSpPr>
          <p:spPr>
            <a:xfrm>
              <a:off x="6477000" y="5534025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size</a:t>
              </a:r>
              <a:endParaRPr/>
            </a:p>
          </p:txBody>
        </p:sp>
        <p:sp>
          <p:nvSpPr>
            <p:cNvPr id="772" name="Shape 772"/>
            <p:cNvSpPr/>
            <p:nvPr/>
          </p:nvSpPr>
          <p:spPr>
            <a:xfrm>
              <a:off x="6477000" y="5838825"/>
              <a:ext cx="1066800" cy="304800"/>
            </a:xfrm>
            <a:prstGeom prst="rect">
              <a:avLst/>
            </a:prstGeom>
            <a:solidFill>
              <a:srgbClr val="D5D5F4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type</a:t>
              </a:r>
              <a:endParaRPr/>
            </a:p>
          </p:txBody>
        </p:sp>
        <p:sp>
          <p:nvSpPr>
            <p:cNvPr id="773" name="Shape 773"/>
            <p:cNvSpPr txBox="1"/>
            <p:nvPr/>
          </p:nvSpPr>
          <p:spPr>
            <a:xfrm>
              <a:off x="3766752" y="5029200"/>
              <a:ext cx="6431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B</a:t>
              </a:r>
              <a:endParaRPr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4" name="Shape 774"/>
            <p:cNvCxnSpPr/>
            <p:nvPr/>
          </p:nvCxnSpPr>
          <p:spPr>
            <a:xfrm rot="10800000" flipH="1">
              <a:off x="4706938" y="5229224"/>
              <a:ext cx="1770062" cy="257175"/>
            </a:xfrm>
            <a:prstGeom prst="straightConnector1">
              <a:avLst/>
            </a:prstGeom>
            <a:noFill/>
            <a:ln w="25400" cap="flat" cmpd="sng">
              <a:solidFill>
                <a:srgbClr val="60606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779"/>
          <p:cNvSpPr txBox="1">
            <a:spLocks noGrp="1"/>
          </p:cNvSpPr>
          <p:nvPr>
            <p:ph type="title"/>
          </p:nvPr>
        </p:nvSpPr>
        <p:spPr>
          <a:xfrm>
            <a:off x="1881019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Redirection Example (cont.)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Shape 780"/>
          <p:cNvSpPr txBox="1">
            <a:spLocks noGrp="1"/>
          </p:cNvSpPr>
          <p:nvPr>
            <p:ph type="body" idx="1"/>
          </p:nvPr>
        </p:nvSpPr>
        <p:spPr>
          <a:xfrm>
            <a:off x="1890714" y="1296988"/>
            <a:ext cx="8624887" cy="9890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#2: call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dup2(4,1)</a:t>
            </a:r>
            <a:endParaRPr/>
          </a:p>
          <a:p>
            <a:pPr marL="742950" lvl="1" indent="-285750">
              <a:spcBef>
                <a:spcPts val="400"/>
              </a:spcBef>
              <a:buClr>
                <a:srgbClr val="990000"/>
              </a:buClr>
              <a:buSzPts val="22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cause fd=1 (stdout) to refer to disk file pointed at by fd=4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1" name="Shape 781"/>
          <p:cNvSpPr/>
          <p:nvPr/>
        </p:nvSpPr>
        <p:spPr>
          <a:xfrm>
            <a:off x="3030538" y="36703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Shape 782"/>
          <p:cNvSpPr/>
          <p:nvPr/>
        </p:nvSpPr>
        <p:spPr>
          <a:xfrm>
            <a:off x="3030538" y="38989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Shape 783"/>
          <p:cNvSpPr/>
          <p:nvPr/>
        </p:nvSpPr>
        <p:spPr>
          <a:xfrm>
            <a:off x="3030538" y="41275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Shape 784"/>
          <p:cNvSpPr/>
          <p:nvPr/>
        </p:nvSpPr>
        <p:spPr>
          <a:xfrm>
            <a:off x="3030538" y="43561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Shape 785"/>
          <p:cNvSpPr/>
          <p:nvPr/>
        </p:nvSpPr>
        <p:spPr>
          <a:xfrm>
            <a:off x="3030538" y="4584700"/>
            <a:ext cx="609600" cy="2286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Shape 786"/>
          <p:cNvSpPr/>
          <p:nvPr/>
        </p:nvSpPr>
        <p:spPr>
          <a:xfrm>
            <a:off x="2420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/>
          </a:p>
        </p:txBody>
      </p:sp>
      <p:sp>
        <p:nvSpPr>
          <p:cNvPr id="787" name="Shape 787"/>
          <p:cNvSpPr/>
          <p:nvPr/>
        </p:nvSpPr>
        <p:spPr>
          <a:xfrm>
            <a:off x="2420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/>
          </a:p>
        </p:txBody>
      </p:sp>
      <p:sp>
        <p:nvSpPr>
          <p:cNvPr id="788" name="Shape 788"/>
          <p:cNvSpPr/>
          <p:nvPr/>
        </p:nvSpPr>
        <p:spPr>
          <a:xfrm>
            <a:off x="2420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/>
          </a:p>
        </p:txBody>
      </p:sp>
      <p:sp>
        <p:nvSpPr>
          <p:cNvPr id="789" name="Shape 789"/>
          <p:cNvSpPr/>
          <p:nvPr/>
        </p:nvSpPr>
        <p:spPr>
          <a:xfrm>
            <a:off x="2420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/>
          </a:p>
        </p:txBody>
      </p:sp>
      <p:sp>
        <p:nvSpPr>
          <p:cNvPr id="790" name="Shape 790"/>
          <p:cNvSpPr/>
          <p:nvPr/>
        </p:nvSpPr>
        <p:spPr>
          <a:xfrm>
            <a:off x="2420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/>
          </a:p>
        </p:txBody>
      </p:sp>
      <p:sp>
        <p:nvSpPr>
          <p:cNvPr id="791" name="Shape 791"/>
          <p:cNvSpPr txBox="1"/>
          <p:nvPr/>
        </p:nvSpPr>
        <p:spPr>
          <a:xfrm>
            <a:off x="2134551" y="2636223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/>
          </a:p>
        </p:txBody>
      </p:sp>
      <p:sp>
        <p:nvSpPr>
          <p:cNvPr id="792" name="Shape 792"/>
          <p:cNvSpPr txBox="1"/>
          <p:nvPr/>
        </p:nvSpPr>
        <p:spPr>
          <a:xfrm>
            <a:off x="46834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93" name="Shape 793"/>
          <p:cNvSpPr txBox="1"/>
          <p:nvPr/>
        </p:nvSpPr>
        <p:spPr>
          <a:xfrm>
            <a:off x="7274291" y="2636223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/>
          </a:p>
          <a:p>
            <a:pPr algn="ctr"/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/>
          </a:p>
        </p:txBody>
      </p:sp>
      <p:sp>
        <p:nvSpPr>
          <p:cNvPr id="794" name="Shape 794"/>
          <p:cNvSpPr/>
          <p:nvPr/>
        </p:nvSpPr>
        <p:spPr>
          <a:xfrm>
            <a:off x="5392738" y="3962400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795" name="Shape 795"/>
          <p:cNvSpPr/>
          <p:nvPr/>
        </p:nvSpPr>
        <p:spPr>
          <a:xfrm>
            <a:off x="5392738" y="4267200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refcnt=0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6" name="Shape 796"/>
          <p:cNvSpPr/>
          <p:nvPr/>
        </p:nvSpPr>
        <p:spPr>
          <a:xfrm rot="5400000">
            <a:off x="5773738" y="4191000"/>
            <a:ext cx="304800" cy="1066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cxnSp>
        <p:nvCxnSpPr>
          <p:cNvPr id="797" name="Shape 797"/>
          <p:cNvCxnSpPr/>
          <p:nvPr/>
        </p:nvCxnSpPr>
        <p:spPr>
          <a:xfrm>
            <a:off x="3352800" y="4010023"/>
            <a:ext cx="2057400" cy="1357730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98" name="Shape 798"/>
          <p:cNvSpPr/>
          <p:nvPr/>
        </p:nvSpPr>
        <p:spPr>
          <a:xfrm>
            <a:off x="5392738" y="3657600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Shape 799"/>
          <p:cNvSpPr/>
          <p:nvPr/>
        </p:nvSpPr>
        <p:spPr>
          <a:xfrm>
            <a:off x="5392738" y="56388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/>
          </a:p>
        </p:txBody>
      </p:sp>
      <p:sp>
        <p:nvSpPr>
          <p:cNvPr id="800" name="Shape 800"/>
          <p:cNvSpPr/>
          <p:nvPr/>
        </p:nvSpPr>
        <p:spPr>
          <a:xfrm>
            <a:off x="5392738" y="59436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sz="14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Shape 801"/>
          <p:cNvSpPr/>
          <p:nvPr/>
        </p:nvSpPr>
        <p:spPr>
          <a:xfrm rot="5400000">
            <a:off x="5773738" y="5867400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802" name="Shape 802"/>
          <p:cNvSpPr/>
          <p:nvPr/>
        </p:nvSpPr>
        <p:spPr>
          <a:xfrm>
            <a:off x="5392738" y="5334000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Shape 803"/>
          <p:cNvCxnSpPr/>
          <p:nvPr/>
        </p:nvCxnSpPr>
        <p:spPr>
          <a:xfrm>
            <a:off x="3352800" y="4683125"/>
            <a:ext cx="2057400" cy="698500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04" name="Shape 804"/>
          <p:cNvSpPr txBox="1"/>
          <p:nvPr/>
        </p:nvSpPr>
        <p:spPr>
          <a:xfrm>
            <a:off x="1752601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/>
          </a:p>
        </p:txBody>
      </p:sp>
      <p:sp>
        <p:nvSpPr>
          <p:cNvPr id="805" name="Shape 805"/>
          <p:cNvSpPr txBox="1"/>
          <p:nvPr/>
        </p:nvSpPr>
        <p:spPr>
          <a:xfrm>
            <a:off x="1752601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/>
          </a:p>
        </p:txBody>
      </p:sp>
      <p:sp>
        <p:nvSpPr>
          <p:cNvPr id="806" name="Shape 806"/>
          <p:cNvSpPr txBox="1"/>
          <p:nvPr/>
        </p:nvSpPr>
        <p:spPr>
          <a:xfrm>
            <a:off x="1858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/>
          </a:p>
        </p:txBody>
      </p:sp>
      <p:cxnSp>
        <p:nvCxnSpPr>
          <p:cNvPr id="807" name="Shape 807"/>
          <p:cNvCxnSpPr/>
          <p:nvPr/>
        </p:nvCxnSpPr>
        <p:spPr>
          <a:xfrm rot="10800000" flipH="1">
            <a:off x="6310314" y="3641725"/>
            <a:ext cx="1690687" cy="153988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08" name="Shape 808"/>
          <p:cNvSpPr/>
          <p:nvPr/>
        </p:nvSpPr>
        <p:spPr>
          <a:xfrm>
            <a:off x="8001000" y="3629025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809" name="Shape 809"/>
          <p:cNvSpPr/>
          <p:nvPr/>
        </p:nvSpPr>
        <p:spPr>
          <a:xfrm rot="5400000">
            <a:off x="8382000" y="4162425"/>
            <a:ext cx="304800" cy="1066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810" name="Shape 810"/>
          <p:cNvSpPr/>
          <p:nvPr/>
        </p:nvSpPr>
        <p:spPr>
          <a:xfrm>
            <a:off x="8001000" y="3933825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811" name="Shape 811"/>
          <p:cNvSpPr/>
          <p:nvPr/>
        </p:nvSpPr>
        <p:spPr>
          <a:xfrm>
            <a:off x="8001000" y="4238625"/>
            <a:ext cx="1066800" cy="304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812" name="Shape 812"/>
          <p:cNvSpPr/>
          <p:nvPr/>
        </p:nvSpPr>
        <p:spPr>
          <a:xfrm>
            <a:off x="8001000" y="52292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/>
          </a:p>
        </p:txBody>
      </p:sp>
      <p:sp>
        <p:nvSpPr>
          <p:cNvPr id="813" name="Shape 813"/>
          <p:cNvSpPr/>
          <p:nvPr/>
        </p:nvSpPr>
        <p:spPr>
          <a:xfrm rot="5400000">
            <a:off x="8382000" y="5762625"/>
            <a:ext cx="304800" cy="1066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814" name="Shape 814"/>
          <p:cNvSpPr/>
          <p:nvPr/>
        </p:nvSpPr>
        <p:spPr>
          <a:xfrm>
            <a:off x="8001000" y="55340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/>
          </a:p>
        </p:txBody>
      </p:sp>
      <p:sp>
        <p:nvSpPr>
          <p:cNvPr id="815" name="Shape 815"/>
          <p:cNvSpPr/>
          <p:nvPr/>
        </p:nvSpPr>
        <p:spPr>
          <a:xfrm>
            <a:off x="8001000" y="5838825"/>
            <a:ext cx="10668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/>
          </a:p>
        </p:txBody>
      </p:sp>
      <p:sp>
        <p:nvSpPr>
          <p:cNvPr id="816" name="Shape 816"/>
          <p:cNvSpPr txBox="1"/>
          <p:nvPr/>
        </p:nvSpPr>
        <p:spPr>
          <a:xfrm>
            <a:off x="5282515" y="3352800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Shape 817"/>
          <p:cNvSpPr txBox="1"/>
          <p:nvPr/>
        </p:nvSpPr>
        <p:spPr>
          <a:xfrm>
            <a:off x="5290753" y="5029200"/>
            <a:ext cx="6431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8" name="Shape 818"/>
          <p:cNvCxnSpPr/>
          <p:nvPr/>
        </p:nvCxnSpPr>
        <p:spPr>
          <a:xfrm rot="10800000" flipH="1">
            <a:off x="6230938" y="5229225"/>
            <a:ext cx="1770062" cy="257175"/>
          </a:xfrm>
          <a:prstGeom prst="straightConnector1">
            <a:avLst/>
          </a:prstGeom>
          <a:noFill/>
          <a:ln w="25400" cap="flat" cmpd="sng">
            <a:solidFill>
              <a:srgbClr val="60606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19" name="Shape 819"/>
          <p:cNvSpPr txBox="1"/>
          <p:nvPr/>
        </p:nvSpPr>
        <p:spPr>
          <a:xfrm>
            <a:off x="1539715" y="6183868"/>
            <a:ext cx="37835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Two descriptors point to the same file</a:t>
            </a:r>
            <a:endParaRPr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3ED-19E7-6DA2-154F-63BABE93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551C5911-D05F-54D1-E2C1-9E186327B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21D836-0E45-A185-B271-1B9CE046736D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7CE168C-2272-D647-7D71-EB10803E7186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2E9A90-21B4-B214-5B94-42976C1E65AD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F940CC-0E0C-70C5-41F6-DA1251596CE2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"c1 = %c, c2 = %c, c3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FC84B2-015B-C799-0D16-9D2E17FCE3FC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2379686D-33C5-F781-C34B-179F18E64881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858744-2CFF-DD9A-B3DF-E590E78DBFDD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./ffiles1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A7E476-716E-CAEA-5ED9-641895864CB8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4DE158-4698-B2C1-B476-95528F6019BB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28643D-ABA6-DF2C-5281-7C57929C4006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8AF1D3-8D5A-71E0-E015-4717FD950A23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9520F2-A450-82D2-A7FB-019BE94B1B08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992551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A487-BE7D-5B85-8BB7-E906E65D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45688174-9E04-6658-22FB-32E66C9E1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5F0687-3140-B23A-7861-A7D61476F3FE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27B75-0C3C-634C-F971-E5BB08A84B25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8865A8-6F6E-000E-4412-223CA335AB0F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63978C-CB76-549A-5103-91C9E447BED5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59A4F4-1003-A8FA-8DED-E2CF14A4FE8B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735240" name="Table 735239">
            <a:extLst>
              <a:ext uri="{FF2B5EF4-FFF2-40B4-BE49-F238E27FC236}">
                <a16:creationId xmlns:a16="http://schemas.microsoft.com/office/drawing/2014/main" id="{E14CBB0B-DC6F-919E-CEF2-2B5541282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73010"/>
              </p:ext>
            </p:extLst>
          </p:nvPr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735241" name="Table 735240">
            <a:extLst>
              <a:ext uri="{FF2B5EF4-FFF2-40B4-BE49-F238E27FC236}">
                <a16:creationId xmlns:a16="http://schemas.microsoft.com/office/drawing/2014/main" id="{6BFFCFDC-171E-C3FE-15D1-C8F734EC3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45788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42" name="TextBox 735241">
            <a:extLst>
              <a:ext uri="{FF2B5EF4-FFF2-40B4-BE49-F238E27FC236}">
                <a16:creationId xmlns:a16="http://schemas.microsoft.com/office/drawing/2014/main" id="{495EBC18-83F2-FAE2-C3AB-26BDB57D164A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735243" name="TextBox 735242">
            <a:extLst>
              <a:ext uri="{FF2B5EF4-FFF2-40B4-BE49-F238E27FC236}">
                <a16:creationId xmlns:a16="http://schemas.microsoft.com/office/drawing/2014/main" id="{F2C0DC7D-5B93-54E0-E7E2-2392B10B41CB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44" name="Straight Arrow Connector 735243">
            <a:extLst>
              <a:ext uri="{FF2B5EF4-FFF2-40B4-BE49-F238E27FC236}">
                <a16:creationId xmlns:a16="http://schemas.microsoft.com/office/drawing/2014/main" id="{DAF178B8-4CE0-A070-7FA2-ABE77788B5B6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5249" name="Table 735248">
            <a:extLst>
              <a:ext uri="{FF2B5EF4-FFF2-40B4-BE49-F238E27FC236}">
                <a16:creationId xmlns:a16="http://schemas.microsoft.com/office/drawing/2014/main" id="{61C373A8-5230-3874-62F9-786F3EC5E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33917"/>
              </p:ext>
            </p:extLst>
          </p:nvPr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50" name="TextBox 735249">
            <a:extLst>
              <a:ext uri="{FF2B5EF4-FFF2-40B4-BE49-F238E27FC236}">
                <a16:creationId xmlns:a16="http://schemas.microsoft.com/office/drawing/2014/main" id="{D8D03C2E-7875-FD23-D0D2-F73191B96057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51" name="Straight Arrow Connector 735250">
            <a:extLst>
              <a:ext uri="{FF2B5EF4-FFF2-40B4-BE49-F238E27FC236}">
                <a16:creationId xmlns:a16="http://schemas.microsoft.com/office/drawing/2014/main" id="{6C9B05FF-35CA-AD95-61DD-9F9CC1E5D58F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35650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E631-C0C2-6299-F183-CD8EB07C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633DF13-BFD9-C454-8F8C-3AF3267FA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D9ABBE-F137-908C-FC59-6D14A1828402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8CF0F4B-8CE2-7DCE-4149-2686CC52E8E1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6792BA-1CEF-D2F4-792B-509E587097C4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F618A3-D332-1168-4432-163F49806AEE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961DB2-5397-EE97-1758-0EB3E8FC7EE8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735240" name="Table 735239">
            <a:extLst>
              <a:ext uri="{FF2B5EF4-FFF2-40B4-BE49-F238E27FC236}">
                <a16:creationId xmlns:a16="http://schemas.microsoft.com/office/drawing/2014/main" id="{4DE777E5-FE64-D5DE-A2A9-2981E8232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424244"/>
              </p:ext>
            </p:extLst>
          </p:nvPr>
        </p:nvGraphicFramePr>
        <p:xfrm>
          <a:off x="7800434" y="2031875"/>
          <a:ext cx="78476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</a:tbl>
          </a:graphicData>
        </a:graphic>
      </p:graphicFrame>
      <p:graphicFrame>
        <p:nvGraphicFramePr>
          <p:cNvPr id="735241" name="Table 735240">
            <a:extLst>
              <a:ext uri="{FF2B5EF4-FFF2-40B4-BE49-F238E27FC236}">
                <a16:creationId xmlns:a16="http://schemas.microsoft.com/office/drawing/2014/main" id="{C0D5B7B6-0C1C-ADBA-46E4-D993E5BEEE2E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42" name="TextBox 735241">
            <a:extLst>
              <a:ext uri="{FF2B5EF4-FFF2-40B4-BE49-F238E27FC236}">
                <a16:creationId xmlns:a16="http://schemas.microsoft.com/office/drawing/2014/main" id="{69D41AE0-C658-A9AA-4213-5284449CFF2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735243" name="TextBox 735242">
            <a:extLst>
              <a:ext uri="{FF2B5EF4-FFF2-40B4-BE49-F238E27FC236}">
                <a16:creationId xmlns:a16="http://schemas.microsoft.com/office/drawing/2014/main" id="{7BAB3050-81E1-A275-0EC8-6274F0016BB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44" name="Straight Arrow Connector 735243">
            <a:extLst>
              <a:ext uri="{FF2B5EF4-FFF2-40B4-BE49-F238E27FC236}">
                <a16:creationId xmlns:a16="http://schemas.microsoft.com/office/drawing/2014/main" id="{2391330E-DAE8-5581-F0E0-9DF0DDE11683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45" name="Straight Arrow Connector 735244">
            <a:extLst>
              <a:ext uri="{FF2B5EF4-FFF2-40B4-BE49-F238E27FC236}">
                <a16:creationId xmlns:a16="http://schemas.microsoft.com/office/drawing/2014/main" id="{2B7EA18F-E840-DEC1-2C9B-3FDEF85F9E31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5247" name="Table 735246">
            <a:extLst>
              <a:ext uri="{FF2B5EF4-FFF2-40B4-BE49-F238E27FC236}">
                <a16:creationId xmlns:a16="http://schemas.microsoft.com/office/drawing/2014/main" id="{3D0E5AC4-44EF-EC18-AE04-0E580235B9FB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735249" name="Table 735248">
            <a:extLst>
              <a:ext uri="{FF2B5EF4-FFF2-40B4-BE49-F238E27FC236}">
                <a16:creationId xmlns:a16="http://schemas.microsoft.com/office/drawing/2014/main" id="{C4410D62-0759-E856-DF8D-02EDEA7CFE54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50" name="TextBox 735249">
            <a:extLst>
              <a:ext uri="{FF2B5EF4-FFF2-40B4-BE49-F238E27FC236}">
                <a16:creationId xmlns:a16="http://schemas.microsoft.com/office/drawing/2014/main" id="{72441201-7A60-1E86-AA05-9AC61E73DEF7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51" name="Straight Arrow Connector 735250">
            <a:extLst>
              <a:ext uri="{FF2B5EF4-FFF2-40B4-BE49-F238E27FC236}">
                <a16:creationId xmlns:a16="http://schemas.microsoft.com/office/drawing/2014/main" id="{69CA3EFB-8BFD-8029-86FF-738165B06073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60" name="Straight Arrow Connector 735259">
            <a:extLst>
              <a:ext uri="{FF2B5EF4-FFF2-40B4-BE49-F238E27FC236}">
                <a16:creationId xmlns:a16="http://schemas.microsoft.com/office/drawing/2014/main" id="{9C9EC6F3-A417-22CA-84B4-348D061A83ED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36805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B171-92F2-BAB2-B7E5-5BDAB86D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7B06E66E-5245-6CE2-C42F-1F49674C9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E8E76C-A58B-EF4C-20D1-9589797E4982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C5E4FC4-F85A-E713-5455-9A50D6A044FA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4A38C1-C8F0-10F3-51A2-D4D8B3DAAFBE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58064-CE46-C795-BE63-5716D827C8C9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A59F3-005B-B56C-1E36-0350A12A441D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735240" name="Table 735239">
            <a:extLst>
              <a:ext uri="{FF2B5EF4-FFF2-40B4-BE49-F238E27FC236}">
                <a16:creationId xmlns:a16="http://schemas.microsoft.com/office/drawing/2014/main" id="{B865CED9-6422-9C7D-B942-10744773309F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735241" name="Table 735240">
            <a:extLst>
              <a:ext uri="{FF2B5EF4-FFF2-40B4-BE49-F238E27FC236}">
                <a16:creationId xmlns:a16="http://schemas.microsoft.com/office/drawing/2014/main" id="{874DF1B0-DC26-E3A9-2064-848042EE08F3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42" name="TextBox 735241">
            <a:extLst>
              <a:ext uri="{FF2B5EF4-FFF2-40B4-BE49-F238E27FC236}">
                <a16:creationId xmlns:a16="http://schemas.microsoft.com/office/drawing/2014/main" id="{A849E775-1DB3-7227-8BC8-B92212148EAF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735243" name="TextBox 735242">
            <a:extLst>
              <a:ext uri="{FF2B5EF4-FFF2-40B4-BE49-F238E27FC236}">
                <a16:creationId xmlns:a16="http://schemas.microsoft.com/office/drawing/2014/main" id="{88FE6EE4-3CAA-A299-1ACD-0938A256B994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44" name="Straight Arrow Connector 735243">
            <a:extLst>
              <a:ext uri="{FF2B5EF4-FFF2-40B4-BE49-F238E27FC236}">
                <a16:creationId xmlns:a16="http://schemas.microsoft.com/office/drawing/2014/main" id="{77B09F73-5DA6-0C5A-0A5F-413566A86794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45" name="Straight Arrow Connector 735244">
            <a:extLst>
              <a:ext uri="{FF2B5EF4-FFF2-40B4-BE49-F238E27FC236}">
                <a16:creationId xmlns:a16="http://schemas.microsoft.com/office/drawing/2014/main" id="{7001BC76-CB56-2426-39B5-2015235D3B6E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46" name="Straight Arrow Connector 735245">
            <a:extLst>
              <a:ext uri="{FF2B5EF4-FFF2-40B4-BE49-F238E27FC236}">
                <a16:creationId xmlns:a16="http://schemas.microsoft.com/office/drawing/2014/main" id="{4DCBFC40-2638-7402-E905-6C27963BF72B}"/>
              </a:ext>
            </a:extLst>
          </p:cNvPr>
          <p:cNvCxnSpPr>
            <a:cxnSpLocks/>
          </p:cNvCxnSpPr>
          <p:nvPr/>
        </p:nvCxnSpPr>
        <p:spPr>
          <a:xfrm>
            <a:off x="8382000" y="4049573"/>
            <a:ext cx="793241" cy="974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5247" name="Table 735246">
            <a:extLst>
              <a:ext uri="{FF2B5EF4-FFF2-40B4-BE49-F238E27FC236}">
                <a16:creationId xmlns:a16="http://schemas.microsoft.com/office/drawing/2014/main" id="{FDA10D66-753E-CCB4-95C6-01BFD672448D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735248" name="Table 735247">
            <a:extLst>
              <a:ext uri="{FF2B5EF4-FFF2-40B4-BE49-F238E27FC236}">
                <a16:creationId xmlns:a16="http://schemas.microsoft.com/office/drawing/2014/main" id="{16AF3250-C9F1-9C6B-787E-68AE1D4F5393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4817719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735249" name="Table 735248">
            <a:extLst>
              <a:ext uri="{FF2B5EF4-FFF2-40B4-BE49-F238E27FC236}">
                <a16:creationId xmlns:a16="http://schemas.microsoft.com/office/drawing/2014/main" id="{DA8CF32D-1FA1-055C-4E15-155F77D85353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735250" name="TextBox 735249">
            <a:extLst>
              <a:ext uri="{FF2B5EF4-FFF2-40B4-BE49-F238E27FC236}">
                <a16:creationId xmlns:a16="http://schemas.microsoft.com/office/drawing/2014/main" id="{93AEE679-76B6-EB00-D4C0-AA5953D86BB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735251" name="Straight Arrow Connector 735250">
            <a:extLst>
              <a:ext uri="{FF2B5EF4-FFF2-40B4-BE49-F238E27FC236}">
                <a16:creationId xmlns:a16="http://schemas.microsoft.com/office/drawing/2014/main" id="{9BA22784-075E-9588-312A-ECB4F2A7AC79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59" name="Straight Arrow Connector 735258">
            <a:extLst>
              <a:ext uri="{FF2B5EF4-FFF2-40B4-BE49-F238E27FC236}">
                <a16:creationId xmlns:a16="http://schemas.microsoft.com/office/drawing/2014/main" id="{F8B9052B-4090-13FD-EE55-C90C0C83E4C8}"/>
              </a:ext>
            </a:extLst>
          </p:cNvPr>
          <p:cNvCxnSpPr>
            <a:cxnSpLocks/>
          </p:cNvCxnSpPr>
          <p:nvPr/>
        </p:nvCxnSpPr>
        <p:spPr>
          <a:xfrm flipV="1">
            <a:off x="10200640" y="3591436"/>
            <a:ext cx="446276" cy="2236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5260" name="Straight Arrow Connector 735259">
            <a:extLst>
              <a:ext uri="{FF2B5EF4-FFF2-40B4-BE49-F238E27FC236}">
                <a16:creationId xmlns:a16="http://schemas.microsoft.com/office/drawing/2014/main" id="{C2F3D071-116F-599A-4690-605137AAE150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02902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5474B-B691-97EA-9301-14F0D08E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82AE95BE-9D9D-F1EE-3906-D1AAE9CB3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C1D04F9-976C-773A-D8B8-2A38DBB0A9E0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0DD3A89-BCFA-E119-F249-40DBA782D8DE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08CA7C-5730-89BC-1836-87AAA8BE0331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C4291B-D059-41B9-4DD7-8D57AF544BEE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149C01-478C-0B30-FE55-047295FCD94D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A94190-ECC4-1E72-AD06-BA53868D1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1358"/>
              </p:ext>
            </p:extLst>
          </p:nvPr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B4AD26F-4F66-1A46-60CE-DDB2C7CBB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159030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CF4DEEE-CA75-98C6-C06E-D2861EDEC64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D8B6A-2A83-66EE-C85D-F2748F132AE5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7272C4-4CE8-B374-5573-E74CF181E75E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B25FB9-E137-2C26-2ED4-3E0427C7C0FC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89E898-B19A-4A86-C1C6-1892369F748F}"/>
              </a:ext>
            </a:extLst>
          </p:cNvPr>
          <p:cNvCxnSpPr>
            <a:cxnSpLocks/>
          </p:cNvCxnSpPr>
          <p:nvPr/>
        </p:nvCxnSpPr>
        <p:spPr>
          <a:xfrm>
            <a:off x="8382000" y="4049573"/>
            <a:ext cx="793241" cy="974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FE04D3C-B95E-3037-4596-5E429E788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843234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8F66BB9-D998-6031-CF59-190286220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988216"/>
              </p:ext>
            </p:extLst>
          </p:nvPr>
        </p:nvGraphicFramePr>
        <p:xfrm>
          <a:off x="9175241" y="4817719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1876433-41F8-7A78-6A50-251D945B2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137841"/>
              </p:ext>
            </p:extLst>
          </p:nvPr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D287F463-BAEB-BEED-882D-4F4147E09D4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BF00BC-F6A0-98AC-B762-B9FB2F28DCB5}"/>
              </a:ext>
            </a:extLst>
          </p:cNvPr>
          <p:cNvCxnSpPr>
            <a:cxnSpLocks/>
          </p:cNvCxnSpPr>
          <p:nvPr/>
        </p:nvCxnSpPr>
        <p:spPr>
          <a:xfrm flipV="1">
            <a:off x="10200640" y="3591436"/>
            <a:ext cx="446276" cy="2236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2931EF-75F0-2BF8-09C3-F8FBC4DD4286}"/>
              </a:ext>
            </a:extLst>
          </p:cNvPr>
          <p:cNvSpPr txBox="1"/>
          <p:nvPr/>
        </p:nvSpPr>
        <p:spPr>
          <a:xfrm>
            <a:off x="7854750" y="5258488"/>
            <a:ext cx="1176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Close fd3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1BD2A99-EDB0-A770-C82E-9748FB199D42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BFE994-67A3-987C-E8EF-45F52B31F76C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98710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B2EF-4631-DF9A-5BAA-3E2D8965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8963A514-344C-57F2-F5DB-FC791AE4E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ECD2BC-16C6-D071-C7F4-48B431B9D0E3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45F012F-49CA-DF36-AB88-5B7BB42AD69A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59AFCE-284F-C7EB-132F-053D6CDA622C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A529A8-0413-8AE0-5B6E-01E99F4C976B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ACA1E0-89F8-ACCC-8ACC-2FDB7D28A060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42A95D-4CDC-1F78-5684-0EA6FBE274BE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9CDCF1C-8618-12BA-D944-E0BCDD331024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5B8396A-179C-5BE0-4011-B31A0253D6A7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8094D5-B202-E111-0A4F-F71D152BF0BC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621CB8-9BB4-70AF-6298-662FDE155AA2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3AC4EE7-0BE0-F145-C1D8-68DD7A6E2A54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CDA17C5-3A5C-AED2-E08F-32D8C169D290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3D64301-0FD6-D38E-DA35-FB16501CB75D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3A26D5F-64B7-EC41-5C2E-17F681A03E2A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B4E7213A-6B17-DCF3-F1A2-9D64D9F2D7C9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3063E-75E4-0802-B22E-3172B90407F2}"/>
              </a:ext>
            </a:extLst>
          </p:cNvPr>
          <p:cNvSpPr txBox="1"/>
          <p:nvPr/>
        </p:nvSpPr>
        <p:spPr>
          <a:xfrm>
            <a:off x="7700531" y="4596272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fd3 = duplicated fd2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3DF8F0-E4B7-1FCC-3EA0-033314C613B6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99FA6B-66F5-598C-EC9B-B0CABB77F910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69456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1377-0811-49FA-4C37-16D49D62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67BFDDDC-3BE1-BDDA-FD5A-172F289FD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B90EEA-1B1F-EEDF-AB6A-3DED8B2B3845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20E9D60-BE52-1084-B5C8-497F0E55A308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3A1C45-7B30-33EF-4588-B4F04AC7A9CC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FA8966-3F21-9149-5C86-0AF2898E79CD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</a:t>
                </a:r>
                <a:r>
                  <a:rPr lang="en-US" sz="1600" b="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C2274D-7894-9114-5F8A-C4829DC122BE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F4A80C-1442-9414-CAEA-08A895ACE342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C471187-95AC-55A8-7D74-8D8BDDA4E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281045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F00C81E-E9D9-58D9-91D3-F9761C71C53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255D92-0E06-ADF0-B364-A90A7A3B6F23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A39884-0499-FE7F-55F3-FEBCE8AE6437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6B63FF-555B-A213-9168-D5EB79279CF2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FCCE3F-837D-AD68-2544-4A96287DBC44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79F545B-7B5D-6F1C-E68D-5CBC0E021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830229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8B60C57-75E5-7089-775C-33B3B6F4D488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9F87CDC-D36A-72FF-24EA-812EB80C22D8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4ACBA-0E9A-F2C1-5CBD-ED9621B951E1}"/>
              </a:ext>
            </a:extLst>
          </p:cNvPr>
          <p:cNvSpPr txBox="1"/>
          <p:nvPr/>
        </p:nvSpPr>
        <p:spPr>
          <a:xfrm>
            <a:off x="9582895" y="4628168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78DC7-1423-C934-A524-F6D9B3D79E50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A01441-0DBF-22E3-25D3-14D166656448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CD07E2-5960-99BA-D4A0-14F2FF1F81BD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693F5C6-2D1F-37EA-B7D8-A06C57C1F494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A3BB41-5C17-F99E-EF97-3A5B2DD3B8BF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4AE290-BF5E-84A1-F5DA-07F64E5AEB29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00673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2C40-8CBC-008E-9FF5-08B43E05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EA76A65-1067-F28C-321C-AE2E3CFBA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4405EB-FAEA-30AB-12BC-35F178350452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B6E6B7-1385-2ABB-8C72-799EBF709162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4F2564-60FB-0F1C-ED25-1B647215B41A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1133E5-E0AC-009B-FE93-93E98B1CE5E0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</a:t>
                </a:r>
                <a:r>
                  <a:rPr lang="en-US" sz="1600" b="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0E23C5-2415-F759-6070-F207A2A4C5C9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566A79-7B40-CC47-ACBC-D3B2702ADC7A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85648CE-FB6F-4B6C-20C3-E9113583A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37476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3808293-5885-6AAE-0F5B-A3CD955E7DC5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0C42D-60AF-B00D-C465-C779266E3B44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69E087-1D88-C379-2232-304A4434A71B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AD6C074-D398-3902-2A6F-F98F9DCBCB0B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0EC40-8E62-2F78-FC2C-EE065E540833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75D5D50-D309-6BF3-C1C4-C514DB10AF1F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D5DC4A1-FE56-CB07-F0F3-B962D7525B5A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FEC5CEAB-56C7-5CA8-FACA-5151E6398012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5E67D-439D-0535-0E2F-D0A1DA9F7924}"/>
              </a:ext>
            </a:extLst>
          </p:cNvPr>
          <p:cNvSpPr txBox="1"/>
          <p:nvPr/>
        </p:nvSpPr>
        <p:spPr>
          <a:xfrm>
            <a:off x="9582895" y="4628168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BFDE96-B246-284D-9821-0B9DAD4AC505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B80C87-9E1A-281D-B4C4-4681FE9930F5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CAAF26-5764-EA30-D096-4FD5BCACA40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9ACFD40-E703-4565-5E8C-48E151E6A3E7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9E80C9-2577-F2C5-0A47-9936EA5E287C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749021-8449-96D3-58AA-BA7F6206325A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52834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382B-1573-26A8-0287-A6D56C02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0F0E413-2580-1A25-66CE-F54FFC973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599720-C541-ABFA-156D-37468C0361BC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ADA73C-4568-D155-3E14-F96F66736751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916365-FD20-35A6-17EA-D85DE15BC139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C167CB-A361-D43C-1C2F-F790DA0A136E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496151-0DA2-F5B1-9FD1-DA4791094699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ED7FFF-F013-CA01-4BAB-90773F207CAF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2E4A122-CC79-1D02-F00C-D3BADC34EFEA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4C52EB7-1917-EA29-07FB-BCA4CFCCB933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C1DD90-0376-0241-A403-54B964025A81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877CD6-0EE3-C81B-6BB0-E694BFE76A9E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0ABC86-19AC-F16A-47E4-5FB7CE680AAF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D7BC18-99BC-E874-59D4-40FCE43D8418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04D4A47-640A-C6C1-A4A9-0F4A99E16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99704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B30C06A-AF13-86E7-0913-977B98F02EB2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3BC39A9F-3336-B722-6DCA-5348070E0658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08A3A4-79C4-EC21-54F7-1C715C41DA81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1E64E9-2C07-AF83-381E-3C85E91F7F0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EA1B2E-DE47-B04D-9204-E94B25285AC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3B6F042-4D7B-6244-EE8F-840288515316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c2 = ‘a’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3A53B-6FD9-08E4-652C-23CC92F8D5BC}"/>
              </a:ext>
            </a:extLst>
          </p:cNvPr>
          <p:cNvSpPr txBox="1"/>
          <p:nvPr/>
        </p:nvSpPr>
        <p:spPr>
          <a:xfrm>
            <a:off x="9582895" y="4628168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C785E8-813E-0806-81B5-6499C6B62534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49E9DE-D808-907C-DF2C-399B1211571D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00747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48FC-5DCB-31F5-0A5E-B9296602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D632119-BACC-E814-F84B-501166C97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8E7FE2B-0FF9-58BC-5E71-CF33AA518A67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4FE6DDB-6766-5C50-346E-6966662FF68C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B28D2C-BA18-6121-7BD3-88E72C57989A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816B70-CFBB-3083-9361-89B5C7724B18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4C869D-5118-DA61-BC6B-1498633F80F6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ECB9785-9736-A907-1242-96866B38A692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029192D-BECD-52B1-FFAF-5E1511F34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06552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3B6C26-BA99-0A6C-2A48-B730B85174AC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30074B-4983-5A4E-7A17-ED3427B4199E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1F31D4-9F79-55FE-6587-2EA0C979CDD7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39CAAF-E780-1A12-F068-0AEAD48A6F7E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FD6B99-2085-7223-5915-7DD98ED3D737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5C1AF93-71A9-994F-EB1D-E3DC421DB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50459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E375BAB-6132-9BFF-D358-C65A300DFE4B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567C482-629B-CE3F-8B6B-1104D67590D4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A10E89-0DA9-5A4E-7ECB-C6AEDDD092BD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C523A7-5523-7942-D5F7-C0F052AEDFD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BBC95A-D41A-DCAD-BBC5-D2DDC391F07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4EEC099-C29C-31E4-DC44-A62653A8898B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c2 = ‘a’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5F6B2-B5A3-F252-F29B-E94160058AA4}"/>
              </a:ext>
            </a:extLst>
          </p:cNvPr>
          <p:cNvSpPr txBox="1"/>
          <p:nvPr/>
        </p:nvSpPr>
        <p:spPr>
          <a:xfrm>
            <a:off x="9582895" y="4628168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1697D1-5FF3-0037-754B-5D82BBCBB495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070AD7-199F-210E-0FBB-9D90B45E36B9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42564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9C8C7-4AF8-B0D7-0B49-ED15BD2C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84AD033A-95D6-EB4E-E3F2-E6D459AB3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C65EE-AC89-1807-93A9-F37570BBF818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111D030-52EF-AA07-A918-871F2FA351EA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8781AE-B4F7-BEAB-9758-8F3D4BDF48FB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42FF8A-2F74-314D-0E0A-F19FC51E2F3B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DAE434-4F70-3960-C399-75FC8C1FD4D7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B416B8-0064-86A6-CB07-D0CF9C8D3212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C024297-BDF9-CC89-DD7F-9AE619E2F326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842EFFC-CA65-1E28-2FA2-1808D106444C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B5A78-0598-AB03-A1DF-362FEEDE9DC0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6C5D3D-47E5-B006-9D56-C0B444166940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986ACA-ED55-3B8E-7F7F-4C6A6B7C354F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0BCF7-C60B-D0D1-5B96-887CD60CE592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004323B-5358-DAB4-6D8F-F1B7FBB67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57629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B48E6C3-42CA-2DDA-1663-11D7A0431CA0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9E17D378-6124-64C2-93A8-42BA66E167EF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21C9FEA-EC1A-E009-58E6-40857537FAF6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3F0799-34C3-9F22-18DB-CDD6CFE37817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8CEF3E-69F9-CC9A-33F3-C81899534383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28B179-BECE-0860-1F2D-B472C3969BD0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c3 = ‘b’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945B8-8CC2-AD45-E383-038451C16DC5}"/>
              </a:ext>
            </a:extLst>
          </p:cNvPr>
          <p:cNvSpPr txBox="1"/>
          <p:nvPr/>
        </p:nvSpPr>
        <p:spPr>
          <a:xfrm>
            <a:off x="9582895" y="4628168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CD92FA-287E-0034-F119-239F19D85FBE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D3539E-D958-AEC0-D571-19BA7CFD8A78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723217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2CF34-5311-25AF-4350-7948C240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A179387F-994F-6F46-FC12-44C81F362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45D2669-1D62-C902-8D83-35945368DB19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4CC7525-B1CA-AFD5-F0F3-B8EE9E021506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61178-B427-65D4-7C6C-4A0D64F949E9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6BF835-E0DF-17C7-F868-49C09603AB96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("c1 = %c, c2 = %c, c3 = %c\n", c1, c2, c3);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2B0887-CFB9-3FB5-89DC-0C1090A86DBA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C3AFF3-AAAC-6063-2EFF-FAD691B758F7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1671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438918D-7CDB-5769-B6F0-E4FCE120781E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13791D5-3002-9D22-B873-D646B7DD06CB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475028-3E79-0A7B-F5DF-DFF656E7F359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9EAF9F-8DDD-1C78-B748-268F65CEA169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DD810A-1C31-7538-5355-C61E325ACB10}"/>
              </a:ext>
            </a:extLst>
          </p:cNvPr>
          <p:cNvCxnSpPr>
            <a:cxnSpLocks/>
          </p:cNvCxnSpPr>
          <p:nvPr/>
        </p:nvCxnSpPr>
        <p:spPr>
          <a:xfrm flipV="1">
            <a:off x="8382000" y="3575200"/>
            <a:ext cx="793241" cy="154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9BD4F4-8EB9-E865-10C7-A42E3D4A83C4}"/>
              </a:ext>
            </a:extLst>
          </p:cNvPr>
          <p:cNvCxnSpPr>
            <a:cxnSpLocks/>
          </p:cNvCxnSpPr>
          <p:nvPr/>
        </p:nvCxnSpPr>
        <p:spPr>
          <a:xfrm flipV="1">
            <a:off x="8382000" y="3591436"/>
            <a:ext cx="828041" cy="458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ECF3030-ED49-439F-6235-A1CA91FFD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352635"/>
              </p:ext>
            </p:extLst>
          </p:nvPr>
        </p:nvGraphicFramePr>
        <p:xfrm>
          <a:off x="9175241" y="3402538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915D66C-49E9-E2F6-3CFF-4B4C332C2E7A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B7A9A08-7BA6-6EA2-30BA-BD4867ABF01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954E464-E1D1-DBFA-64E5-EE9F865B4D2C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CC832F3-AE9E-3133-821D-66E72151A662}"/>
              </a:ext>
            </a:extLst>
          </p:cNvPr>
          <p:cNvCxnSpPr>
            <a:cxnSpLocks/>
          </p:cNvCxnSpPr>
          <p:nvPr/>
        </p:nvCxnSpPr>
        <p:spPr>
          <a:xfrm flipV="1">
            <a:off x="10119361" y="3591436"/>
            <a:ext cx="527555" cy="752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D9BF8E6-EA05-49BB-D9B9-CBAF31CB18A7}"/>
              </a:ext>
            </a:extLst>
          </p:cNvPr>
          <p:cNvGrpSpPr/>
          <p:nvPr/>
        </p:nvGrpSpPr>
        <p:grpSpPr>
          <a:xfrm>
            <a:off x="7726018" y="4772056"/>
            <a:ext cx="1652649" cy="677108"/>
            <a:chOff x="813349" y="1214405"/>
            <a:chExt cx="1652649" cy="6771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DF00A9-F9DF-ED93-AB6C-587D7DF882E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E36705-450A-3B4D-975B-600EE3C29E4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0EBAA4-95C5-7E3F-1593-39FBF2B7948B}"/>
              </a:ext>
            </a:extLst>
          </p:cNvPr>
          <p:cNvSpPr txBox="1"/>
          <p:nvPr/>
        </p:nvSpPr>
        <p:spPr>
          <a:xfrm>
            <a:off x="7777782" y="5648427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c3 = ‘b’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27D2D-481B-7660-7392-9A23DF6BB1FA}"/>
              </a:ext>
            </a:extLst>
          </p:cNvPr>
          <p:cNvSpPr txBox="1"/>
          <p:nvPr/>
        </p:nvSpPr>
        <p:spPr>
          <a:xfrm>
            <a:off x="9582895" y="4628168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</p:spTree>
    <p:extLst>
      <p:ext uri="{BB962C8B-B14F-4D97-AF65-F5344CB8AC3E}">
        <p14:creationId xmlns:p14="http://schemas.microsoft.com/office/powerpoint/2010/main" val="397406974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14FE-B9E8-F51F-0B40-2115D299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F74E9649-65D8-A6D6-4C52-13324FA16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Warm-Up: I/O and Redirection Example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BCAE9F-B252-540B-FEBD-C83744DFC0B7}"/>
              </a:ext>
            </a:extLst>
          </p:cNvPr>
          <p:cNvGrpSpPr/>
          <p:nvPr/>
        </p:nvGrpSpPr>
        <p:grpSpPr>
          <a:xfrm>
            <a:off x="461245" y="1289541"/>
            <a:ext cx="6984354" cy="5084844"/>
            <a:chOff x="688656" y="1240315"/>
            <a:chExt cx="6984354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47214F6-56C8-A084-D80B-EA5F6CCDE584}"/>
                </a:ext>
              </a:extLst>
            </p:cNvPr>
            <p:cNvGrpSpPr/>
            <p:nvPr/>
          </p:nvGrpSpPr>
          <p:grpSpPr>
            <a:xfrm>
              <a:off x="786851" y="1553513"/>
              <a:ext cx="6886159" cy="4771646"/>
              <a:chOff x="770574" y="4161173"/>
              <a:chExt cx="764909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DB28E4-A92C-59FA-62FC-D18C148872CF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3D3C11-359A-6C16-8508-A65BA0D50D17}"/>
                  </a:ext>
                </a:extLst>
              </p:cNvPr>
              <p:cNvSpPr txBox="1"/>
              <p:nvPr/>
            </p:nvSpPr>
            <p:spPr>
              <a:xfrm>
                <a:off x="1225056" y="4161173"/>
                <a:ext cx="7194608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endParaRPr lang="en-US" sz="16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fd1, fd2, fd3;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c2, c3;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fd2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fd3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dup2(fd2, fd3);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read(fd2,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read(fd3, &amp;c3, 1); </a:t>
                </a:r>
              </a:p>
              <a:p>
                <a:pPr eaLnBrk="0" hangingPunct="0"/>
                <a:endParaRPr lang="en-US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"c1 = %c, c2 = %c, c3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c2, c3); </a:t>
                </a:r>
                <a:endParaRPr lang="en-US" sz="1600" b="0" i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  <a:endParaRPr lang="en-US" sz="1600" b="0" i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5A6DE4-ECC5-7462-C1BB-90254854C21C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ffiles1.c</a:t>
              </a:r>
            </a:p>
          </p:txBody>
        </p: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16B5E227-6B10-3FB2-25CD-6063409EE88D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831C7E-5D50-AA40-9A88-0A8693E0EE40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./ffiles1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 = a, c2 = a, c3 = b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58CF73-8DCC-6E4E-6B63-B86EA4BD60E1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366638E-6FFE-1E76-B526-9C7AD1623A83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B9364C-1356-D354-98CE-D536113116AA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4200AD8-6799-D15E-18F4-8120A7E1063D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11CEC3E-4387-994A-D8DB-6E2E4180E5D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964219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1784-B05A-2AA8-5C59-CFB88CD8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6EC833C-549A-134F-B390-FDBE7ED5D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7B7633-E0A6-72C8-BF6E-6F8F1AA4E707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D5A03B-842C-B377-CE96-2D0B2F2B5378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A4A381-8C48-5729-ACDB-98386F035889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03A1E3-6A7E-4546-6DBF-5B317028718B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DF362A-03FC-E552-903D-B1148F65739C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9E05B0CB-52F8-523D-9003-F91FF792CD76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95B91A-CA0B-BAFB-54D6-778143B7FCFD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883BCB-D3FC-89D3-E435-A9BC321B68A5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DD89D3-0AA9-4C5D-E501-C3C44E855EF3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0A3EB5-49B2-29E7-70CF-E34C6751933A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C572F4-4C12-2883-59C5-84F47DB6D306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04363-D591-2F35-19CF-CD4F41800D1C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957884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96B3-5F85-F3F7-F4DE-F72A1BB8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BE640D8D-A067-4789-CF48-1A93E587F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7D20F7-23CF-0050-4AAD-EF83DDDB68EA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6AEB0B-FD88-508F-2CB0-B184CE1B799B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56950D-47EB-1428-F929-41E1F80105D8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E3F742-0567-1BCB-E65B-1D4308CBD34B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39FB19-12C7-6149-1B28-9A6E477A4CB4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D36CE6-4231-9047-FA6B-9CF90BCA7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762081"/>
              </p:ext>
            </p:extLst>
          </p:nvPr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1CA9F5-6B80-49C9-F6E6-AB59BFCF1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5027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503A66A-9AE6-983C-E056-243926755220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619FE-8737-2F58-0993-CD6C9A5A016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5FEA0A-E492-2384-DF91-ACB1F6F9291D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4CD55D-10F7-210B-3EBE-3483E6132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41622"/>
              </p:ext>
            </p:extLst>
          </p:nvPr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FB24CD9-E615-9440-3B79-3FA8688C1E15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1E0D64-F864-8921-4371-D637E2016396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82847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43AB-8B9E-7BED-0E9A-895F91E5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CF73E0E6-F2B4-6316-E013-B6BA60626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1D845D-5ACF-7D2F-3A07-2C6F6D28D27D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B9F2C81-FF14-B600-D698-FB69BDFD4A89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70EB70-2E1B-593B-1105-64AF5650D304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DD0CAB-9EF1-8187-9FC9-85624BCE909F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E3B9F9-0B9F-AFDC-EB3B-EBD6BD727222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B18007-3E78-E0A0-4C6A-F6BDA1A6CF3E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33E6CF-3888-4366-59BE-C452B32C0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69186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DE42200-3604-70DF-D94B-EFBB00CE6DC4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EF2E2-E7FE-3961-DAD0-C231B920D9F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1FD2DE-04DC-55F6-BCA5-4DF01D0DD7E1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1BA9EA-48DD-1F90-8ECE-E2D1B0642C38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8D0F228-38FC-6993-1E12-6E7DD1302B8F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BB6B84-312D-943B-FC2B-80CB2429D792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4F39C0-FF16-C249-7962-A42D543AA4F6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626E36-91E1-543C-A678-B8EFEF9B1C23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72B104-5C95-3103-6C13-E5BD7CEC0A7B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86B1877-2E29-B8AC-0915-215A018FEC31}"/>
              </a:ext>
            </a:extLst>
          </p:cNvPr>
          <p:cNvSpPr txBox="1"/>
          <p:nvPr/>
        </p:nvSpPr>
        <p:spPr>
          <a:xfrm>
            <a:off x="10211764" y="6033885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</p:spTree>
    <p:extLst>
      <p:ext uri="{BB962C8B-B14F-4D97-AF65-F5344CB8AC3E}">
        <p14:creationId xmlns:p14="http://schemas.microsoft.com/office/powerpoint/2010/main" val="169138348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A6AB-1BA7-1690-0797-A1D99AB1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2D3F5737-D12C-B28E-B6F6-C03F8CDEE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058E5-CFC0-4E4C-6BF5-4F9A169984F6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42CB0A6-32D0-85AD-6D8F-80246F9DEBD6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7DBCB3-FACE-BD38-F9DE-0BC3F5AF634D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0C96E6-198E-C666-CC36-3C461C34A516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1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34309A-6078-A764-BC64-747F3EE0D9E4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DA98E3-4A5E-E8A8-65D7-5B0DF48010A3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59E7FF-582E-F43B-351E-EA2CD51ED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741797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631DF-0D95-E6A3-0057-2B806A78E36F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BFF87-6A64-69CE-03BA-F4718DED6776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9CD46B-2BF0-A9DA-43C5-130D0186730A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340A71F-B49D-CE19-B2D3-6C8060DACFCC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35A0A8F-6F83-064F-B466-20028F74895F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5B1C64-D6B9-975F-1F21-CD392B8ADA30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4C6EAAE-971B-37F7-726B-779429396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4392"/>
              </p:ext>
            </p:extLst>
          </p:nvPr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7DE8E11-3509-88CF-FD58-AD5357898028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0EE186-A27C-BAC1-3978-1BF696B41CBE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E81F6E-5F27-B657-F8D1-215250BEA98B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620740-95E7-E12D-48E7-D3ED582F251F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145D745-FFC7-19F8-4A1E-E0FBE6ACFB48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B859D51-1D87-7521-D4C8-77B9CBFB6FA7}"/>
              </a:ext>
            </a:extLst>
          </p:cNvPr>
          <p:cNvSpPr txBox="1"/>
          <p:nvPr/>
        </p:nvSpPr>
        <p:spPr>
          <a:xfrm>
            <a:off x="10211764" y="6033885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</p:spTree>
    <p:extLst>
      <p:ext uri="{BB962C8B-B14F-4D97-AF65-F5344CB8AC3E}">
        <p14:creationId xmlns:p14="http://schemas.microsoft.com/office/powerpoint/2010/main" val="3565521679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8920-3229-5282-896A-1E8410AF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C9029F5-6CFE-5BA7-2A87-A1CCC704F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BFCF05-2CFB-43C2-FF3C-46FD0FD3B720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12F427F-964D-2204-ADFD-03096BF98D7C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D132D-398A-7A49-D1D8-6F466BF98A78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ABFBB-28F5-1786-A009-C8B9447C9F3C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1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1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1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E89E96-C6FA-C3AE-84C0-6C744C3C1917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A6C650-84FA-867E-8DB6-D3C9A77862BF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73BA76-6617-FABD-1159-1946987B0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97355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F379723-A1B7-E157-B4CA-89617FF6ACD6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15DBA-3EAD-7F28-1A1D-651F0EBD9C7E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5E6DD1-10BF-1B00-6432-CBDF03B46F98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56746EF-08E3-5280-46EE-856876F52C89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B5E5438-1D37-2708-930A-93108BBC31C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B038AC-1E1E-72CB-30C5-1D36D3FFA0D2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511EE6-5084-A68D-C018-2C66A0755802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9076F60-2ED1-59E4-66E3-376ABA8A06DB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81698F-F1C3-816F-D7DA-EC44C4B9E6C2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7056F5-83AE-B442-3C64-2D080C5630B8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9D3AB4-C48F-64DA-8CA4-0440ED1CFAAA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597325-D5F5-F64E-A602-56D0E6788DE9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BE23784-9683-E033-A823-A08C753716F0}"/>
              </a:ext>
            </a:extLst>
          </p:cNvPr>
          <p:cNvSpPr txBox="1"/>
          <p:nvPr/>
        </p:nvSpPr>
        <p:spPr>
          <a:xfrm>
            <a:off x="10211764" y="6033885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c1 = ‘a’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343EA8-235E-2E25-2D8E-985B82238E3A}"/>
              </a:ext>
            </a:extLst>
          </p:cNvPr>
          <p:cNvSpPr txBox="1"/>
          <p:nvPr/>
        </p:nvSpPr>
        <p:spPr>
          <a:xfrm>
            <a:off x="4891757" y="3514173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how long will the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sleep?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5A1BE0-FF71-A7DE-1A35-A8E3BCA8C497}"/>
              </a:ext>
            </a:extLst>
          </p:cNvPr>
          <p:cNvSpPr txBox="1"/>
          <p:nvPr/>
        </p:nvSpPr>
        <p:spPr>
          <a:xfrm>
            <a:off x="4891757" y="4588342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how long will the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child sleep?</a:t>
            </a:r>
          </a:p>
        </p:txBody>
      </p:sp>
    </p:spTree>
    <p:extLst>
      <p:ext uri="{BB962C8B-B14F-4D97-AF65-F5344CB8AC3E}">
        <p14:creationId xmlns:p14="http://schemas.microsoft.com/office/powerpoint/2010/main" val="3230088917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AE6F7-6001-F12E-4000-75EB9487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2CA7E916-144A-BBA7-FBFF-8E10CF1CD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697DCF-E99D-39E2-DD55-3482683A5477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C0F0CDF-F724-BCB3-3BDF-D77BA79B7A20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C6327-73AA-0ACB-C036-A2A706B8EF8D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BB6EC4-487B-6995-785F-3880DB195D3D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2A92EB-CD43-6C23-F316-96C4B65EA30E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D8F5DB-6235-89CD-AB96-0518DAF4CCDD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F1692D-ECAB-FA50-2824-76B1BB64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55001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E85AF9-7790-3966-8383-A0BF189548A4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CB8A5-3CA0-CF13-3A23-B1AFA8457F8A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3E5D42-6D41-6296-4996-5D0CB1C6BBA4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F4829C4-3521-F9A6-9DAB-29421E8A2D5F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796BB1D-C70C-1A7B-698E-5A57E384C174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65C572-36B3-D2F4-B27E-C9B6941CB9EB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9EAA4E3-6104-6F9C-25FB-2DBA12FC1C98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6E94A66-8C7D-78DE-2142-3A4130987F02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16885F-F617-97A2-4F7E-4E79C5C52248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471B1C-0ED7-EF90-1625-E9DB0F3E93BD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4A2EB5-61DC-2521-DBDE-3EB781C1D438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B09C26-8444-BCFD-F56D-2C6DA8CDA1F0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E76E53D-89DE-C1C0-4A7A-812ED483C116}"/>
              </a:ext>
            </a:extLst>
          </p:cNvPr>
          <p:cNvSpPr txBox="1"/>
          <p:nvPr/>
        </p:nvSpPr>
        <p:spPr>
          <a:xfrm>
            <a:off x="8877011" y="4635572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A0271C-DDA0-89AB-EDD9-D1180663E41B}"/>
              </a:ext>
            </a:extLst>
          </p:cNvPr>
          <p:cNvSpPr txBox="1"/>
          <p:nvPr/>
        </p:nvSpPr>
        <p:spPr>
          <a:xfrm>
            <a:off x="10155783" y="5950723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</p:txBody>
      </p:sp>
    </p:spTree>
    <p:extLst>
      <p:ext uri="{BB962C8B-B14F-4D97-AF65-F5344CB8AC3E}">
        <p14:creationId xmlns:p14="http://schemas.microsoft.com/office/powerpoint/2010/main" val="3949344491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E266-702E-F25A-535E-2F9350BA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7FDDA30A-C3A6-5BC9-A3BB-119369469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2E1367-4EEA-F5F2-7DAA-7F49B65BEFDC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85139A7-312E-972B-CAB6-F189C045C077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94E0E2-EE6A-CA9B-1476-A61460F32EE1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570AE0-629A-5FEF-7AEF-04888419ADEC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 { /* Child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("Child: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3ABC75-0485-740B-C134-D3980EAD51B8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E618A6-827B-BA1E-FE1D-DC939D7745D7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69F343-FD14-65DC-7F79-38C80A4BE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25374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D0060B-1107-CBBA-1BA1-E841444C3F33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83A5B-55AF-D8F2-5A99-2F56C88FD15A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F62D9A-1D93-A3AE-336F-E8B94995A4F3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3718D99-8F29-B355-9982-EC2891113F23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539D754-8E4A-72A1-D079-F56900C313E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E7D684-401F-DA62-1EF1-511361BBD436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C369A70-80DD-BAE3-7906-8A543FB6EA66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F0AE565-5DB2-CDDC-21EB-B6C18259E1EB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31B1CA-832F-BB9C-8D20-38FD9F4B72B7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192459-9C8B-16CD-071B-9F761F9F2E15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80E4D7-75A0-5EE0-0374-1B542203BC00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E6629D-19AE-7B39-CEEC-3E387B660F79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D4FC83-5529-FFC2-CF3A-1012E6A9A372}"/>
              </a:ext>
            </a:extLst>
          </p:cNvPr>
          <p:cNvSpPr txBox="1"/>
          <p:nvPr/>
        </p:nvSpPr>
        <p:spPr>
          <a:xfrm>
            <a:off x="8877011" y="4635572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0AD0B-AB55-6F17-83D2-44B885162170}"/>
              </a:ext>
            </a:extLst>
          </p:cNvPr>
          <p:cNvSpPr txBox="1"/>
          <p:nvPr/>
        </p:nvSpPr>
        <p:spPr>
          <a:xfrm>
            <a:off x="10155783" y="5950723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</p:txBody>
      </p:sp>
    </p:spTree>
    <p:extLst>
      <p:ext uri="{BB962C8B-B14F-4D97-AF65-F5344CB8AC3E}">
        <p14:creationId xmlns:p14="http://schemas.microsoft.com/office/powerpoint/2010/main" val="2392845762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9FBF-D66A-6D47-AEB1-8F0BC886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C0FA90F-13BB-A2C0-0A40-B8EAE1734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07D809-89E2-5F11-36BA-57E0C8136450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A0D526B-0347-E2D9-2C94-EA6019C8E3B6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3CAFBC-BDD6-DF96-03AB-E6E4DDAEB837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8A6BAC-8440-0F5F-89A8-A2395325F84F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FB0296-7CCF-3D40-5311-0BD0516D010B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A66E1B-86F2-DFA5-1CD0-9C58A058D3FA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0DFE83-437F-867D-4A1B-92BC7B3B2D0B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DC53BB-6E90-08D9-FA93-2AF4CE7DE718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BF4ED3-F916-D68E-9425-F5E1AE1DEDCE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A9B6D4-C617-FFDA-EAEF-555CCE2EB9A2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D7B84A0-A9D6-7D27-1E7C-F7C4724B3ED6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9DEE7A6-C8B4-40E0-A28C-848FCA3C4F30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C8A3B1-C0FB-68DD-3A10-5085DD1BD424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45E7E70-FE0E-D0FA-D899-4C23B2245ADA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D5B1C5C-A6CE-6C36-B9A4-819F486FC7F2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B68071-789F-D013-074D-7D44A9F4DBDF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FAD0C8-47BA-D3A2-08E1-2F332434761C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E04BDC-998E-6E07-30D0-A84A35588B1D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abc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9C8142-3626-69B6-C4C7-0AFF314A790A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C830CC-994A-FB99-ADA3-383D98416ECB}"/>
              </a:ext>
            </a:extLst>
          </p:cNvPr>
          <p:cNvSpPr txBox="1"/>
          <p:nvPr/>
        </p:nvSpPr>
        <p:spPr>
          <a:xfrm>
            <a:off x="10155783" y="5950723"/>
            <a:ext cx="228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</p:txBody>
      </p:sp>
    </p:spTree>
    <p:extLst>
      <p:ext uri="{BB962C8B-B14F-4D97-AF65-F5344CB8AC3E}">
        <p14:creationId xmlns:p14="http://schemas.microsoft.com/office/powerpoint/2010/main" val="3309163173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49E0-3A11-4ECD-F277-E2F990F7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5014730B-BD2F-6990-6F58-0C3A729ED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B1C814-B5E1-F4D0-A166-F282E5200932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F637FDC-2D92-95C8-5E5C-7790E54E6C8C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A2F5B7-A2A5-EA53-B1FE-D1FEA7139738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DE33C7-8E4A-98CF-E09B-E57361C544F8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3BE046-E4D3-49B0-9CE3-9A9295F0B5AA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6FCC37-7CE4-A985-1E3A-E6F8A7ADFEF3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5EB999-3C84-3F3E-D015-890371A3B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94630"/>
              </p:ext>
            </p:extLst>
          </p:nvPr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C0D795-80D4-09BC-4EE1-64DA73A37696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B317B3-E42C-6D8C-5545-D241ED31FE4D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E34C3C-F08D-8C8D-7044-BD4436795B74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A452694-A98C-9119-F24E-138C428E7E99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542CA6E-8037-539F-48DD-9D9DA38F1982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BE0964-E405-9BF2-B036-72BBC0B61891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998B18B-889B-0440-18D3-9EBD9AC4FC48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3A29FC3-F7ED-156B-38A4-45BE16C299CC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611B37-94DE-E8BF-C3B9-0F5F31E0D803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9EB88C-B5DD-B247-47D9-3C9E4BAF9D45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0A09FA-71D7-BA34-9611-26B705312AB2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ab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216D879-6EF1-CA0A-EFAA-8A56D7EF67C2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2346F5A-E09E-DAAC-DA67-FB5B5C016628}"/>
              </a:ext>
            </a:extLst>
          </p:cNvPr>
          <p:cNvSpPr txBox="1"/>
          <p:nvPr/>
        </p:nvSpPr>
        <p:spPr>
          <a:xfrm>
            <a:off x="10155783" y="5950723"/>
            <a:ext cx="2285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child c2 = ‘c’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7A66D-1BC6-00AB-DD0D-92B1252BF134}"/>
              </a:ext>
            </a:extLst>
          </p:cNvPr>
          <p:cNvSpPr txBox="1"/>
          <p:nvPr/>
        </p:nvSpPr>
        <p:spPr>
          <a:xfrm>
            <a:off x="8877011" y="4635572"/>
            <a:ext cx="236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3320909098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EFF1-9704-BEE5-0C0D-F5EE492E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B838327-85C5-011D-2B54-29BA18471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63B6A4-9344-76A3-65C9-480F3B288E67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325BBDB-96B4-198B-9F2A-2375683849DF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1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E7A408-4719-2281-F03A-D94EE397E662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E0CAE8-5388-6D79-66A7-5F8D7BBA1E47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50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i="0" dirty="0"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b="1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 (fork()) { /* Parent */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i="0" dirty="0" err="1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("Parent: c1 = %c, c2 = %c\n",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1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1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1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chemeClr val="bg1">
                        <a:lumMod val="85000"/>
                      </a:schemeClr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17D10C-5D5C-B9BC-1E03-C704376EC5B3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2C8E0F-C2F8-0FB0-2327-BED194EA980D}"/>
              </a:ext>
            </a:extLst>
          </p:cNvPr>
          <p:cNvGraphicFramePr>
            <a:graphicFrameLocks noGrp="1"/>
          </p:cNvGraphicFramePr>
          <p:nvPr/>
        </p:nvGraphicFramePr>
        <p:xfrm>
          <a:off x="7800434" y="203187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471040-EAC7-CC34-C902-DAFFF2B7F919}"/>
              </a:ext>
            </a:extLst>
          </p:cNvPr>
          <p:cNvGraphicFramePr>
            <a:graphicFrameLocks noGrp="1"/>
          </p:cNvGraphicFramePr>
          <p:nvPr/>
        </p:nvGraphicFramePr>
        <p:xfrm>
          <a:off x="9175241" y="2007360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accent1"/>
                          </a:solidFill>
                        </a:rPr>
                        <a:t>file pos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DB3EDB-2616-2F5D-79FD-044284F4F485}"/>
              </a:ext>
            </a:extLst>
          </p:cNvPr>
          <p:cNvSpPr txBox="1"/>
          <p:nvPr/>
        </p:nvSpPr>
        <p:spPr>
          <a:xfrm>
            <a:off x="7531807" y="130492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Parent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D90F2-B561-F72E-220E-668D22B6AAF0}"/>
              </a:ext>
            </a:extLst>
          </p:cNvPr>
          <p:cNvSpPr txBox="1"/>
          <p:nvPr/>
        </p:nvSpPr>
        <p:spPr>
          <a:xfrm>
            <a:off x="8768067" y="1294655"/>
            <a:ext cx="199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F73BDB-9C26-1192-0639-715AB6DFA3EF}"/>
              </a:ext>
            </a:extLst>
          </p:cNvPr>
          <p:cNvCxnSpPr>
            <a:cxnSpLocks/>
          </p:cNvCxnSpPr>
          <p:nvPr/>
        </p:nvCxnSpPr>
        <p:spPr>
          <a:xfrm flipV="1">
            <a:off x="8382000" y="2220773"/>
            <a:ext cx="793241" cy="11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0563E7D-EED1-2EB8-A311-346E381F8270}"/>
              </a:ext>
            </a:extLst>
          </p:cNvPr>
          <p:cNvGraphicFramePr>
            <a:graphicFrameLocks noGrp="1"/>
          </p:cNvGraphicFramePr>
          <p:nvPr/>
        </p:nvGraphicFramePr>
        <p:xfrm>
          <a:off x="10646916" y="3405673"/>
          <a:ext cx="11805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578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4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file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0236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4C56AC2-1D35-C6AA-63B8-C1E77730E0AD}"/>
              </a:ext>
            </a:extLst>
          </p:cNvPr>
          <p:cNvSpPr txBox="1"/>
          <p:nvPr/>
        </p:nvSpPr>
        <p:spPr>
          <a:xfrm>
            <a:off x="10496595" y="2654725"/>
            <a:ext cx="160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v-node table</a:t>
            </a:r>
          </a:p>
          <a:p>
            <a:pPr algn="ctr"/>
            <a:r>
              <a:rPr lang="en-US" dirty="0"/>
              <a:t>(system wide)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63CEB7-ACB6-14A5-A97A-0785FD611427}"/>
              </a:ext>
            </a:extLst>
          </p:cNvPr>
          <p:cNvCxnSpPr>
            <a:cxnSpLocks/>
          </p:cNvCxnSpPr>
          <p:nvPr/>
        </p:nvCxnSpPr>
        <p:spPr>
          <a:xfrm>
            <a:off x="9986118" y="2977890"/>
            <a:ext cx="660798" cy="57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6991193-808A-E56F-7090-7C2A07DC9B95}"/>
              </a:ext>
            </a:extLst>
          </p:cNvPr>
          <p:cNvGraphicFramePr>
            <a:graphicFrameLocks noGrp="1"/>
          </p:cNvGraphicFramePr>
          <p:nvPr/>
        </p:nvGraphicFramePr>
        <p:xfrm>
          <a:off x="7833290" y="4408525"/>
          <a:ext cx="784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726">
                  <a:extLst>
                    <a:ext uri="{9D8B030D-6E8A-4147-A177-3AD203B41FA5}">
                      <a16:colId xmlns:a16="http://schemas.microsoft.com/office/drawing/2014/main" val="759203340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397342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30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1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12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A8893D3-0734-8EAF-CE08-39CD66935886}"/>
              </a:ext>
            </a:extLst>
          </p:cNvPr>
          <p:cNvSpPr txBox="1"/>
          <p:nvPr/>
        </p:nvSpPr>
        <p:spPr>
          <a:xfrm>
            <a:off x="7564663" y="3681579"/>
            <a:ext cx="102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</a:t>
            </a:r>
            <a:br>
              <a:rPr lang="en-US" dirty="0"/>
            </a:br>
            <a:r>
              <a:rPr lang="en-US" dirty="0"/>
              <a:t>FD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AC1F6A-183B-179F-9B05-088585EFD6FD}"/>
              </a:ext>
            </a:extLst>
          </p:cNvPr>
          <p:cNvCxnSpPr>
            <a:cxnSpLocks/>
          </p:cNvCxnSpPr>
          <p:nvPr/>
        </p:nvCxnSpPr>
        <p:spPr>
          <a:xfrm flipV="1">
            <a:off x="8383113" y="2289814"/>
            <a:ext cx="792128" cy="3433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FAB2D3-EB16-A369-43CB-988892219A67}"/>
              </a:ext>
            </a:extLst>
          </p:cNvPr>
          <p:cNvGrpSpPr/>
          <p:nvPr/>
        </p:nvGrpSpPr>
        <p:grpSpPr>
          <a:xfrm>
            <a:off x="10160000" y="5157514"/>
            <a:ext cx="1652649" cy="677108"/>
            <a:chOff x="813349" y="1214405"/>
            <a:chExt cx="1652649" cy="6771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7829CA-9A26-4C3B-F902-D264A477CAAC}"/>
                </a:ext>
              </a:extLst>
            </p:cNvPr>
            <p:cNvSpPr txBox="1"/>
            <p:nvPr/>
          </p:nvSpPr>
          <p:spPr>
            <a:xfrm>
              <a:off x="813349" y="1552959"/>
              <a:ext cx="165264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182880" rIns="182880" rtlCol="0">
              <a:spAutoFit/>
            </a:bodyPr>
            <a:lstStyle/>
            <a:p>
              <a:pPr eaLnBrk="0" hangingPunct="0"/>
              <a:r>
                <a:rPr lang="en-US" sz="1600" i="0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ab</a:t>
              </a:r>
              <a:r>
                <a:rPr lang="en-US" sz="1600" b="1" i="0" dirty="0" err="1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sz="1600" b="0" i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</a:t>
              </a:r>
              <a:endPara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2AFA6-CE6D-0286-7AB8-161CD37AAD9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74B18D9-82B8-8A76-AFA2-DAEDFEFCC71C}"/>
              </a:ext>
            </a:extLst>
          </p:cNvPr>
          <p:cNvSpPr txBox="1"/>
          <p:nvPr/>
        </p:nvSpPr>
        <p:spPr>
          <a:xfrm>
            <a:off x="10155783" y="5950723"/>
            <a:ext cx="2285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parent c2 = ‘b’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child c2 = ‘c’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331FE3-A4DE-DD43-63A5-0CC981A4F578}"/>
              </a:ext>
            </a:extLst>
          </p:cNvPr>
          <p:cNvSpPr txBox="1"/>
          <p:nvPr/>
        </p:nvSpPr>
        <p:spPr>
          <a:xfrm>
            <a:off x="8877011" y="4635572"/>
            <a:ext cx="236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read and increment file position</a:t>
            </a:r>
          </a:p>
        </p:txBody>
      </p:sp>
    </p:spTree>
    <p:extLst>
      <p:ext uri="{BB962C8B-B14F-4D97-AF65-F5344CB8AC3E}">
        <p14:creationId xmlns:p14="http://schemas.microsoft.com/office/powerpoint/2010/main" val="1547680093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7419-B19C-15C1-4701-791279C4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5354D2D-40E6-1D9C-1FD5-42391D335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6265C3-633E-AE32-4EF1-46457295F37A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3675150-99E0-78A4-6DE8-1E6C268B03BA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F2F367-0CAF-6F6E-E401-97D0A4EE36DE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5D1965-7F7F-D8D8-0C0E-A457EE4AD332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1AED82-0C8D-2DC6-E6C1-06F6E340ADBB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C8BA1D6D-0749-BCBC-68F8-C3F6301BFE5F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1C370F-8A77-1C4D-7C9C-CA5CE14F8A79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Parent: c1 = a, c2 = b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Child: c1 = a, c2 = c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EB4652C-F690-0622-5619-ECD8871A0D57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773CDB8-A136-F3C7-940A-4846FE17EEDB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0FD0BA4-955C-337A-D9BD-4D34BE60AE6E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7CA76C2-C7C4-1620-7FCC-2D709C817CEA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AF5B2-2EE6-E527-EFFD-8F8335E4A0E7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142648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98D8-B18D-7E47-944A-764370C7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3E5EDD7D-1794-8EF2-3135-405FC03E0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08" y="457200"/>
            <a:ext cx="8277893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Class: Process Control and I/O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C66EE1-858F-22EC-AE8C-867605E9301A}"/>
              </a:ext>
            </a:extLst>
          </p:cNvPr>
          <p:cNvGrpSpPr/>
          <p:nvPr/>
        </p:nvGrpSpPr>
        <p:grpSpPr>
          <a:xfrm>
            <a:off x="461245" y="1289541"/>
            <a:ext cx="6864116" cy="5084844"/>
            <a:chOff x="688656" y="1240315"/>
            <a:chExt cx="6864116" cy="50848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76AC8BA-A2DC-AD6C-D3CF-B9B139B19593}"/>
                </a:ext>
              </a:extLst>
            </p:cNvPr>
            <p:cNvGrpSpPr/>
            <p:nvPr/>
          </p:nvGrpSpPr>
          <p:grpSpPr>
            <a:xfrm>
              <a:off x="786851" y="1553513"/>
              <a:ext cx="6765921" cy="4771646"/>
              <a:chOff x="770574" y="4161173"/>
              <a:chExt cx="7515530" cy="477164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4B8690-62E4-063B-22E7-66CE15834317}"/>
                  </a:ext>
                </a:extLst>
              </p:cNvPr>
              <p:cNvSpPr txBox="1"/>
              <p:nvPr/>
            </p:nvSpPr>
            <p:spPr>
              <a:xfrm>
                <a:off x="770574" y="4162282"/>
                <a:ext cx="454482" cy="4770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9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13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15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16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17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18</a:t>
                </a:r>
              </a:p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06D899-A3BD-FBF5-ED09-BAD7B2A33BB4}"/>
                  </a:ext>
                </a:extLst>
              </p:cNvPr>
              <p:cNvSpPr txBox="1"/>
              <p:nvPr/>
            </p:nvSpPr>
            <p:spPr>
              <a:xfrm>
                <a:off x="1225055" y="4161173"/>
                <a:ext cx="7061049" cy="4770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#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include</a:t>
                </a:r>
                <a:r>
                  <a:rPr lang="en-US" sz="1600" b="0" i="0" dirty="0">
                    <a:solidFill>
                      <a:srgbClr val="2B91A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csapp.h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argc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[]) {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fd1;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s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getpid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() &amp; 0x1;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c1, c2;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char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*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argv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[1];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fd1 = open(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fname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O_RDONLY, 0);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&amp;c1,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(fork())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Parent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"Parent: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else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{ </a:t>
                </a:r>
                <a:r>
                  <a:rPr lang="en-US" sz="1600" b="0" i="0" dirty="0">
                    <a:solidFill>
                      <a:srgbClr val="008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/* Child */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sleep(1-s);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read(fd1, &amp;c2, 1);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	</a:t>
                </a:r>
                <a:r>
                  <a:rPr lang="en-US" sz="1600" b="0" i="0" dirty="0" err="1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printf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sz="1600" b="0" i="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"Child: c1 = %c, c2 = %c\n"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, c1, c2);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 </a:t>
                </a:r>
              </a:p>
              <a:p>
                <a:pPr eaLnBrk="0" hangingPunct="0"/>
                <a:r>
                  <a:rPr lang="en-US" sz="160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:r>
                  <a:rPr lang="en-US" sz="1600" b="0" i="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return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 0; </a:t>
                </a:r>
              </a:p>
              <a:p>
                <a:pPr eaLnBrk="0" hangingPunct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fi-FI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BE79EF-21E0-D7AC-525F-19D903E3636D}"/>
                </a:ext>
              </a:extLst>
            </p:cNvPr>
            <p:cNvSpPr txBox="1"/>
            <p:nvPr/>
          </p:nvSpPr>
          <p:spPr>
            <a:xfrm>
              <a:off x="688656" y="124031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ffiles2.c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D988DDB6-3F29-E92F-ED40-F758A4804B55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2372391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What would this program print for file containing “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abcde</a:t>
            </a:r>
            <a:r>
              <a:rPr lang="en-US" sz="2400" dirty="0"/>
              <a:t>”?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51ABB-E60C-63A7-881B-2EF245273E00}"/>
              </a:ext>
            </a:extLst>
          </p:cNvPr>
          <p:cNvSpPr txBox="1"/>
          <p:nvPr/>
        </p:nvSpPr>
        <p:spPr>
          <a:xfrm>
            <a:off x="7634224" y="3491073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Parent: c1 = a, c2 = b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Child: c1 = a, c2 = c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AE8B00-B611-C358-47A2-FF5ED87CFBEE}"/>
              </a:ext>
            </a:extLst>
          </p:cNvPr>
          <p:cNvGrpSpPr/>
          <p:nvPr/>
        </p:nvGrpSpPr>
        <p:grpSpPr>
          <a:xfrm>
            <a:off x="7634224" y="1478125"/>
            <a:ext cx="1784079" cy="678771"/>
            <a:chOff x="813349" y="1214405"/>
            <a:chExt cx="1784079" cy="6787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224900C-AC94-8CDF-99B6-C29C72D0E145}"/>
                </a:ext>
              </a:extLst>
            </p:cNvPr>
            <p:cNvGrpSpPr/>
            <p:nvPr/>
          </p:nvGrpSpPr>
          <p:grpSpPr>
            <a:xfrm>
              <a:off x="899126" y="1553513"/>
              <a:ext cx="1698302" cy="339663"/>
              <a:chOff x="895288" y="4161173"/>
              <a:chExt cx="1886460" cy="33966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B0413B-3DF8-7B20-409C-4D5EF691BDF7}"/>
                  </a:ext>
                </a:extLst>
              </p:cNvPr>
              <p:cNvSpPr txBox="1"/>
              <p:nvPr/>
            </p:nvSpPr>
            <p:spPr>
              <a:xfrm>
                <a:off x="895288" y="4162282"/>
                <a:ext cx="329767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2658C1-92C1-0907-2631-AE8D41D0FB9B}"/>
                  </a:ext>
                </a:extLst>
              </p:cNvPr>
              <p:cNvSpPr txBox="1"/>
              <p:nvPr/>
            </p:nvSpPr>
            <p:spPr>
              <a:xfrm>
                <a:off x="1225057" y="4161173"/>
                <a:ext cx="1556691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182880" rIns="182880" rtlCol="0">
                <a:spAutoFit/>
              </a:bodyPr>
              <a:lstStyle/>
              <a:p>
                <a:pPr eaLnBrk="0" hangingPunct="0"/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abcde</a:t>
                </a:r>
                <a:endParaRPr lang="en-US" sz="1600" b="0" i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0CBCD5-7418-A586-2F4B-6DF51E182DEF}"/>
                </a:ext>
              </a:extLst>
            </p:cNvPr>
            <p:cNvSpPr txBox="1"/>
            <p:nvPr/>
          </p:nvSpPr>
          <p:spPr>
            <a:xfrm>
              <a:off x="813349" y="1214405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abcde.txt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6C81BB6-205B-13B4-996D-2E7CC853E7B8}"/>
              </a:ext>
            </a:extLst>
          </p:cNvPr>
          <p:cNvSpPr txBox="1"/>
          <p:nvPr/>
        </p:nvSpPr>
        <p:spPr>
          <a:xfrm>
            <a:off x="7634224" y="4964376"/>
            <a:ext cx="41689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milkshark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./ffiles2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abcde.txt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Child: c1 = a, c2 = b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Parent: c1 = a, c2 = c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2701C86-94DD-ABD5-F7B1-9E5981ECDC70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4354154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OR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E524CB8-31A3-44A3-016E-F77F56E732B4}"/>
              </a:ext>
            </a:extLst>
          </p:cNvPr>
          <p:cNvSpPr txBox="1">
            <a:spLocks noChangeArrowheads="1"/>
          </p:cNvSpPr>
          <p:nvPr/>
        </p:nvSpPr>
        <p:spPr>
          <a:xfrm>
            <a:off x="7634224" y="6056250"/>
            <a:ext cx="4168992" cy="762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Either output is possible!</a:t>
            </a:r>
          </a:p>
          <a:p>
            <a:pPr>
              <a:lnSpc>
                <a:spcPct val="120000"/>
              </a:lnSpc>
            </a:pP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742549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marL="119063" indent="-119063">
              <a:spcBef>
                <a:spcPts val="0"/>
              </a:spcBef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Supplementary slides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34703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018" y="435678"/>
            <a:ext cx="8710782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RIO Package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(213/CS:APP Package)</a:t>
            </a: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0876" y="1362075"/>
            <a:ext cx="8366125" cy="49720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RIO is a set of wrappers that provide efficient and robust I/O in apps, such as network programs that are subject to short counts</a:t>
            </a:r>
          </a:p>
          <a:p>
            <a:r>
              <a:rPr lang="en-US" dirty="0"/>
              <a:t>RIO provides two different kinds of functions</a:t>
            </a:r>
          </a:p>
          <a:p>
            <a:pPr lvl="1"/>
            <a:r>
              <a:rPr lang="en-US" dirty="0" err="1"/>
              <a:t>Unbuffered</a:t>
            </a:r>
            <a:r>
              <a:rPr lang="en-US" dirty="0"/>
              <a:t> input and output of binary data</a:t>
            </a:r>
          </a:p>
          <a:p>
            <a:pPr lvl="2"/>
            <a:r>
              <a:rPr lang="en-US" b="1" dirty="0" err="1">
                <a:latin typeface="Courier New"/>
                <a:cs typeface="Courier New"/>
              </a:rPr>
              <a:t>rio_readn</a:t>
            </a:r>
            <a:r>
              <a:rPr lang="en-US" dirty="0"/>
              <a:t> and </a:t>
            </a:r>
            <a:r>
              <a:rPr lang="en-US" b="1" dirty="0" err="1">
                <a:latin typeface="Courier New"/>
                <a:cs typeface="Courier New"/>
              </a:rPr>
              <a:t>rio_writen</a:t>
            </a:r>
            <a:endParaRPr lang="en-US" b="1" dirty="0">
              <a:latin typeface="Courier New"/>
              <a:cs typeface="Courier New"/>
            </a:endParaRPr>
          </a:p>
          <a:p>
            <a:pPr lvl="1"/>
            <a:r>
              <a:rPr lang="en-US" dirty="0"/>
              <a:t>Buffered input of text lines and binary data</a:t>
            </a:r>
          </a:p>
          <a:p>
            <a:pPr lvl="2"/>
            <a:r>
              <a:rPr lang="en-US" b="1" dirty="0" err="1">
                <a:latin typeface="Courier New"/>
                <a:cs typeface="Courier New"/>
              </a:rPr>
              <a:t>rio_readlineb</a:t>
            </a:r>
            <a:r>
              <a:rPr lang="en-US" dirty="0"/>
              <a:t> and </a:t>
            </a:r>
            <a:r>
              <a:rPr lang="en-US" b="1" dirty="0" err="1">
                <a:latin typeface="Courier New"/>
                <a:cs typeface="Courier New"/>
              </a:rPr>
              <a:t>rio_readnb</a:t>
            </a:r>
            <a:endParaRPr lang="en-US" b="1" dirty="0">
              <a:latin typeface="Courier New"/>
              <a:cs typeface="Courier New"/>
            </a:endParaRPr>
          </a:p>
          <a:p>
            <a:pPr lvl="2"/>
            <a:r>
              <a:rPr lang="en-US" dirty="0"/>
              <a:t>Buffered RIO routines are thread-safe and can be interleaved arbitrarily on the same descriptor</a:t>
            </a:r>
          </a:p>
          <a:p>
            <a:pPr lvl="2"/>
            <a:endParaRPr lang="en-US" dirty="0"/>
          </a:p>
          <a:p>
            <a:r>
              <a:rPr lang="en-US" dirty="0"/>
              <a:t>Download from </a:t>
            </a:r>
            <a:r>
              <a:rPr lang="en-US" dirty="0">
                <a:hlinkClick r:id="rId3"/>
              </a:rPr>
              <a:t>http://csapp.cs.cmu.edu/3e/code.html</a:t>
            </a:r>
            <a:r>
              <a:rPr lang="en-US" dirty="0"/>
              <a:t>  </a:t>
            </a:r>
          </a:p>
          <a:p>
            <a:pPr lvl="1">
              <a:buNone/>
            </a:pPr>
            <a:r>
              <a:rPr lang="en-US" dirty="0" err="1">
                <a:sym typeface="Wingdings"/>
              </a:rPr>
              <a:t></a:t>
            </a:r>
            <a:r>
              <a:rPr lang="en-US" dirty="0">
                <a:sym typeface="Wingdings"/>
              </a:rPr>
              <a:t>   </a:t>
            </a:r>
            <a:r>
              <a:rPr lang="en-US" b="1" dirty="0" err="1">
                <a:latin typeface="Courier New"/>
                <a:cs typeface="Courier New"/>
              </a:rPr>
              <a:t>src/csapp.c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dirty="0"/>
              <a:t>and </a:t>
            </a:r>
            <a:r>
              <a:rPr lang="en-US" b="1" dirty="0">
                <a:latin typeface="Courier New"/>
                <a:cs typeface="Courier New"/>
              </a:rPr>
              <a:t>include/</a:t>
            </a:r>
            <a:r>
              <a:rPr lang="en-US" b="1" dirty="0" err="1">
                <a:latin typeface="Courier New"/>
                <a:cs typeface="Courier New"/>
              </a:rPr>
              <a:t>csapp.h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561473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Unbuffered RIO Input and Output</a:t>
            </a:r>
          </a:p>
        </p:txBody>
      </p:sp>
      <p:sp>
        <p:nvSpPr>
          <p:cNvPr id="75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0714" y="1220788"/>
            <a:ext cx="8701087" cy="51800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Same interface as Unix </a:t>
            </a:r>
            <a:r>
              <a:rPr lang="en-US" dirty="0">
                <a:latin typeface="Courier New" pitchFamily="49" charset="0"/>
              </a:rPr>
              <a:t>read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write</a:t>
            </a:r>
          </a:p>
          <a:p>
            <a:r>
              <a:rPr lang="en-US" dirty="0"/>
              <a:t>Especially useful for transferring data on network sockets</a:t>
            </a: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r>
              <a:rPr lang="en-US" b="1" dirty="0" err="1">
                <a:latin typeface="Courier New" pitchFamily="49" charset="0"/>
              </a:rPr>
              <a:t>rio_readn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returns short count only if it encounters EOF</a:t>
            </a:r>
          </a:p>
          <a:p>
            <a:pPr lvl="2"/>
            <a:r>
              <a:rPr lang="en-US" dirty="0"/>
              <a:t>Only use it when you know how many bytes to read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rio_writen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dirty="0"/>
              <a:t>never returns a short count</a:t>
            </a:r>
          </a:p>
          <a:p>
            <a:pPr lvl="1"/>
            <a:r>
              <a:rPr lang="en-US" dirty="0"/>
              <a:t>Calls to </a:t>
            </a:r>
            <a:r>
              <a:rPr lang="en-US" b="1" dirty="0" err="1">
                <a:latin typeface="Courier New" pitchFamily="49" charset="0"/>
              </a:rPr>
              <a:t>rio_readn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>
                <a:latin typeface="Courier New" pitchFamily="49" charset="0"/>
              </a:rPr>
              <a:t>rio_writen</a:t>
            </a:r>
            <a:r>
              <a:rPr lang="en-US" b="1" dirty="0"/>
              <a:t> </a:t>
            </a:r>
            <a:r>
              <a:rPr lang="en-US" dirty="0"/>
              <a:t>can be interleaved arbitrarily on the same descriptor</a:t>
            </a:r>
          </a:p>
        </p:txBody>
      </p:sp>
      <p:sp>
        <p:nvSpPr>
          <p:cNvPr id="758788" name="Text Box 4"/>
          <p:cNvSpPr txBox="1">
            <a:spLocks noChangeArrowheads="1"/>
          </p:cNvSpPr>
          <p:nvPr/>
        </p:nvSpPr>
        <p:spPr bwMode="auto">
          <a:xfrm>
            <a:off x="2342592" y="2316540"/>
            <a:ext cx="7478970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rio_writen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Return: num. bytes transferred if OK,</a:t>
            </a:r>
            <a:r>
              <a:rPr lang="en-US" sz="1600" i="1" dirty="0">
                <a:solidFill>
                  <a:srgbClr val="990000"/>
                </a:solidFill>
                <a:latin typeface="Calibri" pitchFamily="34" charset="0"/>
              </a:rPr>
              <a:t>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0 on EOF (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rio_readn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 only), -1 on error</a:t>
            </a:r>
            <a:r>
              <a:rPr lang="en-US" sz="1600" i="1" dirty="0">
                <a:solidFill>
                  <a:srgbClr val="990000"/>
                </a:solidFill>
                <a:latin typeface="Calibri" pitchFamily="34" charset="0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2145424533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RIO Input Functions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6936" y="1219200"/>
            <a:ext cx="8307388" cy="5334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Efficiently read text lines and binary data from a file partially cached in an internal memory buffer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>
              <a:latin typeface="Courier New" pitchFamily="49" charset="0"/>
            </a:endParaRPr>
          </a:p>
          <a:p>
            <a:pPr lvl="1">
              <a:spcBef>
                <a:spcPct val="0"/>
              </a:spcBef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rio_readlineb</a:t>
            </a:r>
            <a:r>
              <a:rPr lang="en-US" dirty="0"/>
              <a:t> reads a </a:t>
            </a:r>
            <a:r>
              <a:rPr lang="en-US" b="1" i="1" dirty="0">
                <a:solidFill>
                  <a:srgbClr val="0070C0"/>
                </a:solidFill>
              </a:rPr>
              <a:t>text line</a:t>
            </a:r>
            <a:r>
              <a:rPr lang="en-US" dirty="0"/>
              <a:t> of up to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from file </a:t>
            </a:r>
            <a:r>
              <a:rPr lang="en-US" b="1" dirty="0" err="1">
                <a:latin typeface="Courier New" pitchFamily="49" charset="0"/>
              </a:rPr>
              <a:t>fd</a:t>
            </a:r>
            <a:r>
              <a:rPr lang="en-US" dirty="0"/>
              <a:t> and stores the line in </a:t>
            </a:r>
            <a:r>
              <a:rPr lang="en-US" b="1" dirty="0" err="1">
                <a:latin typeface="Courier New" pitchFamily="49" charset="0"/>
              </a:rPr>
              <a:t>usrbuf</a:t>
            </a:r>
            <a:endParaRPr lang="en-US" b="1" dirty="0"/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Especially useful for reading text lines from network sockets</a:t>
            </a:r>
          </a:p>
          <a:p>
            <a:pPr lvl="1">
              <a:spcBef>
                <a:spcPct val="0"/>
              </a:spcBef>
            </a:pPr>
            <a:r>
              <a:rPr lang="en-US" dirty="0"/>
              <a:t>Stopping conditions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read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EOF encountered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Newline (‘</a:t>
            </a:r>
            <a:r>
              <a:rPr lang="en-US" b="1" dirty="0">
                <a:latin typeface="Courier New" pitchFamily="49" charset="0"/>
              </a:rPr>
              <a:t>\n</a:t>
            </a:r>
            <a:r>
              <a:rPr lang="en-US" dirty="0"/>
              <a:t>’) encountered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endParaRPr lang="en-US" dirty="0"/>
          </a:p>
        </p:txBody>
      </p:sp>
      <p:sp>
        <p:nvSpPr>
          <p:cNvPr id="766980" name="Text Box 4"/>
          <p:cNvSpPr txBox="1">
            <a:spLocks noChangeArrowheads="1"/>
          </p:cNvSpPr>
          <p:nvPr/>
        </p:nvSpPr>
        <p:spPr bwMode="auto">
          <a:xfrm>
            <a:off x="1630363" y="4132264"/>
            <a:ext cx="92398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endParaRPr lang="en-US" sz="2400">
              <a:latin typeface="Courier New" pitchFamily="49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005915" y="2057401"/>
            <a:ext cx="7745069" cy="206210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rio_readinitb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rio_readlineb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maxlen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                   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Return: num. bytes read if OK, 0 on EOF, -1 on error</a:t>
            </a:r>
            <a:endParaRPr lang="en-US" sz="1600" i="1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118798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RIO Input Functions (cont.)</a:t>
            </a:r>
          </a:p>
        </p:txBody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3429000"/>
            <a:ext cx="8307388" cy="2895600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rio_readnb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reads up to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i="1" dirty="0">
                <a:solidFill>
                  <a:srgbClr val="0070C0"/>
                </a:solidFill>
              </a:rPr>
              <a:t>bytes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from file </a:t>
            </a:r>
            <a:r>
              <a:rPr lang="en-US" b="1" dirty="0" err="1">
                <a:latin typeface="Courier New" pitchFamily="49" charset="0"/>
              </a:rPr>
              <a:t>fd</a:t>
            </a:r>
            <a:endParaRPr lang="en-US" b="1" dirty="0"/>
          </a:p>
          <a:p>
            <a:pPr lvl="1">
              <a:lnSpc>
                <a:spcPct val="90000"/>
              </a:lnSpc>
            </a:pPr>
            <a:r>
              <a:rPr lang="en-US" dirty="0"/>
              <a:t>Stopping conditions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read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EOF encountered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Calls to </a:t>
            </a:r>
            <a:r>
              <a:rPr lang="en-US" b="1" dirty="0" err="1">
                <a:latin typeface="Courier New" pitchFamily="49" charset="0"/>
              </a:rPr>
              <a:t>rio_readlineb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rio_readnb</a:t>
            </a:r>
            <a:r>
              <a:rPr lang="en-US" dirty="0"/>
              <a:t> can be interleaved arbitrarily on the same descriptor</a:t>
            </a:r>
          </a:p>
          <a:p>
            <a:pPr lvl="2">
              <a:lnSpc>
                <a:spcPct val="97000"/>
              </a:lnSpc>
            </a:pPr>
            <a:r>
              <a:rPr lang="en-US" b="1" kern="1200" dirty="0">
                <a:solidFill>
                  <a:srgbClr val="990000"/>
                </a:solidFill>
                <a:ea typeface="+mn-ea"/>
                <a:cs typeface="+mn-cs"/>
              </a:rPr>
              <a:t>Warning: </a:t>
            </a:r>
            <a:r>
              <a:rPr lang="en-US" dirty="0"/>
              <a:t>Don’t interleave with calls to </a:t>
            </a:r>
            <a:r>
              <a:rPr lang="en-US" b="1" dirty="0" err="1">
                <a:latin typeface="Courier New" pitchFamily="49" charset="0"/>
              </a:rPr>
              <a:t>rio_readn</a:t>
            </a:r>
            <a:endParaRPr lang="en-US" b="1" dirty="0">
              <a:latin typeface="Courier New" pitchFamily="49" charset="0"/>
            </a:endParaRPr>
          </a:p>
        </p:txBody>
      </p:sp>
      <p:sp>
        <p:nvSpPr>
          <p:cNvPr id="769028" name="Text Box 4"/>
          <p:cNvSpPr txBox="1">
            <a:spLocks noChangeArrowheads="1"/>
          </p:cNvSpPr>
          <p:nvPr/>
        </p:nvSpPr>
        <p:spPr bwMode="auto">
          <a:xfrm>
            <a:off x="1630363" y="4132264"/>
            <a:ext cx="92398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endParaRPr lang="en-US" sz="2400">
              <a:latin typeface="Courier New" pitchFamily="49" charset="0"/>
            </a:endParaRPr>
          </a:p>
        </p:txBody>
      </p:sp>
      <p:sp>
        <p:nvSpPr>
          <p:cNvPr id="769029" name="Text Box 5"/>
          <p:cNvSpPr txBox="1">
            <a:spLocks noChangeArrowheads="1"/>
          </p:cNvSpPr>
          <p:nvPr/>
        </p:nvSpPr>
        <p:spPr bwMode="auto">
          <a:xfrm>
            <a:off x="2057401" y="1366898"/>
            <a:ext cx="7745069" cy="206210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rio_readinitb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rio_readlineb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maxlen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                   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Return: num. bytes read if OK, 0 on EOF, -1 on error</a:t>
            </a:r>
            <a:endParaRPr lang="en-US" sz="1600" i="1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245778"/>
      </p:ext>
    </p:extLst>
  </p:cSld>
  <p:clrMapOvr>
    <a:masterClrMapping/>
  </p:clrMapOvr>
  <p:transition/>
</p:sld>
</file>